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ntu-taiwan-info-sessio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ntu-taiwan-info-sessio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TW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TW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TW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f6c3e7e8f91fdf.png"/>
  <Relationship Id="rId3" Type="http://schemas.openxmlformats.org/officeDocument/2006/relationships/image" Target="../media/image_42a5db01181ee0b5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c36637ca9c4ba95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2a5db01181ee0b5.jpg"/>
  <Relationship Id="rId3" Type="http://schemas.openxmlformats.org/officeDocument/2006/relationships/image" Target="../media/image_aaf6c3e7e8f91fdf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topband"/>
          <p:cNvGrpSpPr/>
          <p:nvPr/>
        </p:nvGrpSpPr>
        <p:grpSpPr>
          <a:xfrm>
            <a:off x="0" y="209550"/>
            <a:ext cx="12192000" cy="695325"/>
            <a:chOff x="0" y="209550"/>
            <a:chExt cx="12192000" cy="695325"/>
          </a:xfrm>
        </p:grpSpPr>
        <p:pic>
          <p:nvPicPr>
            <p:cNvPr id="2" name="Imag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209550"/>
              <a:ext cx="3048000" cy="495300"/>
            </a:xfrm>
            <a:prstGeom prst="rect">
              <a:avLst/>
            </a:prstGeom>
          </p:spPr>
        </p:pic>
        <p:sp>
          <p:nvSpPr>
            <p:cNvPr id="3" name="TextBox 3"/>
            <p:cNvSpPr txBox="1"/>
            <p:nvPr/>
          </p:nvSpPr>
          <p:spPr>
            <a:xfrm>
              <a:off x="9445683" y="365125"/>
              <a:ext cx="22963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42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NTU CCTF 台灣招生說明會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0" y="876300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pic>
        <p:nvPicPr>
          <p:cNvPr id="6" name="Imag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4875"/>
            <a:ext cx="12192000" cy="5048250"/>
          </a:xfrm>
          <a:prstGeom prst="rect">
            <a:avLst/>
          </a:prstGeom>
        </p:spPr>
      </p:pic>
      <p:grpSp>
        <p:nvGrpSpPr>
          <p:cNvPr id="13" name="title"/>
          <p:cNvGrpSpPr/>
          <p:nvPr/>
        </p:nvGrpSpPr>
        <p:grpSpPr>
          <a:xfrm>
            <a:off x="457200" y="1600200"/>
            <a:ext cx="6229350" cy="2990850"/>
            <a:chOff x="457200" y="1600200"/>
            <a:chExt cx="6229350" cy="2990850"/>
          </a:xfrm>
        </p:grpSpPr>
        <p:sp>
          <p:nvSpPr>
            <p:cNvPr id="7" name="Rectangle 7"/>
            <p:cNvSpPr/>
            <p:nvPr/>
          </p:nvSpPr>
          <p:spPr>
            <a:xfrm>
              <a:off x="514350" y="1657350"/>
              <a:ext cx="6172200" cy="2933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457200" y="1600200"/>
              <a:ext cx="6172200" cy="29337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9150" y="2082800"/>
              <a:ext cx="4760519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來 NTU 之前，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9150" y="2921000"/>
              <a:ext cx="3672840" cy="10477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該知道的事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76300" y="39433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7156" y="4127500"/>
              <a:ext cx="39438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生活開銷 ・ 課程 ・ 還有我的真心話</a:t>
              </a:r>
            </a:p>
          </p:txBody>
        </p:sp>
      </p:grpSp>
      <p:grpSp>
        <p:nvGrpSpPr>
          <p:cNvPr id="17" name="footband"/>
          <p:cNvGrpSpPr/>
          <p:nvPr/>
        </p:nvGrpSpPr>
        <p:grpSpPr>
          <a:xfrm>
            <a:off x="0" y="5953125"/>
            <a:ext cx="12192000" cy="664845"/>
            <a:chOff x="0" y="5953125"/>
            <a:chExt cx="12192000" cy="664845"/>
          </a:xfrm>
        </p:grpSpPr>
        <p:sp>
          <p:nvSpPr>
            <p:cNvPr id="14" name="Rectangle 14"/>
            <p:cNvSpPr/>
            <p:nvPr/>
          </p:nvSpPr>
          <p:spPr>
            <a:xfrm>
              <a:off x="0" y="5953125"/>
              <a:ext cx="121920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49580" y="6324600"/>
              <a:ext cx="25225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MSBT 2026 入學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293477" y="6324600"/>
              <a:ext cx="14489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ja-JP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2026 年 ・ 台北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個人簡介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431225" y="463550"/>
              <a:ext cx="7654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ABOUT ME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6" name="name"/>
          <p:cNvGrpSpPr/>
          <p:nvPr/>
        </p:nvGrpSpPr>
        <p:grpSpPr>
          <a:xfrm>
            <a:off x="438150" y="1435100"/>
            <a:ext cx="2582418" cy="1219200"/>
            <a:chOff x="438150" y="1435100"/>
            <a:chExt cx="2582418" cy="1219200"/>
          </a:xfrm>
        </p:grpSpPr>
        <p:sp>
          <p:nvSpPr>
            <p:cNvPr id="14" name="TextBox 14"/>
            <p:cNvSpPr txBox="1"/>
            <p:nvPr/>
          </p:nvSpPr>
          <p:spPr>
            <a:xfrm>
              <a:off x="438150" y="1435100"/>
              <a:ext cx="2582418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6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57200" y="24955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21" name="rows"/>
          <p:cNvGrpSpPr/>
          <p:nvPr/>
        </p:nvGrpSpPr>
        <p:grpSpPr>
          <a:xfrm>
            <a:off x="447294" y="3111500"/>
            <a:ext cx="3041278" cy="2153031"/>
            <a:chOff x="447294" y="3111500"/>
            <a:chExt cx="3041278" cy="2153031"/>
          </a:xfrm>
        </p:grpSpPr>
        <p:sp>
          <p:nvSpPr>
            <p:cNvPr id="17" name="TextBox 17"/>
            <p:cNvSpPr txBox="1"/>
            <p:nvPr/>
          </p:nvSpPr>
          <p:spPr>
            <a:xfrm>
              <a:off x="447294" y="3111500"/>
              <a:ext cx="235417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東吳大學 哲學系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7294" y="3702050"/>
              <a:ext cx="20089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沒有程式背景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47294" y="4292600"/>
              <a:ext cx="304127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→　NTU MSBT 2026 入學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7294" y="4883150"/>
              <a:ext cx="253399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→　（目前在做什麼）</a:t>
              </a:r>
            </a:p>
          </p:txBody>
        </p:sp>
      </p:grpSp>
      <p:grpSp>
        <p:nvGrpSpPr>
          <p:cNvPr id="26" name="portrait"/>
          <p:cNvGrpSpPr/>
          <p:nvPr/>
        </p:nvGrpSpPr>
        <p:grpSpPr>
          <a:xfrm>
            <a:off x="7048500" y="1238250"/>
            <a:ext cx="4686300" cy="4667250"/>
            <a:chOff x="7048500" y="1238250"/>
            <a:chExt cx="4686300" cy="4667250"/>
          </a:xfrm>
        </p:grpSpPr>
        <p:sp>
          <p:nvSpPr>
            <p:cNvPr id="22" name="Rectangle 22"/>
            <p:cNvSpPr/>
            <p:nvPr/>
          </p:nvSpPr>
          <p:spPr>
            <a:xfrm>
              <a:off x="7105650" y="1295400"/>
              <a:ext cx="4629150" cy="46101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048500" y="1238250"/>
              <a:ext cx="4629150" cy="46101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626983" y="3213100"/>
              <a:ext cx="14721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（個人照片）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083612" y="36258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350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待提供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為什麼是新加坡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001305" y="463550"/>
              <a:ext cx="119539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WHY SINGAPORE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28" name="reasons"/>
          <p:cNvGrpSpPr/>
          <p:nvPr/>
        </p:nvGrpSpPr>
        <p:grpSpPr>
          <a:xfrm>
            <a:off x="438150" y="1714500"/>
            <a:ext cx="5924550" cy="4768152"/>
            <a:chOff x="438150" y="1714500"/>
            <a:chExt cx="5924550" cy="4768152"/>
          </a:xfrm>
        </p:grpSpPr>
        <p:sp>
          <p:nvSpPr>
            <p:cNvPr id="14" name="TextBox 14"/>
            <p:cNvSpPr txBox="1"/>
            <p:nvPr/>
          </p:nvSpPr>
          <p:spPr>
            <a:xfrm>
              <a:off x="438150" y="1714500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207770" y="1930400"/>
              <a:ext cx="274891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在國際級的職場裡學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211961" y="237490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近年成為亞洲金融中心，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11961" y="2660650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許多跨國企業把亞洲總部設在這裡。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7200" y="320040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38150" y="3486150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207770" y="37020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生活安全、乾淨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11961" y="4146550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治安好，公共環境整潔，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11961" y="443230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一個人住也放心。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7200" y="4972050"/>
              <a:ext cx="59055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38150" y="5257800"/>
              <a:ext cx="667819" cy="7905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050" b="1" dirty="0">
                  <a:solidFill>
                    <a:srgbClr val="C7CEE4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207770" y="5473700"/>
              <a:ext cx="1950029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離家 4.5 小時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11961" y="5918200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直飛台北，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211961" y="6203950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想回去隨時可以。</a:t>
              </a:r>
            </a:p>
          </p:txBody>
        </p:sp>
      </p:grpSp>
      <p:grpSp>
        <p:nvGrpSpPr>
          <p:cNvPr id="37" name="map"/>
          <p:cNvGrpSpPr/>
          <p:nvPr/>
        </p:nvGrpSpPr>
        <p:grpSpPr>
          <a:xfrm>
            <a:off x="6667500" y="876300"/>
            <a:ext cx="5200650" cy="5981700"/>
            <a:chOff x="6667500" y="876300"/>
            <a:chExt cx="5200650" cy="5981700"/>
          </a:xfrm>
        </p:grpSpPr>
        <p:sp>
          <p:nvSpPr>
            <p:cNvPr id="29" name="Rectangle 29"/>
            <p:cNvSpPr/>
            <p:nvPr/>
          </p:nvSpPr>
          <p:spPr>
            <a:xfrm>
              <a:off x="66675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7048500" y="3429000"/>
              <a:ext cx="4476750" cy="2287905"/>
            </a:xfrm>
            <a:custGeom>
              <a:avLst/>
              <a:gdLst/>
              <a:ahLst/>
              <a:cxnLst/>
              <a:rect l="l" t="t" r="r" b="b"/>
              <a:pathLst>
                <a:path w="4476750" h="2287905">
                  <a:moveTo>
                    <a:pt x="3945255" y="727710"/>
                  </a:moveTo>
                  <a:lnTo>
                    <a:pt x="4254818" y="790575"/>
                  </a:lnTo>
                  <a:lnTo>
                    <a:pt x="4431982" y="853440"/>
                  </a:lnTo>
                  <a:lnTo>
                    <a:pt x="4476750" y="935355"/>
                  </a:lnTo>
                  <a:lnTo>
                    <a:pt x="4343400" y="1164908"/>
                  </a:lnTo>
                  <a:lnTo>
                    <a:pt x="4122420" y="1414462"/>
                  </a:lnTo>
                  <a:lnTo>
                    <a:pt x="3856673" y="1623060"/>
                  </a:lnTo>
                  <a:lnTo>
                    <a:pt x="3589973" y="1704975"/>
                  </a:lnTo>
                  <a:lnTo>
                    <a:pt x="3280410" y="1725930"/>
                  </a:lnTo>
                  <a:lnTo>
                    <a:pt x="3058477" y="1829753"/>
                  </a:lnTo>
                  <a:lnTo>
                    <a:pt x="2615565" y="2121218"/>
                  </a:lnTo>
                  <a:lnTo>
                    <a:pt x="2570798" y="2183130"/>
                  </a:lnTo>
                  <a:lnTo>
                    <a:pt x="2526030" y="2225040"/>
                  </a:lnTo>
                  <a:lnTo>
                    <a:pt x="2437448" y="2245995"/>
                  </a:lnTo>
                  <a:lnTo>
                    <a:pt x="2305050" y="2287905"/>
                  </a:lnTo>
                  <a:lnTo>
                    <a:pt x="1994535" y="2266950"/>
                  </a:lnTo>
                  <a:lnTo>
                    <a:pt x="1861185" y="2225040"/>
                  </a:lnTo>
                  <a:lnTo>
                    <a:pt x="1772603" y="2163128"/>
                  </a:lnTo>
                  <a:lnTo>
                    <a:pt x="1684020" y="1995488"/>
                  </a:lnTo>
                  <a:lnTo>
                    <a:pt x="1418272" y="1871662"/>
                  </a:lnTo>
                  <a:lnTo>
                    <a:pt x="1107757" y="1808797"/>
                  </a:lnTo>
                  <a:lnTo>
                    <a:pt x="842010" y="1767840"/>
                  </a:lnTo>
                  <a:lnTo>
                    <a:pt x="310515" y="1788795"/>
                  </a:lnTo>
                  <a:lnTo>
                    <a:pt x="88582" y="1725930"/>
                  </a:lnTo>
                  <a:lnTo>
                    <a:pt x="0" y="1560195"/>
                  </a:lnTo>
                  <a:lnTo>
                    <a:pt x="44768" y="1372553"/>
                  </a:lnTo>
                  <a:lnTo>
                    <a:pt x="442912" y="853440"/>
                  </a:lnTo>
                  <a:lnTo>
                    <a:pt x="487680" y="623888"/>
                  </a:lnTo>
                  <a:lnTo>
                    <a:pt x="531495" y="479108"/>
                  </a:lnTo>
                  <a:lnTo>
                    <a:pt x="664845" y="353378"/>
                  </a:lnTo>
                  <a:lnTo>
                    <a:pt x="842010" y="249555"/>
                  </a:lnTo>
                  <a:lnTo>
                    <a:pt x="975360" y="228600"/>
                  </a:lnTo>
                  <a:lnTo>
                    <a:pt x="1241107" y="270510"/>
                  </a:lnTo>
                  <a:lnTo>
                    <a:pt x="1506855" y="228600"/>
                  </a:lnTo>
                  <a:lnTo>
                    <a:pt x="1861185" y="62865"/>
                  </a:lnTo>
                  <a:lnTo>
                    <a:pt x="2039303" y="0"/>
                  </a:lnTo>
                  <a:lnTo>
                    <a:pt x="2348865" y="20955"/>
                  </a:lnTo>
                  <a:lnTo>
                    <a:pt x="2659380" y="125730"/>
                  </a:lnTo>
                  <a:lnTo>
                    <a:pt x="3589973" y="602933"/>
                  </a:lnTo>
                  <a:lnTo>
                    <a:pt x="3945255" y="727710"/>
                  </a:lnTo>
                  <a:close/>
                </a:path>
              </a:pathLst>
            </a:custGeom>
            <a:solidFill>
              <a:srgbClr val="CBE0EC"/>
            </a:solidFill>
            <a:ln w="28575">
              <a:solidFill>
                <a:srgbClr val="0A1138"/>
              </a:solidFill>
              <a:round/>
            </a:ln>
          </p:spPr>
        </p:sp>
        <p:sp>
          <p:nvSpPr>
            <p:cNvPr id="31" name="Freeform 31"/>
            <p:cNvSpPr/>
            <p:nvPr/>
          </p:nvSpPr>
          <p:spPr>
            <a:xfrm>
              <a:off x="7639050" y="1390650"/>
              <a:ext cx="4229100" cy="3248025"/>
            </a:xfrm>
            <a:custGeom>
              <a:avLst/>
              <a:gdLst/>
              <a:ahLst/>
              <a:cxnLst/>
              <a:rect l="l" t="t" r="r" b="b"/>
              <a:pathLst>
                <a:path w="4229100" h="3248025">
                  <a:moveTo>
                    <a:pt x="4229100" y="0"/>
                  </a:moveTo>
                  <a:cubicBezTo>
                    <a:pt x="3314700" y="800100"/>
                    <a:pt x="1504950" y="1466850"/>
                    <a:pt x="0" y="3248025"/>
                  </a:cubicBezTo>
                </a:path>
              </a:pathLst>
            </a:custGeom>
            <a:noFill/>
            <a:ln w="28575" cap="rnd">
              <a:solidFill>
                <a:srgbClr val="D21540"/>
              </a:solidFill>
              <a:custDash>
                <a:ds d="300000" sp="233333"/>
              </a:custDash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282172" y="9779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73498" y="1295400"/>
              <a:ext cx="136930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8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直飛 4.5 小時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505700" y="4600575"/>
              <a:ext cx="152400" cy="152400"/>
            </a:xfrm>
            <a:prstGeom prst="ellipse">
              <a:avLst/>
            </a:prstGeom>
            <a:solidFill>
              <a:srgbClr val="D21540"/>
            </a:solidFill>
            <a:ln w="28575">
              <a:solidFill>
                <a:srgbClr val="FFFFFF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745730" y="4543425"/>
              <a:ext cx="3848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NTU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1001832" y="5907124"/>
              <a:ext cx="529895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280" b="1" dirty="0">
                  <a:solidFill>
                    <a:srgbClr val="93A0C9"/>
                  </a:solidFill>
                  <a:latin typeface="+mn-lt"/>
                  <a:ea typeface="+mn-ea"/>
                  <a:cs typeface="+mn-cs"/>
                </a:rPr>
                <a:t>新加坡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生活開銷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8981185" y="463550"/>
              <a:ext cx="121551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COST OF LIVING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6" name="claim"/>
          <p:cNvGrpSpPr/>
          <p:nvPr/>
        </p:nvGrpSpPr>
        <p:grpSpPr>
          <a:xfrm>
            <a:off x="440436" y="1327150"/>
            <a:ext cx="4031742" cy="645414"/>
            <a:chOff x="440436" y="1327150"/>
            <a:chExt cx="4031742" cy="645414"/>
          </a:xfrm>
        </p:grpSpPr>
        <p:sp>
          <p:nvSpPr>
            <p:cNvPr id="14" name="TextBox 14"/>
            <p:cNvSpPr txBox="1"/>
            <p:nvPr/>
          </p:nvSpPr>
          <p:spPr>
            <a:xfrm>
              <a:off x="440436" y="1327150"/>
              <a:ext cx="4031742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房租就吃掉三分之二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57200" y="19240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25" name="doughnut"/>
          <p:cNvGrpSpPr/>
          <p:nvPr/>
        </p:nvGrpSpPr>
        <p:grpSpPr>
          <a:xfrm>
            <a:off x="1329396" y="2114539"/>
            <a:ext cx="3533263" cy="3366464"/>
            <a:chOff x="1329396" y="2114539"/>
            <a:chExt cx="3533263" cy="3366464"/>
          </a:xfrm>
        </p:grpSpPr>
        <p:sp>
          <p:nvSpPr>
            <p:cNvPr id="17" name="Freeform 17"/>
            <p:cNvSpPr/>
            <p:nvPr/>
          </p:nvSpPr>
          <p:spPr>
            <a:xfrm>
              <a:off x="1869758" y="2114550"/>
              <a:ext cx="2992901" cy="3366453"/>
            </a:xfrm>
            <a:custGeom>
              <a:avLst/>
              <a:gdLst/>
              <a:ahLst/>
              <a:cxnLst/>
              <a:rect l="l" t="t" r="r" b="b"/>
              <a:pathLst>
                <a:path w="2992901" h="3366453">
                  <a:moveTo>
                    <a:pt x="1295400" y="0"/>
                  </a:moveTo>
                  <a:cubicBezTo>
                    <a:pt x="2043504" y="10548"/>
                    <a:pt x="2684440" y="538065"/>
                    <a:pt x="2838671" y="1270174"/>
                  </a:cubicBezTo>
                  <a:cubicBezTo>
                    <a:pt x="2992901" y="2002283"/>
                    <a:pt x="2619251" y="2743538"/>
                    <a:pt x="1938983" y="3054995"/>
                  </a:cubicBezTo>
                  <a:cubicBezTo>
                    <a:pt x="1258715" y="3366453"/>
                    <a:pt x="453435" y="3164965"/>
                    <a:pt x="0" y="2569845"/>
                  </a:cubicBezTo>
                  <a:lnTo>
                    <a:pt x="394335" y="2269808"/>
                  </a:lnTo>
                  <a:cubicBezTo>
                    <a:pt x="707453" y="2680677"/>
                    <a:pt x="1263469" y="2819749"/>
                    <a:pt x="1733149" y="2604673"/>
                  </a:cubicBezTo>
                  <a:cubicBezTo>
                    <a:pt x="2202829" y="2389597"/>
                    <a:pt x="2460795" y="1877788"/>
                    <a:pt x="2354296" y="1372303"/>
                  </a:cubicBezTo>
                  <a:cubicBezTo>
                    <a:pt x="2247797" y="866818"/>
                    <a:pt x="1805263" y="502594"/>
                    <a:pt x="1288732" y="495300"/>
                  </a:cubicBezTo>
                  <a:close/>
                </a:path>
              </a:pathLst>
            </a:custGeom>
            <a:solidFill>
              <a:srgbClr val="D21540"/>
            </a:solidFill>
            <a:ln>
              <a:noFill/>
            </a:ln>
          </p:spPr>
        </p:sp>
        <p:sp>
          <p:nvSpPr>
            <p:cNvPr id="18" name="Freeform 18"/>
            <p:cNvSpPr/>
            <p:nvPr/>
          </p:nvSpPr>
          <p:spPr>
            <a:xfrm>
              <a:off x="1329396" y="2419350"/>
              <a:ext cx="1165202" cy="2228850"/>
            </a:xfrm>
            <a:custGeom>
              <a:avLst/>
              <a:gdLst/>
              <a:ahLst/>
              <a:cxnLst/>
              <a:rect l="l" t="t" r="r" b="b"/>
              <a:pathLst>
                <a:path w="1165202" h="2228850">
                  <a:moveTo>
                    <a:pt x="513692" y="2228850"/>
                  </a:moveTo>
                  <a:cubicBezTo>
                    <a:pt x="0" y="1513188"/>
                    <a:pt x="161360" y="516927"/>
                    <a:pt x="874689" y="0"/>
                  </a:cubicBezTo>
                  <a:lnTo>
                    <a:pt x="1165202" y="401003"/>
                  </a:lnTo>
                  <a:cubicBezTo>
                    <a:pt x="672713" y="758148"/>
                    <a:pt x="561584" y="1446216"/>
                    <a:pt x="916599" y="1940242"/>
                  </a:cubicBezTo>
                  <a:close/>
                </a:path>
              </a:pathLst>
            </a:custGeom>
            <a:solidFill>
              <a:srgbClr val="0A1138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2240280" y="2249805"/>
              <a:ext cx="458153" cy="552450"/>
            </a:xfrm>
            <a:custGeom>
              <a:avLst/>
              <a:gdLst/>
              <a:ahLst/>
              <a:cxnLst/>
              <a:rect l="l" t="t" r="r" b="b"/>
              <a:pathLst>
                <a:path w="458153" h="552450">
                  <a:moveTo>
                    <a:pt x="0" y="143828"/>
                  </a:moveTo>
                  <a:cubicBezTo>
                    <a:pt x="81422" y="88026"/>
                    <a:pt x="167833" y="39879"/>
                    <a:pt x="258128" y="0"/>
                  </a:cubicBezTo>
                  <a:lnTo>
                    <a:pt x="458153" y="453390"/>
                  </a:lnTo>
                  <a:cubicBezTo>
                    <a:pt x="395527" y="480799"/>
                    <a:pt x="335579" y="513961"/>
                    <a:pt x="279083" y="552450"/>
                  </a:cubicBezTo>
                  <a:close/>
                </a:path>
              </a:pathLst>
            </a:custGeom>
            <a:solidFill>
              <a:srgbClr val="2B3A77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2539365" y="2147887"/>
              <a:ext cx="379095" cy="543878"/>
            </a:xfrm>
            <a:custGeom>
              <a:avLst/>
              <a:gdLst/>
              <a:ahLst/>
              <a:cxnLst/>
              <a:rect l="l" t="t" r="r" b="b"/>
              <a:pathLst>
                <a:path w="379095" h="543878">
                  <a:moveTo>
                    <a:pt x="0" y="84773"/>
                  </a:moveTo>
                  <a:cubicBezTo>
                    <a:pt x="89945" y="48133"/>
                    <a:pt x="183040" y="19759"/>
                    <a:pt x="278130" y="0"/>
                  </a:cubicBezTo>
                  <a:lnTo>
                    <a:pt x="379095" y="484823"/>
                  </a:lnTo>
                  <a:cubicBezTo>
                    <a:pt x="313297" y="498613"/>
                    <a:pt x="248895" y="518380"/>
                    <a:pt x="186690" y="543878"/>
                  </a:cubicBezTo>
                  <a:close/>
                </a:path>
              </a:pathLst>
            </a:custGeom>
            <a:solidFill>
              <a:srgbClr val="5A6AA8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2861310" y="2116455"/>
              <a:ext cx="228600" cy="510540"/>
            </a:xfrm>
            <a:custGeom>
              <a:avLst/>
              <a:gdLst/>
              <a:ahLst/>
              <a:cxnLst/>
              <a:rect l="l" t="t" r="r" b="b"/>
              <a:pathLst>
                <a:path w="228600" h="510540">
                  <a:moveTo>
                    <a:pt x="0" y="22860"/>
                  </a:moveTo>
                  <a:cubicBezTo>
                    <a:pt x="68015" y="10807"/>
                    <a:pt x="136738" y="3172"/>
                    <a:pt x="205740" y="0"/>
                  </a:cubicBezTo>
                  <a:lnTo>
                    <a:pt x="228600" y="494348"/>
                  </a:lnTo>
                  <a:cubicBezTo>
                    <a:pt x="180993" y="496678"/>
                    <a:pt x="133586" y="502087"/>
                    <a:pt x="86678" y="510540"/>
                  </a:cubicBezTo>
                  <a:close/>
                </a:path>
              </a:pathLst>
            </a:custGeom>
            <a:solidFill>
              <a:srgbClr val="93A0C9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3110865" y="2114539"/>
              <a:ext cx="17145" cy="495311"/>
            </a:xfrm>
            <a:custGeom>
              <a:avLst/>
              <a:gdLst/>
              <a:ahLst/>
              <a:cxnLst/>
              <a:rect l="l" t="t" r="r" b="b"/>
              <a:pathLst>
                <a:path w="17145" h="495311">
                  <a:moveTo>
                    <a:pt x="0" y="11"/>
                  </a:moveTo>
                  <a:cubicBezTo>
                    <a:pt x="3492" y="0"/>
                    <a:pt x="6985" y="0"/>
                    <a:pt x="10477" y="11"/>
                  </a:cubicBezTo>
                  <a:lnTo>
                    <a:pt x="17145" y="495311"/>
                  </a:lnTo>
                  <a:cubicBezTo>
                    <a:pt x="14923" y="495305"/>
                    <a:pt x="12700" y="495305"/>
                    <a:pt x="10478" y="495311"/>
                  </a:cubicBezTo>
                  <a:close/>
                </a:path>
              </a:pathLst>
            </a:custGeom>
            <a:solidFill>
              <a:srgbClr val="C7CEE4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2046065" y="3314700"/>
              <a:ext cx="2194370" cy="7334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37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S$1,850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31770" y="394335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每月支出</a:t>
              </a:r>
            </a:p>
          </p:txBody>
        </p:sp>
      </p:grpSp>
      <p:grpSp>
        <p:nvGrpSpPr>
          <p:cNvPr id="27" name="divider"/>
          <p:cNvGrpSpPr/>
          <p:nvPr/>
        </p:nvGrpSpPr>
        <p:grpSpPr>
          <a:xfrm>
            <a:off x="6858000" y="876300"/>
            <a:ext cx="28575" cy="5981700"/>
            <a:chOff x="6858000" y="876300"/>
            <a:chExt cx="28575" cy="5981700"/>
          </a:xfrm>
        </p:grpSpPr>
        <p:sp>
          <p:nvSpPr>
            <p:cNvPr id="26" name="Rectangle 26"/>
            <p:cNvSpPr/>
            <p:nvPr/>
          </p:nvSpPr>
          <p:spPr>
            <a:xfrm>
              <a:off x="68580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52" name="legend"/>
          <p:cNvGrpSpPr/>
          <p:nvPr/>
        </p:nvGrpSpPr>
        <p:grpSpPr>
          <a:xfrm>
            <a:off x="7239000" y="2025650"/>
            <a:ext cx="4503420" cy="3275457"/>
            <a:chOff x="7239000" y="2025650"/>
            <a:chExt cx="4503420" cy="3275457"/>
          </a:xfrm>
        </p:grpSpPr>
        <p:sp>
          <p:nvSpPr>
            <p:cNvPr id="28" name="Rectangle 28"/>
            <p:cNvSpPr/>
            <p:nvPr/>
          </p:nvSpPr>
          <p:spPr>
            <a:xfrm>
              <a:off x="7239000" y="2085975"/>
              <a:ext cx="1905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592568" y="20256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房租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34480" y="2025650"/>
              <a:ext cx="6276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1,200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1171872" y="205105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64.9%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239000" y="2676525"/>
              <a:ext cx="190500" cy="1905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592568" y="26162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食物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178815" y="2616200"/>
              <a:ext cx="38326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171872" y="2641600"/>
              <a:ext cx="5705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25.4%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239000" y="3267075"/>
              <a:ext cx="190500" cy="190500"/>
            </a:xfrm>
            <a:prstGeom prst="rect">
              <a:avLst/>
            </a:prstGeom>
            <a:solidFill>
              <a:srgbClr val="2B3A7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592568" y="32067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飲品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300983" y="32067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82934" y="32321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3.4%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239000" y="3857625"/>
              <a:ext cx="190500" cy="190500"/>
            </a:xfrm>
            <a:prstGeom prst="rect">
              <a:avLst/>
            </a:prstGeom>
            <a:solidFill>
              <a:srgbClr val="5A6AA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592568" y="37973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交通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300983" y="37973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62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82934" y="38227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3.3%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239000" y="4448175"/>
              <a:ext cx="190500" cy="1905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592568" y="438785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點心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300983" y="438785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46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282934" y="441325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2.5%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7239000" y="5038725"/>
              <a:ext cx="190500" cy="19050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592568" y="4978400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網路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00983" y="4978400"/>
              <a:ext cx="2610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650" b="1" dirty="0">
                  <a:solidFill>
                    <a:srgbClr val="0A1138"/>
                  </a:solidFill>
                  <a:latin typeface="Consolas"/>
                  <a:ea typeface="Consolas"/>
                  <a:cs typeface="Consolas"/>
                </a:rPr>
                <a:t>10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82934" y="5003800"/>
              <a:ext cx="4594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50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0.5%</a:t>
              </a:r>
            </a:p>
          </p:txBody>
        </p:sp>
      </p:grpSp>
      <p:grpSp>
        <p:nvGrpSpPr>
          <p:cNvPr id="55" name="fx"/>
          <p:cNvGrpSpPr/>
          <p:nvPr/>
        </p:nvGrpSpPr>
        <p:grpSpPr>
          <a:xfrm>
            <a:off x="2157298" y="5511800"/>
            <a:ext cx="1971904" cy="687705"/>
            <a:chOff x="2157298" y="5511800"/>
            <a:chExt cx="1971904" cy="687705"/>
          </a:xfrm>
        </p:grpSpPr>
        <p:sp>
          <p:nvSpPr>
            <p:cNvPr id="53" name="TextBox 53"/>
            <p:cNvSpPr txBox="1"/>
            <p:nvPr/>
          </p:nvSpPr>
          <p:spPr>
            <a:xfrm>
              <a:off x="2247295" y="5511800"/>
              <a:ext cx="17919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dirty="0">
                  <a:solidFill>
                    <a:srgbClr val="6B6B6B"/>
                  </a:solidFill>
                  <a:latin typeface="Consolas"/>
                  <a:ea typeface="Consolas"/>
                  <a:cs typeface="Consolas"/>
                </a:rPr>
                <a:t>1 SGD ≈ 25.5 TWD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2157298" y="5759450"/>
              <a:ext cx="19719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≈ NT$47,175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7124700" y="5543550"/>
            <a:ext cx="4610100" cy="666750"/>
            <a:chOff x="7124700" y="5543550"/>
            <a:chExt cx="4610100" cy="666750"/>
          </a:xfrm>
        </p:grpSpPr>
        <p:sp>
          <p:nvSpPr>
            <p:cNvPr id="56" name="Rectangle 56"/>
            <p:cNvSpPr/>
            <p:nvPr/>
          </p:nvSpPr>
          <p:spPr>
            <a:xfrm>
              <a:off x="7124700" y="5543550"/>
              <a:ext cx="4610100" cy="66675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344156" y="5746750"/>
              <a:ext cx="31683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宿舍不一定抽得到，先找房子</a:t>
              </a:r>
            </a:p>
          </p:txBody>
        </p:sp>
      </p:grpSp>
      <p:grpSp>
        <p:nvGrpSpPr>
          <p:cNvPr id="60" name="note"/>
          <p:cNvGrpSpPr/>
          <p:nvPr/>
        </p:nvGrpSpPr>
        <p:grpSpPr>
          <a:xfrm>
            <a:off x="10221341" y="6470650"/>
            <a:ext cx="1519174" cy="220028"/>
            <a:chOff x="10221341" y="6470650"/>
            <a:chExt cx="1519174" cy="220028"/>
          </a:xfrm>
        </p:grpSpPr>
        <p:sp>
          <p:nvSpPr>
            <p:cNvPr id="59" name="TextBox 59"/>
            <p:cNvSpPr txBox="1"/>
            <p:nvPr/>
          </p:nvSpPr>
          <p:spPr>
            <a:xfrm>
              <a:off x="10221341" y="6470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不含學費、機票與保險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244621" y="463550"/>
              <a:ext cx="9520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JOB MARKET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6" name="claim"/>
          <p:cNvGrpSpPr/>
          <p:nvPr/>
        </p:nvGrpSpPr>
        <p:grpSpPr>
          <a:xfrm>
            <a:off x="441960" y="1365250"/>
            <a:ext cx="6088380" cy="606425"/>
            <a:chOff x="441960" y="1365250"/>
            <a:chExt cx="6088380" cy="606425"/>
          </a:xfrm>
        </p:grpSpPr>
        <p:sp>
          <p:nvSpPr>
            <p:cNvPr id="14" name="TextBox 14"/>
            <p:cNvSpPr txBox="1"/>
            <p:nvPr/>
          </p:nvSpPr>
          <p:spPr>
            <a:xfrm>
              <a:off x="441960" y="1365250"/>
              <a:ext cx="6088380" cy="5867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0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工程的缺最多，合規的缺最沒人補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57200" y="19240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35" name="bars"/>
          <p:cNvGrpSpPr/>
          <p:nvPr/>
        </p:nvGrpSpPr>
        <p:grpSpPr>
          <a:xfrm>
            <a:off x="448056" y="2070100"/>
            <a:ext cx="5766122" cy="2889631"/>
            <a:chOff x="448056" y="2070100"/>
            <a:chExt cx="5766122" cy="2889631"/>
          </a:xfrm>
        </p:grpSpPr>
        <p:sp>
          <p:nvSpPr>
            <p:cNvPr id="17" name="TextBox 17"/>
            <p:cNvSpPr txBox="1"/>
            <p:nvPr/>
          </p:nvSpPr>
          <p:spPr>
            <a:xfrm>
              <a:off x="448056" y="2070100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合規・法務・風控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0723" y="2552700"/>
              <a:ext cx="35758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1047750" y="2533650"/>
              <a:ext cx="4191000" cy="24765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76325" y="2562225"/>
              <a:ext cx="1028700" cy="190500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381244" y="2482850"/>
              <a:ext cx="68133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7.5%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0723" y="3028950"/>
              <a:ext cx="35758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1047750" y="3009900"/>
              <a:ext cx="4191000" cy="24765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1076325" y="3038475"/>
              <a:ext cx="314325" cy="1905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381244" y="2959100"/>
              <a:ext cx="68133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5A6AA8"/>
                  </a:solidFill>
                  <a:latin typeface="+mn-lt"/>
                  <a:ea typeface="+mn-ea"/>
                  <a:cs typeface="+mn-cs"/>
                </a:rPr>
                <a:t>2.3%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48056" y="368935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工程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0723" y="4171950"/>
              <a:ext cx="35758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職缺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47750" y="4152900"/>
              <a:ext cx="4191000" cy="24765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076325" y="4181475"/>
              <a:ext cx="3743325" cy="1905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381244" y="4102100"/>
              <a:ext cx="83293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27.2%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0723" y="4648200"/>
              <a:ext cx="357581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8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應徵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1047750" y="4629150"/>
              <a:ext cx="4191000" cy="24765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076325" y="4657725"/>
              <a:ext cx="3086100" cy="1905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381244" y="4578350"/>
              <a:ext cx="83293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5A6AA8"/>
                  </a:solidFill>
                  <a:latin typeface="+mn-lt"/>
                  <a:ea typeface="+mn-ea"/>
                  <a:cs typeface="+mn-cs"/>
                </a:rPr>
                <a:t>22.4%</a:t>
              </a:r>
            </a:p>
          </p:txBody>
        </p:sp>
      </p:grpSp>
      <p:grpSp>
        <p:nvGrpSpPr>
          <p:cNvPr id="38" name="ratio"/>
          <p:cNvGrpSpPr/>
          <p:nvPr/>
        </p:nvGrpSpPr>
        <p:grpSpPr>
          <a:xfrm>
            <a:off x="457200" y="5295900"/>
            <a:ext cx="6629400" cy="457200"/>
            <a:chOff x="457200" y="5295900"/>
            <a:chExt cx="6629400" cy="457200"/>
          </a:xfrm>
        </p:grpSpPr>
        <p:sp>
          <p:nvSpPr>
            <p:cNvPr id="36" name="Rectangle 36"/>
            <p:cNvSpPr/>
            <p:nvPr/>
          </p:nvSpPr>
          <p:spPr>
            <a:xfrm>
              <a:off x="457200" y="5295900"/>
              <a:ext cx="6629400" cy="4572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77799" y="5391150"/>
              <a:ext cx="44242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合規：職缺是應徵的 3.3 倍　|　工程：1.2 倍</a:t>
              </a:r>
            </a:p>
          </p:txBody>
        </p:sp>
      </p:grpSp>
      <p:grpSp>
        <p:nvGrpSpPr>
          <p:cNvPr id="40" name="divider"/>
          <p:cNvGrpSpPr/>
          <p:nvPr/>
        </p:nvGrpSpPr>
        <p:grpSpPr>
          <a:xfrm>
            <a:off x="7200900" y="876300"/>
            <a:ext cx="28575" cy="5981700"/>
            <a:chOff x="7200900" y="876300"/>
            <a:chExt cx="28575" cy="5981700"/>
          </a:xfrm>
        </p:grpSpPr>
        <p:sp>
          <p:nvSpPr>
            <p:cNvPr id="39" name="Rectangle 39"/>
            <p:cNvSpPr/>
            <p:nvPr/>
          </p:nvSpPr>
          <p:spPr>
            <a:xfrm>
              <a:off x="7200900" y="876300"/>
              <a:ext cx="28575" cy="59817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49" name="facts"/>
          <p:cNvGrpSpPr/>
          <p:nvPr/>
        </p:nvGrpSpPr>
        <p:grpSpPr>
          <a:xfrm>
            <a:off x="7571994" y="1797050"/>
            <a:ext cx="4162806" cy="3542602"/>
            <a:chOff x="7571994" y="1797050"/>
            <a:chExt cx="4162806" cy="3542602"/>
          </a:xfrm>
        </p:grpSpPr>
        <p:sp>
          <p:nvSpPr>
            <p:cNvPr id="41" name="TextBox 41"/>
            <p:cNvSpPr txBox="1"/>
            <p:nvPr/>
          </p:nvSpPr>
          <p:spPr>
            <a:xfrm>
              <a:off x="7571994" y="1797050"/>
              <a:ext cx="221504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新加坡 134 個職缺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74661" y="2203450"/>
              <a:ext cx="18591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美國（533）以外最多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581900" y="285750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71994" y="3225800"/>
              <a:ext cx="198075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60 個職缺要中文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74661" y="3632200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集中在香港、新加坡、台灣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7581900" y="4286250"/>
              <a:ext cx="41529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571994" y="4654550"/>
              <a:ext cx="2382393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台灣也在走同一條路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574661" y="5060950"/>
              <a:ext cx="338683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虛擬資產服務法已三讀，VASP 改許可制</a:t>
              </a:r>
            </a:p>
          </p:txBody>
        </p:sp>
      </p:grpSp>
      <p:grpSp>
        <p:nvGrpSpPr>
          <p:cNvPr id="52" name="token"/>
          <p:cNvGrpSpPr/>
          <p:nvPr/>
        </p:nvGrpSpPr>
        <p:grpSpPr>
          <a:xfrm>
            <a:off x="7573518" y="5721350"/>
            <a:ext cx="2937354" cy="589852"/>
            <a:chOff x="7573518" y="5721350"/>
            <a:chExt cx="2937354" cy="589852"/>
          </a:xfrm>
        </p:grpSpPr>
        <p:sp>
          <p:nvSpPr>
            <p:cNvPr id="50" name="TextBox 50"/>
            <p:cNvSpPr txBox="1"/>
            <p:nvPr/>
          </p:nvSpPr>
          <p:spPr>
            <a:xfrm>
              <a:off x="7573518" y="5721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傳統金融正在把資產搬上鏈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74661" y="6032500"/>
              <a:ext cx="29362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4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Tokenization — 這個缺口只會更大</a:t>
              </a:r>
            </a:p>
          </p:txBody>
        </p:sp>
      </p:grpSp>
      <p:grpSp>
        <p:nvGrpSpPr>
          <p:cNvPr id="54" name="source"/>
          <p:cNvGrpSpPr/>
          <p:nvPr/>
        </p:nvGrpSpPr>
        <p:grpSpPr>
          <a:xfrm>
            <a:off x="451485" y="6470650"/>
            <a:ext cx="3816046" cy="220028"/>
            <a:chOff x="451485" y="6470650"/>
            <a:chExt cx="3816046" cy="220028"/>
          </a:xfrm>
        </p:grpSpPr>
        <p:sp>
          <p:nvSpPr>
            <p:cNvPr id="53" name="TextBox 53"/>
            <p:cNvSpPr txBox="1"/>
            <p:nvPr/>
          </p:nvSpPr>
          <p:spPr>
            <a:xfrm>
              <a:off x="451485" y="6470650"/>
              <a:ext cx="3816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12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資料：MoleDAO, Web3 Hiring Market Report Q3 2026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header"/>
          <p:cNvGrpSpPr/>
          <p:nvPr/>
        </p:nvGrpSpPr>
        <p:grpSpPr>
          <a:xfrm>
            <a:off x="445770" y="311150"/>
            <a:ext cx="11289030" cy="574675"/>
            <a:chOff x="445770" y="311150"/>
            <a:chExt cx="11289030" cy="574675"/>
          </a:xfrm>
        </p:grpSpPr>
        <p:sp>
          <p:nvSpPr>
            <p:cNvPr id="2" name="TextBox 2"/>
            <p:cNvSpPr txBox="1"/>
            <p:nvPr/>
          </p:nvSpPr>
          <p:spPr>
            <a:xfrm>
              <a:off x="445770" y="311150"/>
              <a:ext cx="214312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該不該選這個系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9517209" y="463550"/>
              <a:ext cx="6794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COURSES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104203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5" name="Rectangle 5"/>
            <p:cNvSpPr/>
            <p:nvPr/>
          </p:nvSpPr>
          <p:spPr>
            <a:xfrm>
              <a:off x="105918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6" name="Rectangle 6"/>
            <p:cNvSpPr/>
            <p:nvPr/>
          </p:nvSpPr>
          <p:spPr>
            <a:xfrm>
              <a:off x="107632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109347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11061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11277600" y="438150"/>
              <a:ext cx="114300" cy="114300"/>
            </a:xfrm>
            <a:prstGeom prst="rect">
              <a:avLst/>
            </a:prstGeom>
            <a:solidFill>
              <a:srgbClr val="0A1138"/>
            </a:solidFill>
            <a:ln w="19050">
              <a:solidFill>
                <a:srgbClr val="0A1138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1144905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11620500" y="438150"/>
              <a:ext cx="114300" cy="114300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0A113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</p:grpSp>
      <p:grpSp>
        <p:nvGrpSpPr>
          <p:cNvPr id="16" name="claim"/>
          <p:cNvGrpSpPr/>
          <p:nvPr/>
        </p:nvGrpSpPr>
        <p:grpSpPr>
          <a:xfrm>
            <a:off x="440436" y="1327150"/>
            <a:ext cx="6697218" cy="645414"/>
            <a:chOff x="440436" y="1327150"/>
            <a:chExt cx="6697218" cy="645414"/>
          </a:xfrm>
        </p:grpSpPr>
        <p:sp>
          <p:nvSpPr>
            <p:cNvPr id="14" name="TextBox 14"/>
            <p:cNvSpPr txBox="1"/>
            <p:nvPr/>
          </p:nvSpPr>
          <p:spPr>
            <a:xfrm>
              <a:off x="440436" y="1327150"/>
              <a:ext cx="6697218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必修打底，選修決定你變成什麼人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57200" y="19240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47" name="columns"/>
          <p:cNvGrpSpPr/>
          <p:nvPr/>
        </p:nvGrpSpPr>
        <p:grpSpPr>
          <a:xfrm>
            <a:off x="457200" y="2038350"/>
            <a:ext cx="11163300" cy="2857500"/>
            <a:chOff x="457200" y="2038350"/>
            <a:chExt cx="11163300" cy="2857500"/>
          </a:xfrm>
        </p:grpSpPr>
        <p:sp>
          <p:nvSpPr>
            <p:cNvPr id="17" name="Rectangle 17"/>
            <p:cNvSpPr/>
            <p:nvPr/>
          </p:nvSpPr>
          <p:spPr>
            <a:xfrm>
              <a:off x="457200" y="2038350"/>
              <a:ext cx="3619500" cy="2857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457200" y="2038350"/>
              <a:ext cx="3619500" cy="28575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76656" y="2241550"/>
              <a:ext cx="103783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必修 9 門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85800" y="2628900"/>
              <a:ext cx="457200" cy="381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8942" y="2844800"/>
              <a:ext cx="16220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區塊鏈技術 1 &amp; 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8942" y="3121025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分散式系統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8942" y="3397250"/>
              <a:ext cx="7951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密碼學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78942" y="3673475"/>
              <a:ext cx="9769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軟體工程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8942" y="3949700"/>
              <a:ext cx="16220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區塊鏈開發 1 &amp; 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78942" y="4225925"/>
              <a:ext cx="13403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智能合約安全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8942" y="4502150"/>
              <a:ext cx="11586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隱私與擴容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229100" y="2038350"/>
              <a:ext cx="3619500" cy="28575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4229100" y="2038350"/>
              <a:ext cx="3619500" cy="28575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448556" y="2241550"/>
              <a:ext cx="176478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選修・開發 6 門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457700" y="2628900"/>
              <a:ext cx="457200" cy="381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450842" y="2844800"/>
              <a:ext cx="13760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Web 程式基礎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50842" y="3121025"/>
              <a:ext cx="13403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智能合約方案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450842" y="3397250"/>
              <a:ext cx="107499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dApp 開發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50842" y="3673475"/>
              <a:ext cx="13403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軟體專案管理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450842" y="3949700"/>
              <a:ext cx="9769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資訊安全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4450842" y="4225925"/>
              <a:ext cx="9769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賽局理論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001000" y="2038350"/>
              <a:ext cx="3619500" cy="285750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8001000" y="2038350"/>
              <a:ext cx="3619500" cy="2857500"/>
            </a:xfrm>
            <a:prstGeom prst="rect">
              <a:avLst/>
            </a:prstGeom>
            <a:noFill/>
            <a:ln w="28575">
              <a:solidFill>
                <a:srgbClr val="0A1138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220456" y="2241550"/>
              <a:ext cx="24917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選修・管理與金融 5 門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229600" y="2628900"/>
              <a:ext cx="457200" cy="38100"/>
            </a:xfrm>
            <a:prstGeom prst="rect">
              <a:avLst/>
            </a:prstGeom>
            <a:solidFill>
              <a:srgbClr val="93A0C9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222742" y="2844800"/>
              <a:ext cx="9769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代幣經濟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22742" y="3121025"/>
              <a:ext cx="15163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FinTech 新趨勢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22742" y="3397250"/>
              <a:ext cx="15221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350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・ 區塊鏈商業應用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222742" y="3673475"/>
              <a:ext cx="16206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53019" indent="-153019">
                <a:buClr>
                  <a:srgbClr val="D21540"/>
                </a:buClr>
                <a:buSzTx/>
                <a:buFontTx/>
                <a:buChar char="●"/>
              </a:pPr>
              <a:r>
                <a:rPr lang="zh-TW" sz="135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區塊鏈倫理與法律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22742" y="3949700"/>
              <a:ext cx="12571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53019" indent="-153019">
                <a:buClr>
                  <a:srgbClr val="D21540"/>
                </a:buClr>
                <a:buSzTx/>
                <a:buFontTx/>
                <a:buChar char="●"/>
              </a:pPr>
              <a:r>
                <a:rPr lang="zh-TW" sz="135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區塊鏈與金融</a:t>
              </a:r>
            </a:p>
          </p:txBody>
        </p:sp>
      </p:grpSp>
      <p:grpSp>
        <p:nvGrpSpPr>
          <p:cNvPr id="50" name="pick"/>
          <p:cNvGrpSpPr/>
          <p:nvPr/>
        </p:nvGrpSpPr>
        <p:grpSpPr>
          <a:xfrm>
            <a:off x="449199" y="5156200"/>
            <a:ext cx="4695393" cy="601091"/>
            <a:chOff x="449199" y="5156200"/>
            <a:chExt cx="4695393" cy="601091"/>
          </a:xfrm>
        </p:grpSpPr>
        <p:sp>
          <p:nvSpPr>
            <p:cNvPr id="48" name="TextBox 48"/>
            <p:cNvSpPr txBox="1"/>
            <p:nvPr/>
          </p:nvSpPr>
          <p:spPr>
            <a:xfrm>
              <a:off x="449961" y="5156200"/>
              <a:ext cx="170471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0953" indent="-160953">
                <a:buClr>
                  <a:srgbClr val="D21540"/>
                </a:buClr>
                <a:buSzTx/>
                <a:buFontTx/>
                <a:buChar char="●"/>
              </a:pPr>
              <a:r>
                <a:rPr lang="zh-TW" sz="1420" b="1" dirty="0">
                  <a:solidFill>
                    <a:srgbClr val="D21540"/>
                  </a:solidFill>
                  <a:latin typeface="+mn-lt"/>
                  <a:ea typeface="+mn-ea"/>
                  <a:cs typeface="+mn-cs"/>
                </a:rPr>
                <a:t>我自己會選的兩門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49199" y="5448300"/>
              <a:ext cx="469539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市場最缺合規人才，所以我往法律和金融的課走。</a:t>
              </a:r>
            </a:p>
          </p:txBody>
        </p:sp>
      </p:grpSp>
      <p:grpSp>
        <p:nvGrpSpPr>
          <p:cNvPr id="54" name="time"/>
          <p:cNvGrpSpPr/>
          <p:nvPr/>
        </p:nvGrpSpPr>
        <p:grpSpPr>
          <a:xfrm>
            <a:off x="444246" y="5962650"/>
            <a:ext cx="7251954" cy="733679"/>
            <a:chOff x="444246" y="5962650"/>
            <a:chExt cx="7251954" cy="733679"/>
          </a:xfrm>
        </p:grpSpPr>
        <p:sp>
          <p:nvSpPr>
            <p:cNvPr id="51" name="Rectangle 51"/>
            <p:cNvSpPr/>
            <p:nvPr/>
          </p:nvSpPr>
          <p:spPr>
            <a:xfrm>
              <a:off x="457200" y="5962650"/>
              <a:ext cx="72390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444246" y="6197600"/>
              <a:ext cx="242286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55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18:30 – 21:45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849880" y="63246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課大多排在晚上，白天可以去實習。</a:t>
              </a:r>
            </a:p>
          </p:txBody>
        </p:sp>
      </p:grpSp>
      <p:grpSp>
        <p:nvGrpSpPr>
          <p:cNvPr id="58" name="qr"/>
          <p:cNvGrpSpPr/>
          <p:nvPr/>
        </p:nvGrpSpPr>
        <p:grpSpPr>
          <a:xfrm>
            <a:off x="9714230" y="5048250"/>
            <a:ext cx="1736090" cy="1583817"/>
            <a:chOff x="9714230" y="5048250"/>
            <a:chExt cx="1736090" cy="1583817"/>
          </a:xfrm>
        </p:grpSpPr>
        <p:sp>
          <p:nvSpPr>
            <p:cNvPr id="55" name="Rectangle 55"/>
            <p:cNvSpPr/>
            <p:nvPr/>
          </p:nvSpPr>
          <p:spPr>
            <a:xfrm>
              <a:off x="9963150" y="5048250"/>
              <a:ext cx="1238250" cy="123825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0A1138"/>
              </a:solidFill>
            </a:ln>
          </p:spPr>
        </p:sp>
        <p:pic>
          <p:nvPicPr>
            <p:cNvPr id="56" name="Image 5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20300" y="5105400"/>
              <a:ext cx="1123950" cy="1123950"/>
            </a:xfrm>
            <a:prstGeom prst="rect">
              <a:avLst/>
            </a:prstGeom>
          </p:spPr>
        </p:pic>
        <p:sp>
          <p:nvSpPr>
            <p:cNvPr id="57" name="TextBox 57"/>
            <p:cNvSpPr txBox="1"/>
            <p:nvPr/>
          </p:nvSpPr>
          <p:spPr>
            <a:xfrm>
              <a:off x="9714230" y="6381750"/>
              <a:ext cx="1736090" cy="250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28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掃這裡看完整課程大綱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mark"/>
          <p:cNvGrpSpPr/>
          <p:nvPr/>
        </p:nvGrpSpPr>
        <p:grpSpPr>
          <a:xfrm>
            <a:off x="449580" y="400050"/>
            <a:ext cx="11285220" cy="485775"/>
            <a:chOff x="449580" y="400050"/>
            <a:chExt cx="11285220" cy="485775"/>
          </a:xfrm>
        </p:grpSpPr>
        <p:sp>
          <p:nvSpPr>
            <p:cNvPr id="2" name="Rectangle 2"/>
            <p:cNvSpPr/>
            <p:nvPr/>
          </p:nvSpPr>
          <p:spPr>
            <a:xfrm>
              <a:off x="457200" y="857250"/>
              <a:ext cx="11277600" cy="28575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449580" y="400050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結語</a:t>
              </a:r>
            </a:p>
          </p:txBody>
        </p:sp>
      </p:grpSp>
      <p:grpSp>
        <p:nvGrpSpPr>
          <p:cNvPr id="9" name="statement"/>
          <p:cNvGrpSpPr/>
          <p:nvPr/>
        </p:nvGrpSpPr>
        <p:grpSpPr>
          <a:xfrm>
            <a:off x="438150" y="1778000"/>
            <a:ext cx="6096000" cy="2460625"/>
            <a:chOff x="438150" y="1778000"/>
            <a:chExt cx="6096000" cy="2460625"/>
          </a:xfrm>
        </p:grpSpPr>
        <p:sp>
          <p:nvSpPr>
            <p:cNvPr id="5" name="TextBox 5"/>
            <p:cNvSpPr txBox="1"/>
            <p:nvPr/>
          </p:nvSpPr>
          <p:spPr>
            <a:xfrm>
              <a:off x="447294" y="1778000"/>
              <a:ext cx="264490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有人說新加坡很無聊。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38150" y="2470150"/>
              <a:ext cx="609600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它不是拿來玩的地方，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438150" y="3232150"/>
              <a:ext cx="5490210" cy="8763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45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是拿來工作的地方。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457200" y="419100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</p:grpSp>
      <p:grpSp>
        <p:nvGrpSpPr>
          <p:cNvPr id="13" name="opportunity"/>
          <p:cNvGrpSpPr/>
          <p:nvPr/>
        </p:nvGrpSpPr>
        <p:grpSpPr>
          <a:xfrm>
            <a:off x="457200" y="4762500"/>
            <a:ext cx="11277600" cy="1428750"/>
            <a:chOff x="457200" y="4762500"/>
            <a:chExt cx="11277600" cy="1428750"/>
          </a:xfrm>
        </p:grpSpPr>
        <p:sp>
          <p:nvSpPr>
            <p:cNvPr id="10" name="Rectangle 10"/>
            <p:cNvSpPr/>
            <p:nvPr/>
          </p:nvSpPr>
          <p:spPr>
            <a:xfrm>
              <a:off x="457200" y="4762500"/>
              <a:ext cx="11277600" cy="1428750"/>
            </a:xfrm>
            <a:prstGeom prst="rect">
              <a:avLst/>
            </a:prstGeom>
            <a:solidFill>
              <a:srgbClr val="CBE0EC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49808" y="5099050"/>
              <a:ext cx="5839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4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我來這裡買到的，是原本拿不到的機會。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3999" y="5638800"/>
              <a:ext cx="554619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rgbClr val="2B3A77"/>
                  </a:solidFill>
                  <a:latin typeface="+mn-lt"/>
                  <a:ea typeface="+mn-ea"/>
                  <a:cs typeface="+mn-cs"/>
                </a:rPr>
                <a:t>實習、課外活動、認識的人，以及在國際職場工作的機會。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2"/>
          <a:srcRect l="31597" t="0" r="31597" b="0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grpSp>
        <p:nvGrpSpPr>
          <p:cNvPr id="19" name="panel"/>
          <p:cNvGrpSpPr/>
          <p:nvPr/>
        </p:nvGrpSpPr>
        <p:grpSpPr>
          <a:xfrm>
            <a:off x="0" y="0"/>
            <a:ext cx="6124575" cy="6858000"/>
            <a:chOff x="0" y="0"/>
            <a:chExt cx="6124575" cy="6858000"/>
          </a:xfrm>
        </p:grpSpPr>
        <p:sp>
          <p:nvSpPr>
            <p:cNvPr id="3" name="Rectangle 3"/>
            <p:cNvSpPr/>
            <p:nvPr/>
          </p:nvSpPr>
          <p:spPr>
            <a:xfrm>
              <a:off x="0" y="0"/>
              <a:ext cx="6096000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" name="Rectangle 4"/>
            <p:cNvSpPr/>
            <p:nvPr/>
          </p:nvSpPr>
          <p:spPr>
            <a:xfrm>
              <a:off x="6096000" y="0"/>
              <a:ext cx="28575" cy="6858000"/>
            </a:xfrm>
            <a:prstGeom prst="rect">
              <a:avLst/>
            </a:prstGeom>
            <a:solidFill>
              <a:srgbClr val="0A1138"/>
            </a:solidFill>
            <a:ln>
              <a:noFill/>
            </a:ln>
          </p:spPr>
        </p:sp>
        <p:pic>
          <p:nvPicPr>
            <p:cNvPr id="5" name="Image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7200" y="571500"/>
              <a:ext cx="2857500" cy="466725"/>
            </a:xfrm>
            <a:prstGeom prst="rect">
              <a:avLst/>
            </a:prstGeom>
          </p:spPr>
        </p:pic>
        <p:sp>
          <p:nvSpPr>
            <p:cNvPr id="6" name="TextBox 6"/>
            <p:cNvSpPr txBox="1"/>
            <p:nvPr/>
          </p:nvSpPr>
          <p:spPr>
            <a:xfrm>
              <a:off x="438150" y="1930400"/>
              <a:ext cx="2784348" cy="990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51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謝謝聆聽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457200" y="2914650"/>
              <a:ext cx="914400" cy="47625"/>
            </a:xfrm>
            <a:prstGeom prst="rect">
              <a:avLst/>
            </a:prstGeom>
            <a:solidFill>
              <a:srgbClr val="D21540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448056" y="3175000"/>
              <a:ext cx="231395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80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張鈞威 ・ NTU MSBT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457200" y="3905250"/>
              <a:ext cx="51816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452247" y="4102100"/>
              <a:ext cx="45629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EMAIL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896999" y="40767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（待填）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57200" y="4591050"/>
              <a:ext cx="51816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52247" y="4787900"/>
              <a:ext cx="6703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LINKEDIN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896999" y="47625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（待填）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57200" y="5276850"/>
              <a:ext cx="5181600" cy="19050"/>
            </a:xfrm>
            <a:prstGeom prst="rect">
              <a:avLst/>
            </a:prstGeom>
            <a:solidFill>
              <a:srgbClr val="C7CEE4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2247" y="5473700"/>
              <a:ext cx="82950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b="1" spc="9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INSTAGRAM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896999" y="54483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b="1" dirty="0">
                  <a:solidFill>
                    <a:srgbClr val="0A1138"/>
                  </a:solidFill>
                  <a:latin typeface="+mn-lt"/>
                  <a:ea typeface="+mn-ea"/>
                  <a:cs typeface="+mn-cs"/>
                </a:rPr>
                <a:t>（待填）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9580" y="617220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rgbClr val="6B6B6B"/>
                  </a:solidFill>
                  <a:latin typeface="+mn-lt"/>
                  <a:ea typeface="+mn-ea"/>
                  <a:cs typeface="+mn-cs"/>
                </a:rPr>
                <a:t>有問題歡迎現在提問，或會後找我。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4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ntu-taiwan-info-session">
  <a:themeElements>
    <a:clrScheme name="ntu-taiwan-info-sessio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tu-taiwan-info-session">
      <a:maj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JhengHei"/>
        <a:ea typeface="Microsoft JhengHei"/>
        <a:cs typeface="Microsoft JhengHei"/>
        <a:font script="Jpan" typeface="Microsoft JhengHei"/>
        <a:font script="Hang" typeface="Microsoft JhengHei"/>
        <a:font script="Hans" typeface="Microsoft JhengHei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ntu-taiwan-info-sess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2026-10-23T15:44:05Z</dcterms:created>
  <dcterms:modified xsi:type="dcterms:W3CDTF">2026-10-23T15:44:05Z</dcterms:modified>
  <cp:category/>
  <cp:contentStatus/>
</cp:coreProperties>
</file>