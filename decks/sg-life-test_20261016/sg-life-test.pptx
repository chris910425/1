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16x9"/>
  <p:notesSz cx="6858000" cy="9144000"/>
  <p:defaultTextStyle>
    <a:defPPr>
      <a:defRPr lang="zh-TW"/>
    </a:defPPr>
    <a:lvl1pPr marL="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g-life-tes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g-life-tes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TW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78942" y="996950"/>
            <a:ext cx="2713025" cy="264033"/>
            <a:chOff x="678942" y="996950"/>
            <a:chExt cx="2713025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996950"/>
              <a:ext cx="27130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南洋理工大學　MSBT 碩士生日誌</a:t>
              </a:r>
            </a:p>
          </p:txBody>
        </p:sp>
      </p:grpSp>
      <p:grpSp>
        <p:nvGrpSpPr>
          <p:cNvPr id="6" name="title"/>
          <p:cNvGrpSpPr/>
          <p:nvPr/>
        </p:nvGrpSpPr>
        <p:grpSpPr>
          <a:xfrm>
            <a:off x="666750" y="1968500"/>
            <a:ext cx="3915156" cy="2438400"/>
            <a:chOff x="666750" y="1968500"/>
            <a:chExt cx="3915156" cy="2438400"/>
          </a:xfrm>
        </p:grpSpPr>
        <p:sp>
          <p:nvSpPr>
            <p:cNvPr id="4" name="TextBox 4"/>
            <p:cNvSpPr txBox="1"/>
            <p:nvPr/>
          </p:nvSpPr>
          <p:spPr>
            <a:xfrm>
              <a:off x="666750" y="1968500"/>
              <a:ext cx="2945892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720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新加坡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3016250"/>
              <a:ext cx="3915156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720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留學日常</a:t>
              </a:r>
            </a:p>
          </p:txBody>
        </p:sp>
      </p:grpSp>
      <p:grpSp>
        <p:nvGrpSpPr>
          <p:cNvPr id="8" name="subtitle"/>
          <p:cNvGrpSpPr/>
          <p:nvPr/>
        </p:nvGrpSpPr>
        <p:grpSpPr>
          <a:xfrm>
            <a:off x="675894" y="4464050"/>
            <a:ext cx="4744974" cy="381381"/>
            <a:chOff x="675894" y="4464050"/>
            <a:chExt cx="4744974" cy="381381"/>
          </a:xfrm>
        </p:grpSpPr>
        <p:sp>
          <p:nvSpPr>
            <p:cNvPr id="7" name="TextBox 7"/>
            <p:cNvSpPr txBox="1"/>
            <p:nvPr/>
          </p:nvSpPr>
          <p:spPr>
            <a:xfrm>
              <a:off x="675894" y="4464050"/>
              <a:ext cx="47449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一位區塊鏈碩士生的課堂、生活與小發現</a:t>
              </a:r>
            </a:p>
          </p:txBody>
        </p:sp>
      </p:grpSp>
      <p:grpSp>
        <p:nvGrpSpPr>
          <p:cNvPr id="12" name="field"/>
          <p:cNvGrpSpPr/>
          <p:nvPr/>
        </p:nvGrpSpPr>
        <p:grpSpPr>
          <a:xfrm>
            <a:off x="8001000" y="0"/>
            <a:ext cx="4191000" cy="6858000"/>
            <a:chOff x="8001000" y="0"/>
            <a:chExt cx="4191000" cy="6858000"/>
          </a:xfrm>
        </p:grpSpPr>
        <p:sp>
          <p:nvSpPr>
            <p:cNvPr id="9" name="Rectangle 9"/>
            <p:cNvSpPr/>
            <p:nvPr/>
          </p:nvSpPr>
          <p:spPr>
            <a:xfrm>
              <a:off x="8001000" y="0"/>
              <a:ext cx="4191000" cy="6858000"/>
            </a:xfrm>
            <a:prstGeom prst="rect">
              <a:avLst/>
            </a:prstGeom>
            <a:solidFill>
              <a:srgbClr val="2445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75142" y="996950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FFFFFF">
                      <a:alphaMod val="80000"/>
                    </a:srgbClr>
                  </a:solidFill>
                  <a:latin typeface="+mn-lt"/>
                  <a:ea typeface="+mn-ea"/>
                  <a:cs typeface="+mn-cs"/>
                </a:rPr>
                <a:t>區塊鏈　×　新加坡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0" y="4978400"/>
              <a:ext cx="3664793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MSBT</a:t>
              </a:r>
            </a:p>
          </p:txBody>
        </p:sp>
      </p:grpSp>
      <p:grpSp>
        <p:nvGrpSpPr>
          <p:cNvPr id="14" name="draft-note"/>
          <p:cNvGrpSpPr/>
          <p:nvPr/>
        </p:nvGrpSpPr>
        <p:grpSpPr>
          <a:xfrm>
            <a:off x="679704" y="6286500"/>
            <a:ext cx="3081528" cy="234696"/>
            <a:chOff x="679704" y="6286500"/>
            <a:chExt cx="3081528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679704" y="628650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測試稿　內容為示意，之後會換成真實內容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66750" y="596900"/>
            <a:ext cx="2764155" cy="1127125"/>
            <a:chOff x="666750" y="596900"/>
            <a:chExt cx="2764155" cy="1127125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6900"/>
              <a:ext cx="758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02　日常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933450"/>
              <a:ext cx="2764155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05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一天的節奏</a:t>
              </a:r>
            </a:p>
          </p:txBody>
        </p:sp>
      </p:grpSp>
      <p:grpSp>
        <p:nvGrpSpPr>
          <p:cNvPr id="10" name="st-class"/>
          <p:cNvGrpSpPr/>
          <p:nvPr/>
        </p:nvGrpSpPr>
        <p:grpSpPr>
          <a:xfrm>
            <a:off x="666750" y="2622550"/>
            <a:ext cx="2514600" cy="2261870"/>
            <a:chOff x="666750" y="2622550"/>
            <a:chExt cx="2514600" cy="2261870"/>
          </a:xfrm>
        </p:grpSpPr>
        <p:sp>
          <p:nvSpPr>
            <p:cNvPr id="5" name="TextBox 5"/>
            <p:cNvSpPr txBox="1"/>
            <p:nvPr/>
          </p:nvSpPr>
          <p:spPr>
            <a:xfrm>
              <a:off x="666750" y="2622550"/>
              <a:ext cx="14842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20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08:30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685800" y="3486150"/>
              <a:ext cx="2495550" cy="9525"/>
            </a:xfrm>
            <a:custGeom>
              <a:avLst/>
              <a:gdLst/>
              <a:ahLst/>
              <a:cxnLst/>
              <a:rect l="l" t="t" r="r" b="b"/>
              <a:pathLst>
                <a:path w="2495550" h="9525">
                  <a:moveTo>
                    <a:pt x="0" y="0"/>
                  </a:moveTo>
                  <a:lnTo>
                    <a:pt x="2495550" y="0"/>
                  </a:lnTo>
                </a:path>
              </a:pathLst>
            </a:custGeom>
            <a:noFill/>
            <a:ln w="19050">
              <a:solidFill>
                <a:srgbClr val="12131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685800" y="3400425"/>
              <a:ext cx="171450" cy="171450"/>
            </a:xfrm>
            <a:prstGeom prst="ellipse">
              <a:avLst/>
            </a:prstGeom>
            <a:solidFill>
              <a:srgbClr val="121316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5132" y="3841750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上課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180" y="4286250"/>
              <a:ext cx="1539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TW" sz="15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課堂與實驗課，</a:t>
              </a:r>
              <a:br>
                <a:rPr lang="zh-TW" sz="15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一天從這裡開始。</a:t>
              </a:r>
            </a:p>
          </p:txBody>
        </p:sp>
      </p:grpSp>
      <p:grpSp>
        <p:nvGrpSpPr>
          <p:cNvPr id="16" name="st-lunch"/>
          <p:cNvGrpSpPr/>
          <p:nvPr/>
        </p:nvGrpSpPr>
        <p:grpSpPr>
          <a:xfrm>
            <a:off x="3448050" y="2622550"/>
            <a:ext cx="2514600" cy="2261870"/>
            <a:chOff x="3448050" y="2622550"/>
            <a:chExt cx="2514600" cy="2261870"/>
          </a:xfrm>
        </p:grpSpPr>
        <p:sp>
          <p:nvSpPr>
            <p:cNvPr id="11" name="TextBox 11"/>
            <p:cNvSpPr txBox="1"/>
            <p:nvPr/>
          </p:nvSpPr>
          <p:spPr>
            <a:xfrm>
              <a:off x="3448050" y="2622550"/>
              <a:ext cx="14842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200" b="1" dirty="0">
                  <a:solidFill>
                    <a:srgbClr val="2445FF"/>
                  </a:solidFill>
                  <a:latin typeface="+mn-lt"/>
                  <a:ea typeface="+mn-ea"/>
                  <a:cs typeface="+mn-cs"/>
                </a:rPr>
                <a:t>12:30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467100" y="3486150"/>
              <a:ext cx="2495550" cy="9525"/>
            </a:xfrm>
            <a:custGeom>
              <a:avLst/>
              <a:gdLst/>
              <a:ahLst/>
              <a:cxnLst/>
              <a:rect l="l" t="t" r="r" b="b"/>
              <a:pathLst>
                <a:path w="2495550" h="9525">
                  <a:moveTo>
                    <a:pt x="0" y="0"/>
                  </a:moveTo>
                  <a:lnTo>
                    <a:pt x="2495550" y="0"/>
                  </a:lnTo>
                </a:path>
              </a:pathLst>
            </a:custGeom>
            <a:noFill/>
            <a:ln w="19050">
              <a:solidFill>
                <a:srgbClr val="2445FF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3467100" y="3400425"/>
              <a:ext cx="171450" cy="171450"/>
            </a:xfrm>
            <a:prstGeom prst="ellipse">
              <a:avLst/>
            </a:prstGeom>
            <a:solidFill>
              <a:srgbClr val="2445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456432" y="384175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小販中心午餐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459480" y="4286250"/>
              <a:ext cx="1348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TW" sz="15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選擇多到，</a:t>
              </a:r>
              <a:br>
                <a:rPr lang="zh-TW" sz="15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每天都難決定。</a:t>
              </a:r>
            </a:p>
          </p:txBody>
        </p:sp>
      </p:grpSp>
      <p:grpSp>
        <p:nvGrpSpPr>
          <p:cNvPr id="22" name="st-team"/>
          <p:cNvGrpSpPr/>
          <p:nvPr/>
        </p:nvGrpSpPr>
        <p:grpSpPr>
          <a:xfrm>
            <a:off x="6229350" y="2622550"/>
            <a:ext cx="2514600" cy="2261870"/>
            <a:chOff x="6229350" y="2622550"/>
            <a:chExt cx="2514600" cy="2261870"/>
          </a:xfrm>
        </p:grpSpPr>
        <p:sp>
          <p:nvSpPr>
            <p:cNvPr id="17" name="TextBox 17"/>
            <p:cNvSpPr txBox="1"/>
            <p:nvPr/>
          </p:nvSpPr>
          <p:spPr>
            <a:xfrm>
              <a:off x="6229350" y="2622550"/>
              <a:ext cx="14842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20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15:00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248400" y="3486150"/>
              <a:ext cx="2495550" cy="9525"/>
            </a:xfrm>
            <a:custGeom>
              <a:avLst/>
              <a:gdLst/>
              <a:ahLst/>
              <a:cxnLst/>
              <a:rect l="l" t="t" r="r" b="b"/>
              <a:pathLst>
                <a:path w="2495550" h="9525">
                  <a:moveTo>
                    <a:pt x="0" y="0"/>
                  </a:moveTo>
                  <a:lnTo>
                    <a:pt x="2495550" y="0"/>
                  </a:lnTo>
                </a:path>
              </a:pathLst>
            </a:custGeom>
            <a:noFill/>
            <a:ln w="19050">
              <a:solidFill>
                <a:srgbClr val="12131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6248400" y="3400425"/>
              <a:ext cx="171450" cy="171450"/>
            </a:xfrm>
            <a:prstGeom prst="ellipse">
              <a:avLst/>
            </a:prstGeom>
            <a:solidFill>
              <a:srgbClr val="121316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37732" y="384175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小組專題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40780" y="4286250"/>
              <a:ext cx="1348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TW" sz="15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跟隊友對進度，</a:t>
              </a:r>
              <a:br>
                <a:rPr lang="zh-TW" sz="15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咖啡是必需品。</a:t>
              </a:r>
            </a:p>
          </p:txBody>
        </p:sp>
      </p:grpSp>
      <p:grpSp>
        <p:nvGrpSpPr>
          <p:cNvPr id="28" name="st-night"/>
          <p:cNvGrpSpPr/>
          <p:nvPr/>
        </p:nvGrpSpPr>
        <p:grpSpPr>
          <a:xfrm>
            <a:off x="9010650" y="2622550"/>
            <a:ext cx="2514600" cy="2261870"/>
            <a:chOff x="9010650" y="2622550"/>
            <a:chExt cx="2514600" cy="2261870"/>
          </a:xfrm>
        </p:grpSpPr>
        <p:sp>
          <p:nvSpPr>
            <p:cNvPr id="23" name="TextBox 23"/>
            <p:cNvSpPr txBox="1"/>
            <p:nvPr/>
          </p:nvSpPr>
          <p:spPr>
            <a:xfrm>
              <a:off x="9010650" y="2622550"/>
              <a:ext cx="148429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20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21:00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9029700" y="3486150"/>
              <a:ext cx="2495550" cy="9525"/>
            </a:xfrm>
            <a:custGeom>
              <a:avLst/>
              <a:gdLst/>
              <a:ahLst/>
              <a:cxnLst/>
              <a:rect l="l" t="t" r="r" b="b"/>
              <a:pathLst>
                <a:path w="2495550" h="9525">
                  <a:moveTo>
                    <a:pt x="0" y="0"/>
                  </a:moveTo>
                  <a:lnTo>
                    <a:pt x="2495550" y="0"/>
                  </a:lnTo>
                </a:path>
              </a:pathLst>
            </a:custGeom>
            <a:noFill/>
            <a:ln w="19050">
              <a:solidFill>
                <a:srgbClr val="12131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029700" y="3400425"/>
              <a:ext cx="171450" cy="171450"/>
            </a:xfrm>
            <a:prstGeom prst="ellipse">
              <a:avLst/>
            </a:prstGeom>
            <a:solidFill>
              <a:srgbClr val="12131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19032" y="3841750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0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圖書館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22080" y="4286250"/>
              <a:ext cx="1348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TW" sz="15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趕作業與讀書，</a:t>
              </a:r>
              <a:br>
                <a:rPr lang="zh-TW" sz="15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5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偶爾去吃宵夜。</a:t>
              </a:r>
            </a:p>
          </p:txBody>
        </p:sp>
      </p:grpSp>
      <p:grpSp>
        <p:nvGrpSpPr>
          <p:cNvPr id="30" name="note"/>
          <p:cNvGrpSpPr/>
          <p:nvPr/>
        </p:nvGrpSpPr>
        <p:grpSpPr>
          <a:xfrm>
            <a:off x="678942" y="5740400"/>
            <a:ext cx="3984669" cy="264033"/>
            <a:chOff x="678942" y="5740400"/>
            <a:chExt cx="3984669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678942" y="5740400"/>
              <a:ext cx="3984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※ 時間與內容為示意，正式版會換成真實的一天。</a:t>
              </a: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679704" y="6324600"/>
            <a:ext cx="10832592" cy="234696"/>
            <a:chOff x="679704" y="6324600"/>
            <a:chExt cx="10832592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679704" y="63246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新加坡留學日常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185772" y="6324600"/>
              <a:ext cx="3265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2 / 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kicker"/>
          <p:cNvGrpSpPr/>
          <p:nvPr/>
        </p:nvGrpSpPr>
        <p:grpSpPr>
          <a:xfrm>
            <a:off x="678942" y="596900"/>
            <a:ext cx="758838" cy="264033"/>
            <a:chOff x="678942" y="596900"/>
            <a:chExt cx="758838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6900"/>
              <a:ext cx="758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8A8F9C"/>
                  </a:solidFill>
                  <a:latin typeface="+mn-lt"/>
                  <a:ea typeface="+mn-ea"/>
                  <a:cs typeface="+mn-cs"/>
                </a:rPr>
                <a:t>03　適應</a:t>
              </a:r>
            </a:p>
          </p:txBody>
        </p:sp>
      </p:grpSp>
      <p:grpSp>
        <p:nvGrpSpPr>
          <p:cNvPr id="6" name="statement"/>
          <p:cNvGrpSpPr/>
          <p:nvPr/>
        </p:nvGrpSpPr>
        <p:grpSpPr>
          <a:xfrm>
            <a:off x="666750" y="2387600"/>
            <a:ext cx="6580632" cy="2000250"/>
            <a:chOff x="666750" y="2387600"/>
            <a:chExt cx="6580632" cy="2000250"/>
          </a:xfrm>
        </p:grpSpPr>
        <p:sp>
          <p:nvSpPr>
            <p:cNvPr id="4" name="TextBox 4"/>
            <p:cNvSpPr txBox="1"/>
            <p:nvPr/>
          </p:nvSpPr>
          <p:spPr>
            <a:xfrm>
              <a:off x="666750" y="2387600"/>
              <a:ext cx="658063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400" b="1" dirty="0">
                  <a:solidFill>
                    <a:srgbClr val="ECEEF3"/>
                  </a:solidFill>
                  <a:latin typeface="+mn-lt"/>
                  <a:ea typeface="+mn-ea"/>
                  <a:cs typeface="+mn-cs"/>
                </a:rPr>
                <a:t>天氣一年都是夏天，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66750" y="3340100"/>
              <a:ext cx="512673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400" b="1" dirty="0">
                  <a:solidFill>
                    <a:srgbClr val="5A72FF"/>
                  </a:solidFill>
                  <a:latin typeface="+mn-lt"/>
                  <a:ea typeface="+mn-ea"/>
                  <a:cs typeface="+mn-cs"/>
                </a:rPr>
                <a:t>冷氣</a:t>
              </a:r>
              <a:r>
                <a:rPr lang="zh-TW" sz="5400" b="1" dirty="0">
                  <a:solidFill>
                    <a:srgbClr val="ECEEF3"/>
                  </a:solidFill>
                  <a:latin typeface="+mn-lt"/>
                  <a:ea typeface="+mn-ea"/>
                  <a:cs typeface="+mn-cs"/>
                </a:rPr>
                <a:t>才分季節。</a:t>
              </a:r>
            </a:p>
          </p:txBody>
        </p:sp>
      </p:grpSp>
      <p:grpSp>
        <p:nvGrpSpPr>
          <p:cNvPr id="8" name="source"/>
          <p:cNvGrpSpPr/>
          <p:nvPr/>
        </p:nvGrpSpPr>
        <p:grpSpPr>
          <a:xfrm>
            <a:off x="678942" y="4692650"/>
            <a:ext cx="2194560" cy="264033"/>
            <a:chOff x="678942" y="4692650"/>
            <a:chExt cx="219456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678942" y="469265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8A8F9C"/>
                  </a:solidFill>
                  <a:latin typeface="+mn-lt"/>
                  <a:ea typeface="+mn-ea"/>
                  <a:cs typeface="+mn-cs"/>
                </a:rPr>
                <a:t>第一個學期的觀察（示意）</a:t>
              </a:r>
            </a:p>
          </p:txBody>
        </p:sp>
      </p:grpSp>
      <p:grpSp>
        <p:nvGrpSpPr>
          <p:cNvPr id="11" name="footer"/>
          <p:cNvGrpSpPr/>
          <p:nvPr/>
        </p:nvGrpSpPr>
        <p:grpSpPr>
          <a:xfrm>
            <a:off x="679704" y="6324600"/>
            <a:ext cx="10832592" cy="234696"/>
            <a:chOff x="679704" y="6324600"/>
            <a:chExt cx="10832592" cy="234696"/>
          </a:xfrm>
        </p:grpSpPr>
        <p:sp>
          <p:nvSpPr>
            <p:cNvPr id="9" name="TextBox 9"/>
            <p:cNvSpPr txBox="1"/>
            <p:nvPr/>
          </p:nvSpPr>
          <p:spPr>
            <a:xfrm>
              <a:off x="679704" y="63246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8A8F9C"/>
                  </a:solidFill>
                  <a:latin typeface="+mn-lt"/>
                  <a:ea typeface="+mn-ea"/>
                  <a:cs typeface="+mn-cs"/>
                </a:rPr>
                <a:t>新加坡留學日常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185772" y="6324600"/>
              <a:ext cx="3265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8A8F9C"/>
                  </a:solidFill>
                  <a:latin typeface="+mn-lt"/>
                  <a:ea typeface="+mn-ea"/>
                  <a:cs typeface="+mn-cs"/>
                </a:rPr>
                <a:t>3 / 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66750" y="596900"/>
            <a:ext cx="5490210" cy="1127125"/>
            <a:chOff x="666750" y="596900"/>
            <a:chExt cx="5490210" cy="1127125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6900"/>
              <a:ext cx="758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04　學習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933450"/>
              <a:ext cx="5490210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05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課堂與街上，各學一半</a:t>
              </a:r>
            </a:p>
          </p:txBody>
        </p:sp>
      </p:grpSp>
      <p:grpSp>
        <p:nvGrpSpPr>
          <p:cNvPr id="15" name="panel-class"/>
          <p:cNvGrpSpPr/>
          <p:nvPr/>
        </p:nvGrpSpPr>
        <p:grpSpPr>
          <a:xfrm>
            <a:off x="685800" y="2000250"/>
            <a:ext cx="5334000" cy="3048000"/>
            <a:chOff x="685800" y="2000250"/>
            <a:chExt cx="5334000" cy="3048000"/>
          </a:xfrm>
        </p:grpSpPr>
        <p:sp>
          <p:nvSpPr>
            <p:cNvPr id="5" name="Rectangle 5"/>
            <p:cNvSpPr/>
            <p:nvPr/>
          </p:nvSpPr>
          <p:spPr>
            <a:xfrm>
              <a:off x="685800" y="2000250"/>
              <a:ext cx="5334000" cy="3048000"/>
            </a:xfrm>
            <a:prstGeom prst="rect">
              <a:avLst/>
            </a:prstGeom>
            <a:solidFill>
              <a:srgbClr val="E8E7E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51560" y="2298700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在教室學的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1066800" y="29337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121316">
                  <a:alpha val="25000"/>
                </a:srgbClr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66800" y="3206750"/>
              <a:ext cx="2901696" cy="1524381"/>
              <a:chOff x="1066800" y="3206750"/>
              <a:chExt cx="2901696" cy="1524381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1066800" y="3333750"/>
                <a:ext cx="95250" cy="95250"/>
              </a:xfrm>
              <a:prstGeom prst="rect">
                <a:avLst/>
              </a:prstGeom>
              <a:solidFill>
                <a:srgbClr val="121316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323594" y="3206750"/>
                <a:ext cx="264490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950" dirty="0">
                    <a:solidFill>
                      <a:srgbClr val="121316"/>
                    </a:solidFill>
                    <a:latin typeface="+mn-lt"/>
                    <a:ea typeface="+mn-ea"/>
                    <a:cs typeface="+mn-cs"/>
                  </a:rPr>
                  <a:t>共識機制與密碼學基礎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1066800" y="3905250"/>
                <a:ext cx="95250" cy="95250"/>
              </a:xfrm>
              <a:prstGeom prst="rect">
                <a:avLst/>
              </a:prstGeom>
              <a:solidFill>
                <a:srgbClr val="121316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323594" y="3778250"/>
                <a:ext cx="211988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950" dirty="0">
                    <a:solidFill>
                      <a:srgbClr val="121316"/>
                    </a:solidFill>
                    <a:latin typeface="+mn-lt"/>
                    <a:ea typeface="+mn-ea"/>
                    <a:cs typeface="+mn-cs"/>
                  </a:rPr>
                  <a:t>智能合約開發實作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1066800" y="4476750"/>
                <a:ext cx="95250" cy="95250"/>
              </a:xfrm>
              <a:prstGeom prst="rect">
                <a:avLst/>
              </a:prstGeom>
              <a:solidFill>
                <a:srgbClr val="121316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323594" y="4349750"/>
                <a:ext cx="238239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950" dirty="0">
                    <a:solidFill>
                      <a:srgbClr val="121316"/>
                    </a:solidFill>
                    <a:latin typeface="+mn-lt"/>
                    <a:ea typeface="+mn-ea"/>
                    <a:cs typeface="+mn-cs"/>
                  </a:rPr>
                  <a:t>監理與合規案例討論</a:t>
                </a:r>
              </a:p>
            </p:txBody>
          </p:sp>
        </p:grpSp>
      </p:grpSp>
      <p:grpSp>
        <p:nvGrpSpPr>
          <p:cNvPr id="26" name="panel-street"/>
          <p:cNvGrpSpPr/>
          <p:nvPr/>
        </p:nvGrpSpPr>
        <p:grpSpPr>
          <a:xfrm>
            <a:off x="6172200" y="2000250"/>
            <a:ext cx="5334000" cy="3048000"/>
            <a:chOff x="6172200" y="2000250"/>
            <a:chExt cx="5334000" cy="3048000"/>
          </a:xfrm>
        </p:grpSpPr>
        <p:sp>
          <p:nvSpPr>
            <p:cNvPr id="16" name="Rectangle 16"/>
            <p:cNvSpPr/>
            <p:nvPr/>
          </p:nvSpPr>
          <p:spPr>
            <a:xfrm>
              <a:off x="6172200" y="2000250"/>
              <a:ext cx="5334000" cy="3048000"/>
            </a:xfrm>
            <a:prstGeom prst="rect">
              <a:avLst/>
            </a:prstGeom>
            <a:solidFill>
              <a:srgbClr val="2445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37960" y="2298700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在街上學的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553200" y="293370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FFFFFF">
                  <a:alpha val="40000"/>
                </a:srgbClr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553200" y="3206750"/>
              <a:ext cx="2901696" cy="1524381"/>
              <a:chOff x="6553200" y="3206750"/>
              <a:chExt cx="2901696" cy="1524381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553200" y="3333750"/>
                <a:ext cx="95250" cy="952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6809994" y="3206750"/>
                <a:ext cx="208620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9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PayNow 掃碼付款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6553200" y="3905250"/>
                <a:ext cx="95250" cy="952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6809994" y="3778250"/>
                <a:ext cx="2644902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9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一張卡走遍全島的地鐵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6553200" y="4476750"/>
                <a:ext cx="95250" cy="952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809994" y="4349750"/>
                <a:ext cx="2382393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9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同學來自十幾個國家</a:t>
                </a:r>
              </a:p>
            </p:txBody>
          </p:sp>
        </p:grpSp>
      </p:grpSp>
      <p:grpSp>
        <p:nvGrpSpPr>
          <p:cNvPr id="28" name="takeaway"/>
          <p:cNvGrpSpPr/>
          <p:nvPr/>
        </p:nvGrpSpPr>
        <p:grpSpPr>
          <a:xfrm>
            <a:off x="674370" y="5435600"/>
            <a:ext cx="3657600" cy="440055"/>
            <a:chOff x="674370" y="5435600"/>
            <a:chExt cx="3657600" cy="440055"/>
          </a:xfrm>
        </p:grpSpPr>
        <p:sp>
          <p:nvSpPr>
            <p:cNvPr id="27" name="TextBox 27"/>
            <p:cNvSpPr txBox="1"/>
            <p:nvPr/>
          </p:nvSpPr>
          <p:spPr>
            <a:xfrm>
              <a:off x="674370" y="5435600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課堂教方法，街上教生存。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679704" y="6324600"/>
            <a:ext cx="10832592" cy="234696"/>
            <a:chOff x="679704" y="6324600"/>
            <a:chExt cx="108325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679704" y="63246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新加坡留學日常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85772" y="6324600"/>
              <a:ext cx="3265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4 / 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er"/>
          <p:cNvGrpSpPr/>
          <p:nvPr/>
        </p:nvGrpSpPr>
        <p:grpSpPr>
          <a:xfrm>
            <a:off x="666750" y="596900"/>
            <a:ext cx="4944999" cy="1127125"/>
            <a:chOff x="666750" y="596900"/>
            <a:chExt cx="4944999" cy="1127125"/>
          </a:xfrm>
        </p:grpSpPr>
        <p:sp>
          <p:nvSpPr>
            <p:cNvPr id="2" name="TextBox 2"/>
            <p:cNvSpPr txBox="1"/>
            <p:nvPr/>
          </p:nvSpPr>
          <p:spPr>
            <a:xfrm>
              <a:off x="678942" y="596900"/>
              <a:ext cx="1304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05　給後來的人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6750" y="933450"/>
              <a:ext cx="494499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05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給學弟妹的三個建議</a:t>
              </a:r>
            </a:p>
          </p:txBody>
        </p:sp>
      </p:grpSp>
      <p:grpSp>
        <p:nvGrpSpPr>
          <p:cNvPr id="9" name="tip-1"/>
          <p:cNvGrpSpPr/>
          <p:nvPr/>
        </p:nvGrpSpPr>
        <p:grpSpPr>
          <a:xfrm>
            <a:off x="666750" y="2038350"/>
            <a:ext cx="10839450" cy="1060450"/>
            <a:chOff x="666750" y="2038350"/>
            <a:chExt cx="10839450" cy="1060450"/>
          </a:xfrm>
        </p:grpSpPr>
        <p:sp>
          <p:nvSpPr>
            <p:cNvPr id="5" name="Line 5"/>
            <p:cNvSpPr/>
            <p:nvPr/>
          </p:nvSpPr>
          <p:spPr>
            <a:xfrm>
              <a:off x="685800" y="2038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21316">
                  <a:alpha val="25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666750" y="2165350"/>
              <a:ext cx="75690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272284" y="2260600"/>
              <a:ext cx="257175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冷氣外套隨身帶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278380" y="272415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室內外溫差，比想像中大。</a:t>
              </a:r>
            </a:p>
          </p:txBody>
        </p:sp>
      </p:grpSp>
      <p:grpSp>
        <p:nvGrpSpPr>
          <p:cNvPr id="14" name="tip-2"/>
          <p:cNvGrpSpPr/>
          <p:nvPr/>
        </p:nvGrpSpPr>
        <p:grpSpPr>
          <a:xfrm>
            <a:off x="666750" y="3181350"/>
            <a:ext cx="10839450" cy="1060450"/>
            <a:chOff x="666750" y="3181350"/>
            <a:chExt cx="10839450" cy="1060450"/>
          </a:xfrm>
        </p:grpSpPr>
        <p:sp>
          <p:nvSpPr>
            <p:cNvPr id="10" name="Line 10"/>
            <p:cNvSpPr/>
            <p:nvPr/>
          </p:nvSpPr>
          <p:spPr>
            <a:xfrm>
              <a:off x="685800" y="3181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21316">
                  <a:alpha val="25000"/>
                </a:srgbClr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66750" y="3308350"/>
              <a:ext cx="75690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272284" y="3403600"/>
              <a:ext cx="293522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每週留一天給自己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78380" y="3867150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別讓專題吞掉所有週末。</a:t>
              </a:r>
            </a:p>
          </p:txBody>
        </p:sp>
      </p:grpSp>
      <p:grpSp>
        <p:nvGrpSpPr>
          <p:cNvPr id="19" name="tip-3"/>
          <p:cNvGrpSpPr/>
          <p:nvPr/>
        </p:nvGrpSpPr>
        <p:grpSpPr>
          <a:xfrm>
            <a:off x="666750" y="4324350"/>
            <a:ext cx="10839450" cy="1060450"/>
            <a:chOff x="666750" y="4324350"/>
            <a:chExt cx="10839450" cy="1060450"/>
          </a:xfrm>
        </p:grpSpPr>
        <p:sp>
          <p:nvSpPr>
            <p:cNvPr id="15" name="Line 15"/>
            <p:cNvSpPr/>
            <p:nvPr/>
          </p:nvSpPr>
          <p:spPr>
            <a:xfrm>
              <a:off x="685800" y="432435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121316">
                  <a:alpha val="25000"/>
                </a:srgbClr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66750" y="4451350"/>
              <a:ext cx="75690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80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72284" y="4546600"/>
              <a:ext cx="402564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多跟不同國家的同學吃飯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278380" y="501015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6B6D73"/>
                  </a:solidFill>
                  <a:latin typeface="+mn-lt"/>
                  <a:ea typeface="+mn-ea"/>
                  <a:cs typeface="+mn-cs"/>
                </a:rPr>
                <a:t>最好的課外學習，常在飯桌上。</a:t>
              </a:r>
            </a:p>
          </p:txBody>
        </p:sp>
      </p:grpSp>
      <p:grpSp>
        <p:nvGrpSpPr>
          <p:cNvPr id="22" name="closing"/>
          <p:cNvGrpSpPr/>
          <p:nvPr/>
        </p:nvGrpSpPr>
        <p:grpSpPr>
          <a:xfrm>
            <a:off x="670560" y="5727700"/>
            <a:ext cx="10850880" cy="586740"/>
            <a:chOff x="670560" y="5727700"/>
            <a:chExt cx="10850880" cy="586740"/>
          </a:xfrm>
        </p:grpSpPr>
        <p:sp>
          <p:nvSpPr>
            <p:cNvPr id="20" name="TextBox 20"/>
            <p:cNvSpPr txBox="1"/>
            <p:nvPr/>
          </p:nvSpPr>
          <p:spPr>
            <a:xfrm>
              <a:off x="670560" y="57277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000" b="1" dirty="0">
                  <a:solidFill>
                    <a:srgbClr val="2445FF"/>
                  </a:solidFill>
                  <a:latin typeface="+mn-lt"/>
                  <a:ea typeface="+mn-ea"/>
                  <a:cs typeface="+mn-cs"/>
                </a:rPr>
                <a:t>謝謝聆聽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42703" y="5727700"/>
              <a:ext cx="97873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000" b="1" dirty="0">
                  <a:solidFill>
                    <a:srgbClr val="121316"/>
                  </a:solidFill>
                  <a:latin typeface="+mn-lt"/>
                  <a:ea typeface="+mn-ea"/>
                  <a:cs typeface="+mn-cs"/>
                </a:rPr>
                <a:t>Q&amp;A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g-life-test">
  <a:themeElements>
    <a:clrScheme name="sg-life-tes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g-life-test">
      <a:majorFont>
        <a:latin typeface="Arial"/>
        <a:ea typeface="Microsoft JhengHei"/>
        <a:cs typeface="Arial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JhengHei"/>
        <a:cs typeface="Arial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g-life-tes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2026-10-16T07:42:08Z</dcterms:created>
  <dcterms:modified xsi:type="dcterms:W3CDTF">2026-10-16T07:42:08Z</dcterms:modified>
  <cp:category/>
  <cp:contentStatus/>
</cp:coreProperties>
</file>