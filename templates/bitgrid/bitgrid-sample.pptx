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601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16x9"/>
  <p:notesSz cx="6858000" cy="9144000"/>
  <p:defaultTextStyle>
    <a:defPPr>
      <a:defRPr lang="zh-TW"/>
    </a:defPPr>
    <a:lvl1pPr marL="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TW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charts/_rels/chart6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601.xlsx"/>
</Relationships>
</file>

<file path=ppt/charts/chart6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TW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節點占比</c:v>
                </c:pt>
              </c:strCache>
            </c:strRef>
          </c:tx>
          <c:dPt>
            <c:idx val="0"/>
            <c:spPr>
              <a:solidFill>
                <a:srgbClr val="0A0A0A"/>
              </a:solidFill>
              <a:ln>
                <a:solidFill>
                  <a:srgbClr val="0A0A0A"/>
                </a:solidFill>
              </a:ln>
            </c:spPr>
          </c:dPt>
          <c:dPt>
            <c:idx val="1"/>
            <c:spPr>
              <a:solidFill>
                <a:srgbClr val="6FE0EE"/>
              </a:solidFill>
              <a:ln>
                <a:solidFill>
                  <a:srgbClr val="6FE0EE"/>
                </a:solidFill>
              </a:ln>
            </c:spPr>
          </c:dPt>
          <c:dPt>
            <c:idx val="2"/>
            <c:spPr>
              <a:solidFill>
                <a:srgbClr val="FFD84A"/>
              </a:solidFill>
              <a:ln>
                <a:solidFill>
                  <a:srgbClr val="FFD84A"/>
                </a:solidFill>
              </a:ln>
            </c:spPr>
          </c:dPt>
          <c:cat>
            <c:strRef>
              <c:f>Sheet1!$A$2:$A$4</c:f>
              <c:strCache>
                <c:ptCount val="3"/>
                <c:pt idx="0">
                  <c:v>全節點</c:v>
                </c:pt>
                <c:pt idx="1">
                  <c:v>輕節點</c:v>
                </c:pt>
                <c:pt idx="2">
                  <c:v>驗證者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45</c:v>
                </c:pt>
                <c:pt idx="1">
                  <c:v>30</c:v>
                </c:pt>
                <c:pt idx="2">
                  <c:v>25</c:v>
                </c:pt>
              </c:numCache>
            </c:numRef>
          </c:val>
        </c:ser>
        <c:firstSliceAng val="0"/>
        <c:holeSize val="75"/>
      </c:doughnutChart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TW" sz="900">
          <a:solidFill>
            <a:srgbClr val="404040"/>
          </a:solidFill>
        </a:defRPr>
      </a:pPr>
      <a:endParaRPr lang="zh-TW"/>
    </a:p>
  </c:txPr>
  <c:externalData r:id="rId1">
    <c:autoUpdate val="0"/>
  </c:externalData>
</c:chartSpace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bitgrid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TW" smtClean="0"/>
              <a:t>1/27/13</a:t>
            </a:fld>
            <a:endParaRPr 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TW" smtClean="0"/>
              <a:t>‹#›</a:t>
            </a:fld>
            <a:endParaRPr lang="zh-TW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bitgrid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TW" smtClean="0"/>
              <a:t>1/27/13</a:t>
            </a:fld>
            <a:endParaRPr 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TW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TW" smtClean="0"/>
              <a:t>‹#›</a:t>
            </a:fld>
            <a:endParaRPr 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TW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TW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TW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TW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TW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TW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601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i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smGrid">
            <a:fgClr>
              <a:srgbClr val="1A2058"/>
            </a:fgClr>
            <a:bgClr>
              <a:srgbClr val="0B0E2E"/>
            </a:bgClr>
          </a:pattFill>
          <a:ln>
            <a:noFill/>
          </a:ln>
        </p:spPr>
      </p:sp>
      <p:grpSp>
        <p:nvGrpSpPr>
          <p:cNvPr id="9" name="sky"/>
          <p:cNvGrpSpPr/>
          <p:nvPr/>
        </p:nvGrpSpPr>
        <p:grpSpPr>
          <a:xfrm>
            <a:off x="5629275" y="409575"/>
            <a:ext cx="971550" cy="419100"/>
            <a:chOff x="5629275" y="409575"/>
            <a:chExt cx="971550" cy="419100"/>
          </a:xfrm>
        </p:grpSpPr>
        <p:sp>
          <p:nvSpPr>
            <p:cNvPr id="3" name="Rectangle 3"/>
            <p:cNvSpPr/>
            <p:nvPr/>
          </p:nvSpPr>
          <p:spPr>
            <a:xfrm>
              <a:off x="6000750" y="771525"/>
              <a:ext cx="57150" cy="57150"/>
            </a:xfrm>
            <a:prstGeom prst="rect">
              <a:avLst/>
            </a:prstGeom>
            <a:solidFill>
              <a:srgbClr val="FFD84A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6524625" y="704850"/>
              <a:ext cx="38100" cy="381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6229350" y="409575"/>
              <a:ext cx="38100" cy="38100"/>
            </a:xfrm>
            <a:prstGeom prst="rect">
              <a:avLst/>
            </a:prstGeom>
            <a:solidFill>
              <a:srgbClr val="FF9EC7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5629275" y="638175"/>
              <a:ext cx="38100" cy="381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5810250" y="428625"/>
              <a:ext cx="76200" cy="762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524625" y="723900"/>
              <a:ext cx="76200" cy="762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</p:grpSp>
      <p:grpSp>
        <p:nvGrpSpPr>
          <p:cNvPr id="12" name="kicker"/>
          <p:cNvGrpSpPr/>
          <p:nvPr/>
        </p:nvGrpSpPr>
        <p:grpSpPr>
          <a:xfrm>
            <a:off x="381000" y="419100"/>
            <a:ext cx="2038350" cy="285750"/>
            <a:chOff x="381000" y="419100"/>
            <a:chExt cx="2038350" cy="285750"/>
          </a:xfrm>
        </p:grpSpPr>
        <p:sp>
          <p:nvSpPr>
            <p:cNvPr id="10" name="Rectangle 10"/>
            <p:cNvSpPr/>
            <p:nvPr/>
          </p:nvSpPr>
          <p:spPr>
            <a:xfrm>
              <a:off x="381000" y="419100"/>
              <a:ext cx="2038350" cy="28575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70154" y="450850"/>
              <a:ext cx="19464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00" b="1" dirty="0">
                  <a:solidFill>
                    <a:srgbClr val="0B0E2E"/>
                  </a:solidFill>
                  <a:latin typeface="Consolas"/>
                  <a:ea typeface="Microsoft JhengHei"/>
                  <a:cs typeface="Consolas"/>
                </a:rPr>
                <a:t>MSBT 6001 ‧ 區塊鏈技術</a:t>
              </a:r>
            </a:p>
          </p:txBody>
        </p:sp>
      </p:grpSp>
      <p:grpSp>
        <p:nvGrpSpPr>
          <p:cNvPr id="15" name="title"/>
          <p:cNvGrpSpPr/>
          <p:nvPr/>
        </p:nvGrpSpPr>
        <p:grpSpPr>
          <a:xfrm>
            <a:off x="361950" y="1289050"/>
            <a:ext cx="4884420" cy="3067050"/>
            <a:chOff x="361950" y="1289050"/>
            <a:chExt cx="4884420" cy="3067050"/>
          </a:xfrm>
        </p:grpSpPr>
        <p:sp>
          <p:nvSpPr>
            <p:cNvPr id="13" name="TextBox 13"/>
            <p:cNvSpPr txBox="1"/>
            <p:nvPr/>
          </p:nvSpPr>
          <p:spPr>
            <a:xfrm>
              <a:off x="361950" y="1289050"/>
              <a:ext cx="4884420" cy="1733550"/>
            </a:xfrm>
            <a:prstGeom prst="rect">
              <a:avLst/>
            </a:prstGeom>
            <a:noFill/>
            <a:ln>
              <a:noFill/>
            </a:ln>
            <a:effectLst>
              <a:outerShdw blurRad="0" dist="67352" dir="2700000" algn="tl" rotWithShape="0">
                <a:srgbClr val="FFD84A">
                  <a:alpha val="7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9000" dirty="0">
                  <a:ln w="47625">
                    <a:solidFill>
                      <a:srgbClr val="6FE0EE"/>
                    </a:solidFill>
                  </a:ln>
                  <a:solidFill>
                    <a:srgbClr val="6FE0EE"/>
                  </a:solidFill>
                  <a:latin typeface="Cubic 11"/>
                  <a:ea typeface="Cubic 11"/>
                  <a:cs typeface="Cubic 11"/>
                </a:rPr>
                <a:t>區塊鏈的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1950" y="2622550"/>
              <a:ext cx="4884420" cy="1733550"/>
            </a:xfrm>
            <a:prstGeom prst="rect">
              <a:avLst/>
            </a:prstGeom>
            <a:noFill/>
            <a:ln>
              <a:noFill/>
            </a:ln>
            <a:effectLst>
              <a:outerShdw blurRad="0" dist="67352" dir="2700000" algn="tl" rotWithShape="0">
                <a:srgbClr val="FFD84A">
                  <a:alpha val="7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9000" dirty="0">
                  <a:ln w="47625">
                    <a:solidFill>
                      <a:srgbClr val="6FE0EE"/>
                    </a:solidFill>
                  </a:ln>
                  <a:solidFill>
                    <a:srgbClr val="6FE0EE"/>
                  </a:solidFill>
                  <a:latin typeface="Cubic 11"/>
                  <a:ea typeface="Cubic 11"/>
                  <a:cs typeface="Cubic 11"/>
                </a:rPr>
                <a:t>交易旅程</a:t>
              </a:r>
            </a:p>
          </p:txBody>
        </p:sp>
      </p:grpSp>
      <p:grpSp>
        <p:nvGrpSpPr>
          <p:cNvPr id="17" name="subtitle"/>
          <p:cNvGrpSpPr/>
          <p:nvPr/>
        </p:nvGrpSpPr>
        <p:grpSpPr>
          <a:xfrm>
            <a:off x="371094" y="4273550"/>
            <a:ext cx="5532501" cy="381381"/>
            <a:chOff x="371094" y="4273550"/>
            <a:chExt cx="5532501" cy="381381"/>
          </a:xfrm>
        </p:grpSpPr>
        <p:sp>
          <p:nvSpPr>
            <p:cNvPr id="16" name="TextBox 16"/>
            <p:cNvSpPr txBox="1"/>
            <p:nvPr/>
          </p:nvSpPr>
          <p:spPr>
            <a:xfrm>
              <a:off x="371094" y="4273550"/>
              <a:ext cx="553250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>
                  <a:solidFill>
                    <a:srgbClr val="C9D0F2"/>
                  </a:solidFill>
                  <a:latin typeface="+mn-lt"/>
                  <a:ea typeface="+mn-ea"/>
                  <a:cs typeface="+mn-cs"/>
                </a:rPr>
                <a:t>從一個簽名到最終確認：一筆交易如何寫進帳本</a:t>
              </a:r>
            </a:p>
          </p:txBody>
        </p:sp>
      </p:grpSp>
      <p:grpSp>
        <p:nvGrpSpPr>
          <p:cNvPr id="34" name="loading"/>
          <p:cNvGrpSpPr/>
          <p:nvPr/>
        </p:nvGrpSpPr>
        <p:grpSpPr>
          <a:xfrm>
            <a:off x="374904" y="5080000"/>
            <a:ext cx="3282696" cy="558800"/>
            <a:chOff x="374904" y="5080000"/>
            <a:chExt cx="3282696" cy="558800"/>
          </a:xfrm>
        </p:grpSpPr>
        <p:sp>
          <p:nvSpPr>
            <p:cNvPr id="18" name="TextBox 18"/>
            <p:cNvSpPr txBox="1"/>
            <p:nvPr/>
          </p:nvSpPr>
          <p:spPr>
            <a:xfrm>
              <a:off x="374904" y="5080000"/>
              <a:ext cx="25469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6FE0EE"/>
                  </a:solidFill>
                  <a:latin typeface="Consolas"/>
                  <a:ea typeface="Consolas"/>
                  <a:cs typeface="Consolas"/>
                </a:rPr>
                <a:t>LOADING BLOCK #1024 ……… 72%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381000" y="5334000"/>
              <a:ext cx="3276600" cy="304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6FE0EE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8150" y="5391150"/>
              <a:ext cx="190500" cy="1905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66750" y="5391150"/>
              <a:ext cx="190500" cy="1905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895350" y="5391150"/>
              <a:ext cx="190500" cy="1905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1123950" y="5391150"/>
              <a:ext cx="190500" cy="1905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1352550" y="5391150"/>
              <a:ext cx="190500" cy="1905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1581150" y="5391150"/>
              <a:ext cx="190500" cy="1905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809750" y="5391150"/>
              <a:ext cx="190500" cy="1905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038350" y="5391150"/>
              <a:ext cx="190500" cy="1905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2266950" y="5391150"/>
              <a:ext cx="190500" cy="1905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495550" y="5391150"/>
              <a:ext cx="190500" cy="1905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2724150" y="5391150"/>
              <a:ext cx="190500" cy="190500"/>
            </a:xfrm>
            <a:prstGeom prst="rect">
              <a:avLst/>
            </a:prstGeom>
            <a:solidFill>
              <a:srgbClr val="1E2466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2952750" y="5391150"/>
              <a:ext cx="190500" cy="190500"/>
            </a:xfrm>
            <a:prstGeom prst="rect">
              <a:avLst/>
            </a:prstGeom>
            <a:solidFill>
              <a:srgbClr val="1E246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181350" y="5391150"/>
              <a:ext cx="190500" cy="190500"/>
            </a:xfrm>
            <a:prstGeom prst="rect">
              <a:avLst/>
            </a:prstGeom>
            <a:solidFill>
              <a:srgbClr val="1E2466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3409950" y="5391150"/>
              <a:ext cx="190500" cy="190500"/>
            </a:xfrm>
            <a:prstGeom prst="rect">
              <a:avLst/>
            </a:prstGeom>
            <a:solidFill>
              <a:srgbClr val="1E2466"/>
            </a:solidFill>
            <a:ln>
              <a:noFill/>
            </a:ln>
          </p:spPr>
        </p:sp>
      </p:grpSp>
      <p:grpSp>
        <p:nvGrpSpPr>
          <p:cNvPr id="44" name="info"/>
          <p:cNvGrpSpPr/>
          <p:nvPr/>
        </p:nvGrpSpPr>
        <p:grpSpPr>
          <a:xfrm>
            <a:off x="0" y="5981700"/>
            <a:ext cx="12192000" cy="876300"/>
            <a:chOff x="0" y="5981700"/>
            <a:chExt cx="12192000" cy="876300"/>
          </a:xfrm>
        </p:grpSpPr>
        <p:sp>
          <p:nvSpPr>
            <p:cNvPr id="35" name="Rectangle 35"/>
            <p:cNvSpPr/>
            <p:nvPr/>
          </p:nvSpPr>
          <p:spPr>
            <a:xfrm>
              <a:off x="0" y="5981700"/>
              <a:ext cx="12192000" cy="28575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4057650" y="5981700"/>
              <a:ext cx="28575" cy="8763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8115300" y="5981700"/>
              <a:ext cx="28575" cy="8763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374904" y="6146800"/>
              <a:ext cx="8570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D84A"/>
                  </a:solidFill>
                  <a:latin typeface="Consolas"/>
                  <a:ea typeface="Consolas"/>
                  <a:cs typeface="Consolas"/>
                </a:rPr>
                <a:t>PRESENTER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73380" y="6381750"/>
              <a:ext cx="18805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C9D0F2"/>
                  </a:solidFill>
                  <a:latin typeface="+mn-lt"/>
                  <a:ea typeface="+mn-ea"/>
                  <a:cs typeface="+mn-cs"/>
                </a:rPr>
                <a:t>王小明　MSBT 2026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32554" y="6146800"/>
              <a:ext cx="3877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D84A"/>
                  </a:solidFill>
                  <a:latin typeface="Consolas"/>
                  <a:ea typeface="Consolas"/>
                  <a:cs typeface="Consolas"/>
                </a:rPr>
                <a:t>DATE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431030" y="6381750"/>
              <a:ext cx="17684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C9D0F2"/>
                  </a:solidFill>
                  <a:latin typeface="+mn-lt"/>
                  <a:ea typeface="+mn-ea"/>
                  <a:cs typeface="+mn-cs"/>
                </a:rPr>
                <a:t>2026 年 10 月 21 日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90204" y="6146800"/>
              <a:ext cx="5754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D84A"/>
                  </a:solidFill>
                  <a:latin typeface="Consolas"/>
                  <a:ea typeface="Consolas"/>
                  <a:cs typeface="Consolas"/>
                </a:rPr>
                <a:t>COURSE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88680" y="6381750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C9D0F2"/>
                  </a:solidFill>
                  <a:latin typeface="+mn-lt"/>
                  <a:ea typeface="+mn-ea"/>
                  <a:cs typeface="+mn-cs"/>
                </a:rPr>
                <a:t>分散式帳本技術</a:t>
              </a:r>
            </a:p>
          </p:txBody>
        </p:sp>
      </p:grpSp>
      <p:grpSp>
        <p:nvGrpSpPr>
          <p:cNvPr id="80" name="miner"/>
          <p:cNvGrpSpPr/>
          <p:nvPr/>
        </p:nvGrpSpPr>
        <p:grpSpPr>
          <a:xfrm>
            <a:off x="7334250" y="1047750"/>
            <a:ext cx="4381500" cy="3905250"/>
            <a:chOff x="7334250" y="1047750"/>
            <a:chExt cx="4381500" cy="3905250"/>
          </a:xfrm>
        </p:grpSpPr>
        <p:sp>
          <p:nvSpPr>
            <p:cNvPr id="45" name="Rectangle 45"/>
            <p:cNvSpPr/>
            <p:nvPr/>
          </p:nvSpPr>
          <p:spPr>
            <a:xfrm>
              <a:off x="7429500" y="1143000"/>
              <a:ext cx="4286250" cy="38100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334250" y="1047750"/>
              <a:ext cx="4286250" cy="38100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7348538" y="1062038"/>
              <a:ext cx="4257675" cy="314325"/>
            </a:xfrm>
            <a:prstGeom prst="rect">
              <a:avLst/>
            </a:prstGeom>
            <a:solidFill>
              <a:srgbClr val="1B1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7461504" y="1136650"/>
              <a:ext cx="10247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640" indent="-167640">
                <a:buClr>
                  <a:srgbClr val="FFFFFF"/>
                </a:buClr>
                <a:buSzTx/>
                <a:buFontTx/>
                <a:buChar char="■"/>
              </a:pPr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MINER.EXE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1372850" y="1133475"/>
              <a:ext cx="171450" cy="152400"/>
            </a:xfrm>
            <a:prstGeom prst="rect">
              <a:avLst/>
            </a:prstGeom>
            <a:solidFill>
              <a:srgbClr val="F2F2EF"/>
            </a:solidFill>
            <a:ln w="19050">
              <a:solidFill>
                <a:srgbClr val="0A0A0A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11144250" y="1133475"/>
              <a:ext cx="171450" cy="152400"/>
            </a:xfrm>
            <a:prstGeom prst="rect">
              <a:avLst/>
            </a:prstGeom>
            <a:solidFill>
              <a:srgbClr val="F2F2EF"/>
            </a:solidFill>
            <a:ln w="19050">
              <a:solidFill>
                <a:srgbClr val="0A0A0A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0915650" y="1133475"/>
              <a:ext cx="171450" cy="152400"/>
            </a:xfrm>
            <a:prstGeom prst="rect">
              <a:avLst/>
            </a:prstGeom>
            <a:solidFill>
              <a:srgbClr val="F2F2EF"/>
            </a:solidFill>
            <a:ln w="19050">
              <a:solidFill>
                <a:srgbClr val="0A0A0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7334250" y="1371600"/>
              <a:ext cx="428625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7581900" y="1638300"/>
              <a:ext cx="76200" cy="762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783830" y="1593850"/>
              <a:ext cx="16710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0A0A0A"/>
                  </a:solidFill>
                  <a:latin typeface="Consolas"/>
                  <a:ea typeface="Microsoft JhengHei"/>
                  <a:cs typeface="Consolas"/>
                </a:rPr>
                <a:t>收集交易　312 筆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581900" y="2057400"/>
              <a:ext cx="76200" cy="762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783830" y="2012950"/>
              <a:ext cx="18931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0A0A0A"/>
                  </a:solidFill>
                  <a:latin typeface="Consolas"/>
                  <a:ea typeface="Microsoft JhengHei"/>
                  <a:cs typeface="Consolas"/>
                </a:rPr>
                <a:t>計算 nonce　試算中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7581900" y="2476500"/>
              <a:ext cx="76200" cy="762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783830" y="2432050"/>
              <a:ext cx="20143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55575E"/>
                  </a:solidFill>
                  <a:latin typeface="Consolas"/>
                  <a:ea typeface="Consolas"/>
                  <a:cs typeface="Consolas"/>
                </a:rPr>
                <a:t>hash 0000a3f9…e71c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7581900" y="2895600"/>
              <a:ext cx="76200" cy="762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783830" y="2851150"/>
              <a:ext cx="1135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0A0A0A"/>
                  </a:solidFill>
                  <a:latin typeface="Consolas"/>
                  <a:ea typeface="Microsoft JhengHei"/>
                  <a:cs typeface="Consolas"/>
                </a:rPr>
                <a:t>符合難度　✔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7581900" y="3314700"/>
              <a:ext cx="76200" cy="762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783830" y="3270250"/>
              <a:ext cx="148932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0A0A0A"/>
                  </a:solidFill>
                  <a:latin typeface="Consolas"/>
                  <a:ea typeface="Microsoft JhengHei"/>
                  <a:cs typeface="Consolas"/>
                </a:rPr>
                <a:t>廣播區塊 #1024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7581900" y="3733800"/>
              <a:ext cx="76200" cy="762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783830" y="3689350"/>
              <a:ext cx="15925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500" dirty="0">
                  <a:solidFill>
                    <a:srgbClr val="55575E"/>
                  </a:solidFill>
                  <a:latin typeface="Consolas"/>
                  <a:ea typeface="Microsoft JhengHei"/>
                  <a:cs typeface="Consolas"/>
                </a:rPr>
                <a:t>獎勵 3.125 BTC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7581900" y="4305300"/>
              <a:ext cx="190500" cy="1905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7829550" y="4305300"/>
              <a:ext cx="190500" cy="1905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8077200" y="4305300"/>
              <a:ext cx="190500" cy="1905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8324850" y="4305300"/>
              <a:ext cx="190500" cy="1905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8572500" y="4305300"/>
              <a:ext cx="190500" cy="1905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820150" y="4305300"/>
              <a:ext cx="190500" cy="1905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9067800" y="4305300"/>
              <a:ext cx="190500" cy="1905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9315450" y="4305300"/>
              <a:ext cx="190500" cy="1905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9563100" y="4305300"/>
              <a:ext cx="190500" cy="1905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9810750" y="4305300"/>
              <a:ext cx="190500" cy="1905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10058400" y="4305300"/>
              <a:ext cx="190500" cy="1905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10306050" y="430530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10553700" y="430530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10801350" y="430530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11049000" y="430530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side"/>
          <p:cNvGrpSpPr/>
          <p:nvPr/>
        </p:nvGrpSpPr>
        <p:grpSpPr>
          <a:xfrm>
            <a:off x="0" y="0"/>
            <a:ext cx="5362575" cy="6858000"/>
            <a:chOff x="0" y="0"/>
            <a:chExt cx="5362575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5334000" cy="68580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334000" y="0"/>
              <a:ext cx="28575" cy="6858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381000" y="381000"/>
              <a:ext cx="1162050" cy="2857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470154" y="412750"/>
              <a:ext cx="10448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BLOCK #1025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361950" y="1936750"/>
              <a:ext cx="2703576" cy="1905000"/>
            </a:xfrm>
            <a:prstGeom prst="rect">
              <a:avLst/>
            </a:prstGeom>
            <a:noFill/>
            <a:ln>
              <a:noFill/>
            </a:ln>
            <a:effectLst>
              <a:outerShdw blurRad="0" dist="80822" dir="2700000" algn="tl" rotWithShape="0">
                <a:srgbClr val="FFD84A">
                  <a:alpha val="7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9900" dirty="0">
                  <a:ln w="57150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目錄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09956" y="3594100"/>
              <a:ext cx="233320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4 個章節　約 15 分鐘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13004" y="5956300"/>
              <a:ext cx="2088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00" dirty="0">
                  <a:solidFill>
                    <a:srgbClr val="0A0A0A"/>
                  </a:solidFill>
                  <a:latin typeface="Consolas"/>
                  <a:ea typeface="Microsoft JhengHei"/>
                  <a:cs typeface="Consolas"/>
                </a:rPr>
                <a:t>區塊鏈的交易旅程　02 / 10</a:t>
              </a:r>
            </a:p>
          </p:txBody>
        </p:sp>
      </p:grpSp>
      <p:grpSp>
        <p:nvGrpSpPr>
          <p:cNvPr id="29" name="item-01"/>
          <p:cNvGrpSpPr/>
          <p:nvPr/>
        </p:nvGrpSpPr>
        <p:grpSpPr>
          <a:xfrm>
            <a:off x="5334000" y="0"/>
            <a:ext cx="6858000" cy="1714500"/>
            <a:chOff x="5334000" y="0"/>
            <a:chExt cx="6858000" cy="1714500"/>
          </a:xfrm>
        </p:grpSpPr>
        <p:sp>
          <p:nvSpPr>
            <p:cNvPr id="10" name="Rectangle 10"/>
            <p:cNvSpPr/>
            <p:nvPr/>
          </p:nvSpPr>
          <p:spPr>
            <a:xfrm>
              <a:off x="5362575" y="0"/>
              <a:ext cx="6829425" cy="1714500"/>
            </a:xfrm>
            <a:prstGeom prst="rect">
              <a:avLst/>
            </a:prstGeom>
            <a:solidFill>
              <a:srgbClr val="FFD84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334000" y="1685925"/>
              <a:ext cx="6858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5829300" y="8286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886450" y="8286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5943600" y="8286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00750" y="8286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57900" y="8286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115050" y="8286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057900" y="7143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57900" y="77152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057900" y="88582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6057900" y="9429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115050" y="77152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6115050" y="88582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172200" y="8286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000750" y="7143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00750" y="9429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69380" y="603250"/>
              <a:ext cx="601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55575E"/>
                  </a:solidFill>
                  <a:latin typeface="Consolas"/>
                  <a:ea typeface="Consolas"/>
                  <a:cs typeface="Consolas"/>
                </a:rPr>
                <a:t>CH.01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458712" y="774700"/>
              <a:ext cx="2459736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600" dirty="0">
                  <a:ln w="19050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交易是什麼</a:t>
              </a:r>
            </a:p>
          </p:txBody>
        </p:sp>
      </p:grpSp>
      <p:grpSp>
        <p:nvGrpSpPr>
          <p:cNvPr id="49" name="item-02"/>
          <p:cNvGrpSpPr/>
          <p:nvPr/>
        </p:nvGrpSpPr>
        <p:grpSpPr>
          <a:xfrm>
            <a:off x="5334000" y="1714500"/>
            <a:ext cx="6858000" cy="1714500"/>
            <a:chOff x="5334000" y="1714500"/>
            <a:chExt cx="6858000" cy="1714500"/>
          </a:xfrm>
        </p:grpSpPr>
        <p:sp>
          <p:nvSpPr>
            <p:cNvPr id="30" name="Rectangle 30"/>
            <p:cNvSpPr/>
            <p:nvPr/>
          </p:nvSpPr>
          <p:spPr>
            <a:xfrm>
              <a:off x="5362575" y="1714500"/>
              <a:ext cx="6829425" cy="1714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0" y="3400425"/>
              <a:ext cx="6858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829300" y="25431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886450" y="25431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943600" y="25431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000750" y="25431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057900" y="25431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6115050" y="25431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57900" y="24288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6057900" y="248602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057900" y="260032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057900" y="26574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6115050" y="248602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115050" y="260032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172200" y="25431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6000750" y="24288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000750" y="26574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469380" y="2317750"/>
              <a:ext cx="601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55575E"/>
                  </a:solidFill>
                  <a:latin typeface="Consolas"/>
                  <a:ea typeface="Consolas"/>
                  <a:cs typeface="Consolas"/>
                </a:rPr>
                <a:t>CH.02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458712" y="248920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600" dirty="0">
                  <a:ln w="19050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從簽名到廣播</a:t>
              </a:r>
            </a:p>
          </p:txBody>
        </p:sp>
      </p:grpSp>
      <p:grpSp>
        <p:nvGrpSpPr>
          <p:cNvPr id="69" name="item-03"/>
          <p:cNvGrpSpPr/>
          <p:nvPr/>
        </p:nvGrpSpPr>
        <p:grpSpPr>
          <a:xfrm>
            <a:off x="5334000" y="3429000"/>
            <a:ext cx="6858000" cy="1714500"/>
            <a:chOff x="5334000" y="3429000"/>
            <a:chExt cx="6858000" cy="1714500"/>
          </a:xfrm>
        </p:grpSpPr>
        <p:sp>
          <p:nvSpPr>
            <p:cNvPr id="50" name="Rectangle 50"/>
            <p:cNvSpPr/>
            <p:nvPr/>
          </p:nvSpPr>
          <p:spPr>
            <a:xfrm>
              <a:off x="5362575" y="3429000"/>
              <a:ext cx="6829425" cy="1714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0" y="5114925"/>
              <a:ext cx="6858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5829300" y="42576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5886450" y="42576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5943600" y="42576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000750" y="42576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057900" y="42576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115050" y="42576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057900" y="41433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057900" y="420052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6057900" y="431482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6057900" y="43719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115050" y="420052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6115050" y="431482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6172200" y="42576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6000750" y="41433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6000750" y="43719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469380" y="4032250"/>
              <a:ext cx="601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55575E"/>
                  </a:solidFill>
                  <a:latin typeface="Consolas"/>
                  <a:ea typeface="Consolas"/>
                  <a:cs typeface="Consolas"/>
                </a:rPr>
                <a:t>CH.03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458712" y="420370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600" dirty="0">
                  <a:ln w="19050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礦工與驗證者</a:t>
              </a:r>
            </a:p>
          </p:txBody>
        </p:sp>
      </p:grpSp>
      <p:grpSp>
        <p:nvGrpSpPr>
          <p:cNvPr id="88" name="item-04"/>
          <p:cNvGrpSpPr/>
          <p:nvPr/>
        </p:nvGrpSpPr>
        <p:grpSpPr>
          <a:xfrm>
            <a:off x="5362575" y="5143500"/>
            <a:ext cx="6829425" cy="1714500"/>
            <a:chOff x="5362575" y="5143500"/>
            <a:chExt cx="6829425" cy="1714500"/>
          </a:xfrm>
        </p:grpSpPr>
        <p:sp>
          <p:nvSpPr>
            <p:cNvPr id="70" name="Rectangle 70"/>
            <p:cNvSpPr/>
            <p:nvPr/>
          </p:nvSpPr>
          <p:spPr>
            <a:xfrm>
              <a:off x="5362575" y="5143500"/>
              <a:ext cx="6829425" cy="1714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5829300" y="59721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5886450" y="59721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5943600" y="59721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6000750" y="59721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057900" y="59721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115050" y="59721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057900" y="58578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057900" y="591502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057900" y="602932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6057900" y="60864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6115050" y="591502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115050" y="602932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6172200" y="59721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6000750" y="58578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6000750" y="6086475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469380" y="5746750"/>
              <a:ext cx="601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55575E"/>
                  </a:solidFill>
                  <a:latin typeface="Consolas"/>
                  <a:ea typeface="Consolas"/>
                  <a:cs typeface="Consolas"/>
                </a:rPr>
                <a:t>CH.04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6458712" y="5918200"/>
              <a:ext cx="3429000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600" dirty="0">
                  <a:ln w="19050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最終確認與安全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D8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num"/>
          <p:cNvGrpSpPr/>
          <p:nvPr/>
        </p:nvGrpSpPr>
        <p:grpSpPr>
          <a:xfrm>
            <a:off x="361950" y="800100"/>
            <a:ext cx="3236671" cy="4133850"/>
            <a:chOff x="361950" y="800100"/>
            <a:chExt cx="3236671" cy="4133850"/>
          </a:xfrm>
        </p:grpSpPr>
        <p:sp>
          <p:nvSpPr>
            <p:cNvPr id="2" name="TextBox 2"/>
            <p:cNvSpPr txBox="1"/>
            <p:nvPr/>
          </p:nvSpPr>
          <p:spPr>
            <a:xfrm>
              <a:off x="361950" y="800100"/>
              <a:ext cx="3236671" cy="4133850"/>
            </a:xfrm>
            <a:prstGeom prst="rect">
              <a:avLst/>
            </a:prstGeom>
            <a:noFill/>
            <a:ln>
              <a:noFill/>
            </a:ln>
            <a:effectLst>
              <a:outerShdw blurRad="0" dist="161645" dir="2700000" algn="tl" rotWithShape="0">
                <a:srgbClr val="FFD84A">
                  <a:alpha val="7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1600" dirty="0">
                  <a:ln w="114300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01</a:t>
              </a:r>
            </a:p>
          </p:txBody>
        </p:sp>
      </p:grpSp>
      <p:grpSp>
        <p:nvGrpSpPr>
          <p:cNvPr id="8" name="chapter"/>
          <p:cNvGrpSpPr/>
          <p:nvPr/>
        </p:nvGrpSpPr>
        <p:grpSpPr>
          <a:xfrm>
            <a:off x="6076950" y="1619250"/>
            <a:ext cx="3985641" cy="1949831"/>
            <a:chOff x="6076950" y="1619250"/>
            <a:chExt cx="3985641" cy="1949831"/>
          </a:xfrm>
        </p:grpSpPr>
        <p:sp>
          <p:nvSpPr>
            <p:cNvPr id="4" name="Rectangle 4"/>
            <p:cNvSpPr/>
            <p:nvPr/>
          </p:nvSpPr>
          <p:spPr>
            <a:xfrm>
              <a:off x="6096000" y="1619250"/>
              <a:ext cx="1514475" cy="2857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6185154" y="1651000"/>
              <a:ext cx="1420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CHAPTER 01 / 04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076950" y="2197100"/>
              <a:ext cx="3672840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400" dirty="0">
                  <a:ln w="28575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交易是什麼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105144" y="3187700"/>
              <a:ext cx="395744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先弄懂一筆交易裡</a:t>
              </a:r>
              <a:r>
                <a:rPr lang="zh-TW" sz="19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到底裝了什麼</a:t>
              </a:r>
              <a:r>
                <a:rPr lang="zh-TW" sz="19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15" name="progress"/>
          <p:cNvGrpSpPr/>
          <p:nvPr/>
        </p:nvGrpSpPr>
        <p:grpSpPr>
          <a:xfrm>
            <a:off x="374904" y="5334000"/>
            <a:ext cx="2634996" cy="1047496"/>
            <a:chOff x="374904" y="5334000"/>
            <a:chExt cx="2634996" cy="1047496"/>
          </a:xfrm>
        </p:grpSpPr>
        <p:sp>
          <p:nvSpPr>
            <p:cNvPr id="9" name="Rectangle 9"/>
            <p:cNvSpPr/>
            <p:nvPr/>
          </p:nvSpPr>
          <p:spPr>
            <a:xfrm>
              <a:off x="381000" y="5334000"/>
              <a:ext cx="2628900" cy="685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438150" y="5391150"/>
              <a:ext cx="571500" cy="571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085850" y="5391150"/>
              <a:ext cx="571500" cy="571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1733550" y="5391150"/>
              <a:ext cx="571500" cy="571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381250" y="5391150"/>
              <a:ext cx="571500" cy="571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74904" y="6146800"/>
              <a:ext cx="13264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PROGRESS 1 / 4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0" y="6515100"/>
            <a:ext cx="12192000" cy="323596"/>
            <a:chOff x="0" y="6515100"/>
            <a:chExt cx="12192000" cy="323596"/>
          </a:xfrm>
        </p:grpSpPr>
        <p:sp>
          <p:nvSpPr>
            <p:cNvPr id="16" name="Rectangle 16"/>
            <p:cNvSpPr/>
            <p:nvPr/>
          </p:nvSpPr>
          <p:spPr>
            <a:xfrm>
              <a:off x="0" y="65151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74904" y="65913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00" dirty="0">
                  <a:solidFill>
                    <a:srgbClr val="0A0A0A"/>
                  </a:solidFill>
                  <a:latin typeface="Consolas"/>
                  <a:ea typeface="Microsoft JhengHei"/>
                  <a:cs typeface="Consolas"/>
                </a:rPr>
                <a:t>區塊鏈的交易旅程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182960" y="660400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03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0" y="127000"/>
            <a:ext cx="12192000" cy="704088"/>
            <a:chOff x="0" y="127000"/>
            <a:chExt cx="12192000" cy="704088"/>
          </a:xfrm>
        </p:grpSpPr>
        <p:sp>
          <p:nvSpPr>
            <p:cNvPr id="2" name="TextBox 2"/>
            <p:cNvSpPr txBox="1"/>
            <p:nvPr/>
          </p:nvSpPr>
          <p:spPr>
            <a:xfrm>
              <a:off x="362712" y="127000"/>
              <a:ext cx="3913632" cy="704088"/>
            </a:xfrm>
            <a:prstGeom prst="rect">
              <a:avLst/>
            </a:prstGeom>
            <a:noFill/>
            <a:ln>
              <a:noFill/>
            </a:ln>
            <a:effectLst>
              <a:outerShdw blurRad="0" dist="26941" dir="2700000" algn="tl" rotWithShape="0">
                <a:srgbClr val="FFD84A">
                  <a:alpha val="7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600" dirty="0">
                  <a:ln w="19050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一筆交易長什麼樣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10648950" y="266700"/>
              <a:ext cx="1162050" cy="2857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738104" y="298450"/>
              <a:ext cx="10448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BLOCK #1027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0" y="8001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17" name="points"/>
          <p:cNvGrpSpPr/>
          <p:nvPr/>
        </p:nvGrpSpPr>
        <p:grpSpPr>
          <a:xfrm>
            <a:off x="381000" y="828675"/>
            <a:ext cx="5334000" cy="5686425"/>
            <a:chOff x="381000" y="828675"/>
            <a:chExt cx="5334000" cy="5686425"/>
          </a:xfrm>
        </p:grpSpPr>
        <p:sp>
          <p:nvSpPr>
            <p:cNvPr id="7" name="Rectangle 7"/>
            <p:cNvSpPr/>
            <p:nvPr/>
          </p:nvSpPr>
          <p:spPr>
            <a:xfrm>
              <a:off x="5686425" y="828675"/>
              <a:ext cx="28575" cy="568642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524000"/>
              <a:ext cx="152400" cy="1524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91134" y="1365250"/>
              <a:ext cx="111785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誰付錢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95706" y="1917700"/>
              <a:ext cx="41638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5575E"/>
                  </a:solidFill>
                  <a:latin typeface="+mn-lt"/>
                  <a:ea typeface="+mn-ea"/>
                  <a:cs typeface="+mn-cs"/>
                </a:rPr>
                <a:t>from：發送方地址，由私鑰簽名證明。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381000" y="3143250"/>
              <a:ext cx="152400" cy="1524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91134" y="2984500"/>
              <a:ext cx="111785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付給誰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95706" y="3536950"/>
              <a:ext cx="460407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5575E"/>
                  </a:solidFill>
                  <a:latin typeface="+mn-lt"/>
                  <a:ea typeface="+mn-ea"/>
                  <a:cs typeface="+mn-cs"/>
                </a:rPr>
                <a:t>to：接收方地址，可以是人也可以是合約。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81000" y="4762500"/>
              <a:ext cx="152400" cy="1524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91134" y="4603750"/>
              <a:ext cx="111785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7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付多少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95706" y="5156200"/>
              <a:ext cx="47164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5575E"/>
                  </a:solidFill>
                  <a:latin typeface="+mn-lt"/>
                  <a:ea typeface="+mn-ea"/>
                  <a:cs typeface="+mn-cs"/>
                </a:rPr>
                <a:t>value 與 gas：金額，加上給網路的手續費。</a:t>
              </a:r>
            </a:p>
          </p:txBody>
        </p:sp>
      </p:grpSp>
      <p:grpSp>
        <p:nvGrpSpPr>
          <p:cNvPr id="37" name="terminal"/>
          <p:cNvGrpSpPr/>
          <p:nvPr/>
        </p:nvGrpSpPr>
        <p:grpSpPr>
          <a:xfrm>
            <a:off x="6191250" y="1333500"/>
            <a:ext cx="5619750" cy="4381500"/>
            <a:chOff x="6191250" y="1333500"/>
            <a:chExt cx="5619750" cy="4381500"/>
          </a:xfrm>
        </p:grpSpPr>
        <p:sp>
          <p:nvSpPr>
            <p:cNvPr id="18" name="Rectangle 18"/>
            <p:cNvSpPr/>
            <p:nvPr/>
          </p:nvSpPr>
          <p:spPr>
            <a:xfrm>
              <a:off x="6286500" y="1428750"/>
              <a:ext cx="5524500" cy="42862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191250" y="1333500"/>
              <a:ext cx="5524500" cy="42862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6205538" y="1347788"/>
              <a:ext cx="5495925" cy="314325"/>
            </a:xfrm>
            <a:prstGeom prst="rect">
              <a:avLst/>
            </a:prstGeom>
            <a:solidFill>
              <a:srgbClr val="1B1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318504" y="1422400"/>
              <a:ext cx="13063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640" indent="-167640">
                <a:buClr>
                  <a:srgbClr val="FFFFFF"/>
                </a:buClr>
                <a:buSzTx/>
                <a:buFontTx/>
                <a:buChar char="■"/>
              </a:pPr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TERMINAL.EXE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1468100" y="1419225"/>
              <a:ext cx="171450" cy="152400"/>
            </a:xfrm>
            <a:prstGeom prst="rect">
              <a:avLst/>
            </a:prstGeom>
            <a:solidFill>
              <a:srgbClr val="F2F2EF"/>
            </a:solidFill>
            <a:ln w="19050">
              <a:solidFill>
                <a:srgbClr val="0A0A0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11239500" y="1419225"/>
              <a:ext cx="171450" cy="152400"/>
            </a:xfrm>
            <a:prstGeom prst="rect">
              <a:avLst/>
            </a:prstGeom>
            <a:solidFill>
              <a:srgbClr val="F2F2EF"/>
            </a:solidFill>
            <a:ln w="19050">
              <a:solidFill>
                <a:srgbClr val="0A0A0A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1010900" y="1419225"/>
              <a:ext cx="171450" cy="152400"/>
            </a:xfrm>
            <a:prstGeom prst="rect">
              <a:avLst/>
            </a:prstGeom>
            <a:solidFill>
              <a:srgbClr val="F2F2EF"/>
            </a:solidFill>
            <a:ln w="19050">
              <a:solidFill>
                <a:srgbClr val="0A0A0A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6191250" y="1657350"/>
              <a:ext cx="55245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205538" y="1671638"/>
              <a:ext cx="5495925" cy="3933825"/>
            </a:xfrm>
            <a:prstGeom prst="rect">
              <a:avLst/>
            </a:prstGeom>
            <a:solidFill>
              <a:srgbClr val="0D1117"/>
            </a:solidFill>
            <a:ln>
              <a:noFill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6430518" y="2006600"/>
              <a:ext cx="2623776" cy="2989707"/>
              <a:chOff x="6430518" y="2006600"/>
              <a:chExt cx="2623776" cy="2989707"/>
            </a:xfrm>
          </p:grpSpPr>
          <p:sp>
            <p:nvSpPr>
              <p:cNvPr id="27" name="TextBox 27"/>
              <p:cNvSpPr txBox="1"/>
              <p:nvPr/>
            </p:nvSpPr>
            <p:spPr>
              <a:xfrm>
                <a:off x="6430518" y="2006600"/>
                <a:ext cx="2582285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650" dirty="0">
                    <a:solidFill>
                      <a:srgbClr val="6FE0EE"/>
                    </a:solidFill>
                    <a:latin typeface="Consolas"/>
                    <a:ea typeface="Consolas"/>
                    <a:cs typeface="Consolas"/>
                  </a:rPr>
                  <a:t>$</a:t>
                </a:r>
                <a:r>
                  <a:rPr lang="en-US" sz="1650" dirty="0">
                    <a:solidFill>
                      <a:srgbClr val="6FE0EE"/>
                    </a:solidFill>
                    <a:latin typeface="Consolas"/>
                    <a:ea typeface="Consolas"/>
                    <a:cs typeface="Consolas"/>
                  </a:rPr>
                  <a:t xml:space="preserve"> cast tx 0x8f3a…c21e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430518" y="2387600"/>
                <a:ext cx="262377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A6F4C0"/>
                    </a:solidFill>
                    <a:latin typeface="Consolas"/>
                    <a:ea typeface="Consolas"/>
                    <a:cs typeface="Consolas"/>
                  </a:rPr>
                  <a:t xml:space="preserve">from      0x71C7…976F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430518" y="2768600"/>
                <a:ext cx="262377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A6F4C0"/>
                    </a:solidFill>
                    <a:latin typeface="Consolas"/>
                    <a:ea typeface="Consolas"/>
                    <a:cs typeface="Consolas"/>
                  </a:rPr>
                  <a:t xml:space="preserve">to        0xA0b8…eB48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430518" y="3149600"/>
                <a:ext cx="2137698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FFD84A"/>
                    </a:solidFill>
                    <a:latin typeface="Consolas"/>
                    <a:ea typeface="Consolas"/>
                    <a:cs typeface="Consolas"/>
                  </a:rPr>
                  <a:t xml:space="preserve">value     0.5 ETH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430518" y="3530600"/>
                <a:ext cx="186409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A6F4C0"/>
                    </a:solidFill>
                    <a:latin typeface="Consolas"/>
                    <a:ea typeface="Consolas"/>
                    <a:cs typeface="Consolas"/>
                  </a:rPr>
                  <a:t xml:space="preserve">gasUsed   21000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430518" y="3911600"/>
                <a:ext cx="1482776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A6F4C0"/>
                    </a:solidFill>
                    <a:latin typeface="Consolas"/>
                    <a:ea typeface="Consolas"/>
                    <a:cs typeface="Consolas"/>
                  </a:rPr>
                  <a:t xml:space="preserve">nonce     42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430518" y="4292600"/>
                <a:ext cx="2337949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dirty="0">
                    <a:solidFill>
                      <a:srgbClr val="8EF0AE"/>
                    </a:solidFill>
                    <a:latin typeface="Consolas"/>
                    <a:ea typeface="Consolas"/>
                    <a:cs typeface="Consolas"/>
                  </a:rPr>
                  <a:t xml:space="preserve">status    ✔ success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430518" y="4673600"/>
                <a:ext cx="383267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TW" sz="1650" dirty="0">
                    <a:solidFill>
                      <a:srgbClr val="6FE0EE"/>
                    </a:solidFill>
                    <a:latin typeface="Consolas"/>
                    <a:ea typeface="Consolas"/>
                    <a:cs typeface="Consolas"/>
                  </a:rPr>
                  <a:t>$ _</a:t>
                </a:r>
              </a:p>
            </p:txBody>
          </p:sp>
        </p:grpSp>
        <p:sp>
          <p:nvSpPr>
            <p:cNvPr id="36" name="Rectangle 36"/>
            <p:cNvSpPr/>
            <p:nvPr/>
          </p:nvSpPr>
          <p:spPr>
            <a:xfrm>
              <a:off x="6724650" y="4838700"/>
              <a:ext cx="133350" cy="2286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</p:grpSp>
      <p:grpSp>
        <p:nvGrpSpPr>
          <p:cNvPr id="41" name="footer"/>
          <p:cNvGrpSpPr/>
          <p:nvPr/>
        </p:nvGrpSpPr>
        <p:grpSpPr>
          <a:xfrm>
            <a:off x="0" y="6515100"/>
            <a:ext cx="12192000" cy="323596"/>
            <a:chOff x="0" y="6515100"/>
            <a:chExt cx="12192000" cy="323596"/>
          </a:xfrm>
        </p:grpSpPr>
        <p:sp>
          <p:nvSpPr>
            <p:cNvPr id="38" name="Rectangle 38"/>
            <p:cNvSpPr/>
            <p:nvPr/>
          </p:nvSpPr>
          <p:spPr>
            <a:xfrm>
              <a:off x="0" y="65151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74904" y="65913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00" dirty="0">
                  <a:solidFill>
                    <a:srgbClr val="55575E"/>
                  </a:solidFill>
                  <a:latin typeface="Consolas"/>
                  <a:ea typeface="Microsoft JhengHei"/>
                  <a:cs typeface="Consolas"/>
                </a:rPr>
                <a:t>區塊鏈的交易旅程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182960" y="660400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55575E"/>
                  </a:solidFill>
                  <a:latin typeface="Consolas"/>
                  <a:ea typeface="Consolas"/>
                  <a:cs typeface="Consolas"/>
                </a:rPr>
                <a:t>04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0" y="127000"/>
            <a:ext cx="12192000" cy="704088"/>
            <a:chOff x="0" y="127000"/>
            <a:chExt cx="12192000" cy="704088"/>
          </a:xfrm>
        </p:grpSpPr>
        <p:sp>
          <p:nvSpPr>
            <p:cNvPr id="2" name="TextBox 2"/>
            <p:cNvSpPr txBox="1"/>
            <p:nvPr/>
          </p:nvSpPr>
          <p:spPr>
            <a:xfrm>
              <a:off x="362712" y="127000"/>
              <a:ext cx="3429000" cy="704088"/>
            </a:xfrm>
            <a:prstGeom prst="rect">
              <a:avLst/>
            </a:prstGeom>
            <a:noFill/>
            <a:ln>
              <a:noFill/>
            </a:ln>
            <a:effectLst>
              <a:outerShdw blurRad="0" dist="26941" dir="2700000" algn="tl" rotWithShape="0">
                <a:srgbClr val="FFD84A">
                  <a:alpha val="7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600" dirty="0">
                  <a:ln w="19050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交易的四個關卡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10648950" y="266700"/>
              <a:ext cx="1162050" cy="2857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738104" y="298450"/>
              <a:ext cx="10448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BLOCK #1028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0" y="8001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28" name="step-01"/>
          <p:cNvGrpSpPr/>
          <p:nvPr/>
        </p:nvGrpSpPr>
        <p:grpSpPr>
          <a:xfrm>
            <a:off x="381000" y="1257300"/>
            <a:ext cx="2724150" cy="3219450"/>
            <a:chOff x="381000" y="1257300"/>
            <a:chExt cx="2724150" cy="3219450"/>
          </a:xfrm>
        </p:grpSpPr>
        <p:sp>
          <p:nvSpPr>
            <p:cNvPr id="7" name="Rectangle 7"/>
            <p:cNvSpPr/>
            <p:nvPr/>
          </p:nvSpPr>
          <p:spPr>
            <a:xfrm>
              <a:off x="457200" y="1333500"/>
              <a:ext cx="2190750" cy="31432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257300"/>
              <a:ext cx="2190750" cy="31432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381000" y="1257300"/>
              <a:ext cx="609600" cy="4191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86156" y="1355725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FFFFFF"/>
                  </a:solidFill>
                  <a:latin typeface="Cubic 11"/>
                  <a:ea typeface="Cubic 11"/>
                  <a:cs typeface="Cubic 11"/>
                </a:rPr>
                <a:t>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71500" y="2120900"/>
              <a:ext cx="124968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500" dirty="0">
                  <a:ln w="19050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簽署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82168" y="3175000"/>
              <a:ext cx="12740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TW" sz="16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用私鑰簽名，</a:t>
              </a:r>
              <a:br>
                <a:rPr lang="zh-TW" sz="16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6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證明是本人。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705100" y="28003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2762250" y="28003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2819400" y="28003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876550" y="28003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933700" y="28003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2990850" y="28003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2933700" y="26860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2933700" y="274320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933700" y="285750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2933700" y="29146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990850" y="274320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990850" y="285750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048000" y="28003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2876550" y="26860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2876550" y="29146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50" name="step-02"/>
          <p:cNvGrpSpPr/>
          <p:nvPr/>
        </p:nvGrpSpPr>
        <p:grpSpPr>
          <a:xfrm>
            <a:off x="3333750" y="1257300"/>
            <a:ext cx="2724150" cy="3219450"/>
            <a:chOff x="3333750" y="1257300"/>
            <a:chExt cx="2724150" cy="3219450"/>
          </a:xfrm>
        </p:grpSpPr>
        <p:sp>
          <p:nvSpPr>
            <p:cNvPr id="29" name="Rectangle 29"/>
            <p:cNvSpPr/>
            <p:nvPr/>
          </p:nvSpPr>
          <p:spPr>
            <a:xfrm>
              <a:off x="3409950" y="1333500"/>
              <a:ext cx="2190750" cy="31432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3333750" y="1257300"/>
              <a:ext cx="2190750" cy="31432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3333750" y="1257300"/>
              <a:ext cx="609600" cy="4191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438906" y="1355725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FFFFFF"/>
                  </a:solidFill>
                  <a:latin typeface="Cubic 11"/>
                  <a:ea typeface="Cubic 11"/>
                  <a:cs typeface="Cubic 11"/>
                </a:rPr>
                <a:t>02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524250" y="2120900"/>
              <a:ext cx="124968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500" dirty="0">
                  <a:ln w="19050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廣播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34918" y="3175000"/>
              <a:ext cx="12740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TW" sz="16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送進節點的</a:t>
              </a:r>
              <a:br>
                <a:rPr lang="zh-TW" sz="16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6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交易池等待。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657850" y="28003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5715000" y="28003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772150" y="28003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829300" y="28003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886450" y="28003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5943600" y="28003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5886450" y="26860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886450" y="274320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5886450" y="285750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5886450" y="29146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5943600" y="274320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5943600" y="285750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6000750" y="28003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829300" y="26860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5829300" y="29146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72" name="step-03"/>
          <p:cNvGrpSpPr/>
          <p:nvPr/>
        </p:nvGrpSpPr>
        <p:grpSpPr>
          <a:xfrm>
            <a:off x="6286500" y="1257300"/>
            <a:ext cx="2724150" cy="3219450"/>
            <a:chOff x="6286500" y="1257300"/>
            <a:chExt cx="2724150" cy="3219450"/>
          </a:xfrm>
        </p:grpSpPr>
        <p:sp>
          <p:nvSpPr>
            <p:cNvPr id="51" name="Rectangle 51"/>
            <p:cNvSpPr/>
            <p:nvPr/>
          </p:nvSpPr>
          <p:spPr>
            <a:xfrm>
              <a:off x="6362700" y="1333500"/>
              <a:ext cx="2190750" cy="31432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6286500" y="1257300"/>
              <a:ext cx="2190750" cy="3143250"/>
            </a:xfrm>
            <a:prstGeom prst="rect">
              <a:avLst/>
            </a:prstGeom>
            <a:solidFill>
              <a:srgbClr val="6FE0EE"/>
            </a:solidFill>
            <a:ln w="28575">
              <a:solidFill>
                <a:srgbClr val="0A0A0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286500" y="1257300"/>
              <a:ext cx="609600" cy="4191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391656" y="1355725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FFFFFF"/>
                  </a:solidFill>
                  <a:latin typeface="Cubic 11"/>
                  <a:ea typeface="Cubic 11"/>
                  <a:cs typeface="Cubic 11"/>
                </a:rPr>
                <a:t>03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477000" y="2120900"/>
              <a:ext cx="124968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500" dirty="0">
                  <a:ln w="19050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打包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87668" y="3175000"/>
              <a:ext cx="12740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TW" sz="16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被選進下一個</a:t>
              </a:r>
              <a:br>
                <a:rPr lang="zh-TW" sz="16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6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區塊。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8610600" y="28003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667750" y="28003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8724900" y="28003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8782050" y="28003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8839200" y="28003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896350" y="28003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8839200" y="26860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8839200" y="274320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8839200" y="285750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6" name="Rectangle 66"/>
            <p:cNvSpPr/>
            <p:nvPr/>
          </p:nvSpPr>
          <p:spPr>
            <a:xfrm>
              <a:off x="8839200" y="29146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8896350" y="274320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8896350" y="285750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8953500" y="28003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8782050" y="26860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8782050" y="2914650"/>
              <a:ext cx="57150" cy="571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79" name="step-04"/>
          <p:cNvGrpSpPr/>
          <p:nvPr/>
        </p:nvGrpSpPr>
        <p:grpSpPr>
          <a:xfrm>
            <a:off x="9239250" y="1257300"/>
            <a:ext cx="2266950" cy="3219450"/>
            <a:chOff x="9239250" y="1257300"/>
            <a:chExt cx="2266950" cy="3219450"/>
          </a:xfrm>
        </p:grpSpPr>
        <p:sp>
          <p:nvSpPr>
            <p:cNvPr id="73" name="Rectangle 73"/>
            <p:cNvSpPr/>
            <p:nvPr/>
          </p:nvSpPr>
          <p:spPr>
            <a:xfrm>
              <a:off x="9315450" y="1333500"/>
              <a:ext cx="2190750" cy="31432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9239250" y="1257300"/>
              <a:ext cx="2190750" cy="31432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75" name="Rectangle 75"/>
            <p:cNvSpPr/>
            <p:nvPr/>
          </p:nvSpPr>
          <p:spPr>
            <a:xfrm>
              <a:off x="9239250" y="1257300"/>
              <a:ext cx="609600" cy="4191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9344406" y="1355725"/>
              <a:ext cx="28483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FFFFFF"/>
                  </a:solidFill>
                  <a:latin typeface="Cubic 11"/>
                  <a:ea typeface="Cubic 11"/>
                  <a:cs typeface="Cubic 11"/>
                </a:rPr>
                <a:t>04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9429750" y="2120900"/>
              <a:ext cx="1249680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4500" dirty="0">
                  <a:ln w="19050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確認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440418" y="3175000"/>
              <a:ext cx="1693164" cy="64655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zh-TW" sz="16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後面接上更多</a:t>
              </a:r>
              <a:br>
                <a:rPr lang="zh-TW" sz="16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</a:br>
              <a:r>
                <a:rPr lang="zh-TW" sz="165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區塊，越來越穩。</a:t>
              </a:r>
            </a:p>
          </p:txBody>
        </p:sp>
      </p:grpSp>
      <p:grpSp>
        <p:nvGrpSpPr>
          <p:cNvPr id="115" name="progress"/>
          <p:cNvGrpSpPr/>
          <p:nvPr/>
        </p:nvGrpSpPr>
        <p:grpSpPr>
          <a:xfrm>
            <a:off x="374142" y="4978400"/>
            <a:ext cx="11443716" cy="774700"/>
            <a:chOff x="374142" y="4978400"/>
            <a:chExt cx="11443716" cy="774700"/>
          </a:xfrm>
        </p:grpSpPr>
        <p:sp>
          <p:nvSpPr>
            <p:cNvPr id="80" name="TextBox 80"/>
            <p:cNvSpPr txBox="1"/>
            <p:nvPr/>
          </p:nvSpPr>
          <p:spPr>
            <a:xfrm>
              <a:off x="374142" y="4978400"/>
              <a:ext cx="27179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rgbClr val="0A0A0A"/>
                  </a:solidFill>
                  <a:latin typeface="Consolas"/>
                  <a:ea typeface="Microsoft JhengHei"/>
                  <a:cs typeface="Consolas"/>
                </a:rPr>
                <a:t>STATUS ▸ 第 3 關：打包進區塊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04276" y="4978400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350" b="1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67%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381000" y="5334000"/>
              <a:ext cx="11344275" cy="4191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438150" y="5391150"/>
              <a:ext cx="304800" cy="3048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790575" y="5391150"/>
              <a:ext cx="304800" cy="3048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1143000" y="5391150"/>
              <a:ext cx="304800" cy="3048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1495425" y="5391150"/>
              <a:ext cx="304800" cy="3048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1847850" y="5391150"/>
              <a:ext cx="304800" cy="3048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2200275" y="5391150"/>
              <a:ext cx="304800" cy="3048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2552700" y="5391150"/>
              <a:ext cx="304800" cy="3048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2905125" y="5391150"/>
              <a:ext cx="304800" cy="3048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3257550" y="5391150"/>
              <a:ext cx="304800" cy="3048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3609975" y="5391150"/>
              <a:ext cx="304800" cy="3048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3962400" y="5391150"/>
              <a:ext cx="304800" cy="3048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4314825" y="5391150"/>
              <a:ext cx="304800" cy="3048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4667250" y="5391150"/>
              <a:ext cx="304800" cy="3048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5019675" y="5391150"/>
              <a:ext cx="304800" cy="3048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5372100" y="5391150"/>
              <a:ext cx="304800" cy="3048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5724525" y="5391150"/>
              <a:ext cx="304800" cy="3048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6076950" y="5391150"/>
              <a:ext cx="304800" cy="3048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6429375" y="5391150"/>
              <a:ext cx="304800" cy="3048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6781800" y="5391150"/>
              <a:ext cx="304800" cy="3048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7134225" y="5391150"/>
              <a:ext cx="304800" cy="3048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7486650" y="5391150"/>
              <a:ext cx="304800" cy="3048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7839075" y="5391150"/>
              <a:ext cx="304800" cy="3048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8191500" y="5391150"/>
              <a:ext cx="304800" cy="3048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8543925" y="5391150"/>
              <a:ext cx="304800" cy="3048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8896350" y="5391150"/>
              <a:ext cx="304800" cy="3048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9248775" y="5391150"/>
              <a:ext cx="304800" cy="3048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9601200" y="5391150"/>
              <a:ext cx="304800" cy="3048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9953625" y="5391150"/>
              <a:ext cx="304800" cy="3048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10306050" y="5391150"/>
              <a:ext cx="304800" cy="3048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10658475" y="5391150"/>
              <a:ext cx="304800" cy="3048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113" name="Rectangle 113"/>
            <p:cNvSpPr/>
            <p:nvPr/>
          </p:nvSpPr>
          <p:spPr>
            <a:xfrm>
              <a:off x="11010900" y="5391150"/>
              <a:ext cx="304800" cy="3048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114" name="Rectangle 114"/>
            <p:cNvSpPr/>
            <p:nvPr/>
          </p:nvSpPr>
          <p:spPr>
            <a:xfrm>
              <a:off x="11363325" y="5391150"/>
              <a:ext cx="304800" cy="3048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</p:grpSp>
      <p:grpSp>
        <p:nvGrpSpPr>
          <p:cNvPr id="119" name="footer"/>
          <p:cNvGrpSpPr/>
          <p:nvPr/>
        </p:nvGrpSpPr>
        <p:grpSpPr>
          <a:xfrm>
            <a:off x="0" y="6515100"/>
            <a:ext cx="12192000" cy="323596"/>
            <a:chOff x="0" y="6515100"/>
            <a:chExt cx="12192000" cy="323596"/>
          </a:xfrm>
        </p:grpSpPr>
        <p:sp>
          <p:nvSpPr>
            <p:cNvPr id="116" name="Rectangle 116"/>
            <p:cNvSpPr/>
            <p:nvPr/>
          </p:nvSpPr>
          <p:spPr>
            <a:xfrm>
              <a:off x="0" y="65151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17" name="TextBox 117"/>
            <p:cNvSpPr txBox="1"/>
            <p:nvPr/>
          </p:nvSpPr>
          <p:spPr>
            <a:xfrm>
              <a:off x="374904" y="65913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00" dirty="0">
                  <a:solidFill>
                    <a:srgbClr val="55575E"/>
                  </a:solidFill>
                  <a:latin typeface="Consolas"/>
                  <a:ea typeface="Microsoft JhengHei"/>
                  <a:cs typeface="Consolas"/>
                </a:rPr>
                <a:t>區塊鏈的交易旅程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1182960" y="660400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55575E"/>
                  </a:solidFill>
                  <a:latin typeface="Consolas"/>
                  <a:ea typeface="Consolas"/>
                  <a:cs typeface="Consolas"/>
                </a:rPr>
                <a:t>05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header"/>
          <p:cNvGrpSpPr/>
          <p:nvPr/>
        </p:nvGrpSpPr>
        <p:grpSpPr>
          <a:xfrm>
            <a:off x="0" y="127000"/>
            <a:ext cx="12192000" cy="704088"/>
            <a:chOff x="0" y="127000"/>
            <a:chExt cx="12192000" cy="704088"/>
          </a:xfrm>
        </p:grpSpPr>
        <p:sp>
          <p:nvSpPr>
            <p:cNvPr id="2" name="TextBox 2"/>
            <p:cNvSpPr txBox="1"/>
            <p:nvPr/>
          </p:nvSpPr>
          <p:spPr>
            <a:xfrm>
              <a:off x="362712" y="127000"/>
              <a:ext cx="3429000" cy="704088"/>
            </a:xfrm>
            <a:prstGeom prst="rect">
              <a:avLst/>
            </a:prstGeom>
            <a:noFill/>
            <a:ln>
              <a:noFill/>
            </a:ln>
            <a:effectLst>
              <a:outerShdw blurRad="0" dist="26941" dir="2700000" algn="tl" rotWithShape="0">
                <a:srgbClr val="FFD84A">
                  <a:alpha val="7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600" dirty="0">
                  <a:ln w="19050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誰在維護這本帳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841242" y="38735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55575E"/>
                  </a:solidFill>
                  <a:latin typeface="+mn-lt"/>
                  <a:ea typeface="+mn-ea"/>
                  <a:cs typeface="+mn-cs"/>
                </a:rPr>
                <a:t>節點類型占比（示意）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10648950" y="266700"/>
              <a:ext cx="1162050" cy="2857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738104" y="298450"/>
              <a:ext cx="10448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BLOCK #1029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0" y="8001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11" name="chart-area"/>
          <p:cNvGrpSpPr/>
          <p:nvPr/>
        </p:nvGrpSpPr>
        <p:grpSpPr>
          <a:xfrm>
            <a:off x="1238250" y="828675"/>
            <a:ext cx="5048250" cy="5686425"/>
            <a:chOff x="1238250" y="828675"/>
            <a:chExt cx="5048250" cy="5686425"/>
          </a:xfrm>
        </p:grpSpPr>
        <p:sp>
          <p:nvSpPr>
            <p:cNvPr id="8" name="Rectangle 8"/>
            <p:cNvSpPr/>
            <p:nvPr/>
          </p:nvSpPr>
          <p:spPr>
            <a:xfrm>
              <a:off x="6257925" y="828675"/>
              <a:ext cx="28575" cy="568642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graphicFrame>
          <p:nvGraphicFramePr>
            <p:cNvPr id="9" name="p06-node-mix"/>
            <p:cNvGraphicFramePr>
              <a:graphicFrameLocks noGrp="1"/>
            </p:cNvGraphicFramePr>
            <p:nvPr/>
          </p:nvGraphicFramePr>
          <p:xfrm>
            <a:off x="1238250" y="1809750"/>
            <a:ext cx="3810000" cy="381000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  <p:sp>
          <p:nvSpPr>
            <p:cNvPr id="10" name="TextBox 10"/>
            <p:cNvSpPr txBox="1"/>
            <p:nvPr/>
          </p:nvSpPr>
          <p:spPr>
            <a:xfrm>
              <a:off x="2563844" y="3378200"/>
              <a:ext cx="1158812" cy="876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4500" dirty="0">
                  <a:ln w="19050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45%</a:t>
              </a:r>
            </a:p>
          </p:txBody>
        </p:sp>
      </p:grpSp>
      <p:grpSp>
        <p:nvGrpSpPr>
          <p:cNvPr id="38" name="legend-1"/>
          <p:cNvGrpSpPr/>
          <p:nvPr/>
        </p:nvGrpSpPr>
        <p:grpSpPr>
          <a:xfrm>
            <a:off x="6286500" y="828675"/>
            <a:ext cx="5905500" cy="1524000"/>
            <a:chOff x="6286500" y="828675"/>
            <a:chExt cx="5905500" cy="1524000"/>
          </a:xfrm>
        </p:grpSpPr>
        <p:sp>
          <p:nvSpPr>
            <p:cNvPr id="12" name="Rectangle 12"/>
            <p:cNvSpPr/>
            <p:nvPr/>
          </p:nvSpPr>
          <p:spPr>
            <a:xfrm>
              <a:off x="6315075" y="828675"/>
              <a:ext cx="5876925" cy="15240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6286500" y="2324100"/>
              <a:ext cx="59055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667500" y="1152525"/>
              <a:ext cx="323850" cy="323850"/>
            </a:xfrm>
            <a:prstGeom prst="rect">
              <a:avLst/>
            </a:prstGeom>
            <a:solidFill>
              <a:srgbClr val="0A0A0A"/>
            </a:solidFill>
            <a:ln w="28575">
              <a:solidFill>
                <a:srgbClr val="0A0A0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151370" y="1158875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全節點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96143" y="1050925"/>
              <a:ext cx="93314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3600" dirty="0">
                  <a:ln w="19050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45%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667500" y="1743075"/>
              <a:ext cx="4267200" cy="2857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724650" y="1800225"/>
              <a:ext cx="171450" cy="1714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934200" y="1800225"/>
              <a:ext cx="171450" cy="1714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143750" y="1800225"/>
              <a:ext cx="171450" cy="1714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353300" y="1800225"/>
              <a:ext cx="171450" cy="1714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7562850" y="1800225"/>
              <a:ext cx="171450" cy="1714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772400" y="1800225"/>
              <a:ext cx="171450" cy="1714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7981950" y="1800225"/>
              <a:ext cx="171450" cy="1714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8191500" y="1800225"/>
              <a:ext cx="171450" cy="1714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8401050" y="1800225"/>
              <a:ext cx="171450" cy="1714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610600" y="1800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8820150" y="1800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9029700" y="1800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9239250" y="1800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9448800" y="1800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658350" y="1800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9867900" y="1800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10077450" y="1800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10287000" y="1800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496550" y="1800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10706100" y="1800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</p:grpSp>
      <p:grpSp>
        <p:nvGrpSpPr>
          <p:cNvPr id="65" name="legend-2"/>
          <p:cNvGrpSpPr/>
          <p:nvPr/>
        </p:nvGrpSpPr>
        <p:grpSpPr>
          <a:xfrm>
            <a:off x="6286500" y="2352675"/>
            <a:ext cx="5905500" cy="1524000"/>
            <a:chOff x="6286500" y="2352675"/>
            <a:chExt cx="5905500" cy="1524000"/>
          </a:xfrm>
        </p:grpSpPr>
        <p:sp>
          <p:nvSpPr>
            <p:cNvPr id="39" name="Rectangle 39"/>
            <p:cNvSpPr/>
            <p:nvPr/>
          </p:nvSpPr>
          <p:spPr>
            <a:xfrm>
              <a:off x="6315075" y="2352675"/>
              <a:ext cx="5876925" cy="152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6286500" y="3848100"/>
              <a:ext cx="59055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667500" y="2676525"/>
              <a:ext cx="323850" cy="323850"/>
            </a:xfrm>
            <a:prstGeom prst="rect">
              <a:avLst/>
            </a:prstGeom>
            <a:solidFill>
              <a:srgbClr val="6FE0EE"/>
            </a:solidFill>
            <a:ln w="28575">
              <a:solidFill>
                <a:srgbClr val="0A0A0A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151370" y="2682875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輕節點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896143" y="2574925"/>
              <a:ext cx="93314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3600" dirty="0">
                  <a:ln w="19050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30%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667500" y="3267075"/>
              <a:ext cx="4267200" cy="2857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724650" y="3324225"/>
              <a:ext cx="171450" cy="17145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934200" y="3324225"/>
              <a:ext cx="171450" cy="17145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7143750" y="3324225"/>
              <a:ext cx="171450" cy="17145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7353300" y="3324225"/>
              <a:ext cx="171450" cy="17145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562850" y="3324225"/>
              <a:ext cx="171450" cy="17145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772400" y="3324225"/>
              <a:ext cx="171450" cy="17145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7981950" y="3324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8191500" y="3324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401050" y="3324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8610600" y="3324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8820150" y="3324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029700" y="3324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9239250" y="3324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9448800" y="3324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9658350" y="3324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9867900" y="3324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61" name="Rectangle 61"/>
            <p:cNvSpPr/>
            <p:nvPr/>
          </p:nvSpPr>
          <p:spPr>
            <a:xfrm>
              <a:off x="10077450" y="3324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10287000" y="3324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63" name="Rectangle 63"/>
            <p:cNvSpPr/>
            <p:nvPr/>
          </p:nvSpPr>
          <p:spPr>
            <a:xfrm>
              <a:off x="10496550" y="3324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10706100" y="3324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</p:grpSp>
      <p:grpSp>
        <p:nvGrpSpPr>
          <p:cNvPr id="92" name="legend-3"/>
          <p:cNvGrpSpPr/>
          <p:nvPr/>
        </p:nvGrpSpPr>
        <p:grpSpPr>
          <a:xfrm>
            <a:off x="6286500" y="3876675"/>
            <a:ext cx="5905500" cy="1524000"/>
            <a:chOff x="6286500" y="3876675"/>
            <a:chExt cx="5905500" cy="1524000"/>
          </a:xfrm>
        </p:grpSpPr>
        <p:sp>
          <p:nvSpPr>
            <p:cNvPr id="66" name="Rectangle 66"/>
            <p:cNvSpPr/>
            <p:nvPr/>
          </p:nvSpPr>
          <p:spPr>
            <a:xfrm>
              <a:off x="6315075" y="3876675"/>
              <a:ext cx="5876925" cy="1524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286500" y="5372100"/>
              <a:ext cx="59055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667500" y="4200525"/>
              <a:ext cx="323850" cy="323850"/>
            </a:xfrm>
            <a:prstGeom prst="rect">
              <a:avLst/>
            </a:prstGeom>
            <a:solidFill>
              <a:srgbClr val="FFD84A"/>
            </a:solidFill>
            <a:ln w="28575">
              <a:solidFill>
                <a:srgbClr val="0A0A0A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7151370" y="4206875"/>
              <a:ext cx="93154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驗證者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896143" y="4098925"/>
              <a:ext cx="93314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3600" dirty="0">
                  <a:ln w="19050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25%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6667500" y="4791075"/>
              <a:ext cx="4267200" cy="2857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6724650" y="4848225"/>
              <a:ext cx="171450" cy="1714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6934200" y="4848225"/>
              <a:ext cx="171450" cy="1714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7143750" y="4848225"/>
              <a:ext cx="171450" cy="1714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7353300" y="4848225"/>
              <a:ext cx="171450" cy="1714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7562850" y="4848225"/>
              <a:ext cx="171450" cy="1714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7772400" y="4848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7981950" y="4848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8191500" y="4848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8401050" y="4848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8610600" y="4848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8820150" y="4848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9029700" y="4848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9239250" y="4848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9448800" y="4848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9658350" y="4848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9867900" y="4848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10077450" y="4848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10287000" y="4848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10496550" y="4848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10706100" y="4848225"/>
              <a:ext cx="171450" cy="17145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</p:grpSp>
      <p:grpSp>
        <p:nvGrpSpPr>
          <p:cNvPr id="95" name="takeaway"/>
          <p:cNvGrpSpPr/>
          <p:nvPr/>
        </p:nvGrpSpPr>
        <p:grpSpPr>
          <a:xfrm>
            <a:off x="6315075" y="5400675"/>
            <a:ext cx="5876925" cy="1114425"/>
            <a:chOff x="6315075" y="5400675"/>
            <a:chExt cx="5876925" cy="1114425"/>
          </a:xfrm>
        </p:grpSpPr>
        <p:sp>
          <p:nvSpPr>
            <p:cNvPr id="93" name="Rectangle 93"/>
            <p:cNvSpPr/>
            <p:nvPr/>
          </p:nvSpPr>
          <p:spPr>
            <a:xfrm>
              <a:off x="6315075" y="5400675"/>
              <a:ext cx="5876925" cy="111442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658356" y="5842000"/>
              <a:ext cx="48290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→ 近一半是全節點：帳本有很多份完整備份。</a:t>
              </a:r>
            </a:p>
          </p:txBody>
        </p:sp>
      </p:grpSp>
      <p:grpSp>
        <p:nvGrpSpPr>
          <p:cNvPr id="99" name="footer"/>
          <p:cNvGrpSpPr/>
          <p:nvPr/>
        </p:nvGrpSpPr>
        <p:grpSpPr>
          <a:xfrm>
            <a:off x="0" y="6515100"/>
            <a:ext cx="12192000" cy="323596"/>
            <a:chOff x="0" y="6515100"/>
            <a:chExt cx="12192000" cy="323596"/>
          </a:xfrm>
        </p:grpSpPr>
        <p:sp>
          <p:nvSpPr>
            <p:cNvPr id="96" name="Rectangle 96"/>
            <p:cNvSpPr/>
            <p:nvPr/>
          </p:nvSpPr>
          <p:spPr>
            <a:xfrm>
              <a:off x="0" y="65151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374904" y="65913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00" dirty="0">
                  <a:solidFill>
                    <a:srgbClr val="55575E"/>
                  </a:solidFill>
                  <a:latin typeface="Consolas"/>
                  <a:ea typeface="Microsoft JhengHei"/>
                  <a:cs typeface="Consolas"/>
                </a:rPr>
                <a:t>區塊鏈的交易旅程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182960" y="660400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55575E"/>
                  </a:solidFill>
                  <a:latin typeface="Consolas"/>
                  <a:ea typeface="Consolas"/>
                  <a:cs typeface="Consolas"/>
                </a:rPr>
                <a:t>06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header"/>
          <p:cNvGrpSpPr/>
          <p:nvPr/>
        </p:nvGrpSpPr>
        <p:grpSpPr>
          <a:xfrm>
            <a:off x="0" y="127000"/>
            <a:ext cx="12192000" cy="704088"/>
            <a:chOff x="0" y="127000"/>
            <a:chExt cx="12192000" cy="704088"/>
          </a:xfrm>
        </p:grpSpPr>
        <p:sp>
          <p:nvSpPr>
            <p:cNvPr id="2" name="TextBox 2"/>
            <p:cNvSpPr txBox="1"/>
            <p:nvPr/>
          </p:nvSpPr>
          <p:spPr>
            <a:xfrm>
              <a:off x="362712" y="127000"/>
              <a:ext cx="2944368" cy="704088"/>
            </a:xfrm>
            <a:prstGeom prst="rect">
              <a:avLst/>
            </a:prstGeom>
            <a:noFill/>
            <a:ln>
              <a:noFill/>
            </a:ln>
            <a:effectLst>
              <a:outerShdw blurRad="0" dist="26941" dir="2700000" algn="tl" rotWithShape="0">
                <a:srgbClr val="FFD84A">
                  <a:alpha val="7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600" dirty="0">
                  <a:ln w="19050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網路健康檢查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3384042" y="3873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dirty="0">
                  <a:solidFill>
                    <a:srgbClr val="55575E"/>
                  </a:solidFill>
                  <a:latin typeface="+mn-lt"/>
                  <a:ea typeface="+mn-ea"/>
                  <a:cs typeface="+mn-cs"/>
                </a:rPr>
                <a:t>數字為示意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10648950" y="266700"/>
              <a:ext cx="1162050" cy="2857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10738104" y="298450"/>
              <a:ext cx="10448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BLOCK #1030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0" y="8001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34" name="kpi-1"/>
          <p:cNvGrpSpPr/>
          <p:nvPr/>
        </p:nvGrpSpPr>
        <p:grpSpPr>
          <a:xfrm>
            <a:off x="0" y="828675"/>
            <a:ext cx="6124575" cy="2847975"/>
            <a:chOff x="0" y="828675"/>
            <a:chExt cx="6124575" cy="2847975"/>
          </a:xfrm>
        </p:grpSpPr>
        <p:sp>
          <p:nvSpPr>
            <p:cNvPr id="8" name="Rectangle 8"/>
            <p:cNvSpPr/>
            <p:nvPr/>
          </p:nvSpPr>
          <p:spPr>
            <a:xfrm>
              <a:off x="0" y="828675"/>
              <a:ext cx="6067425" cy="281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6096000" y="828675"/>
              <a:ext cx="28575" cy="28479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74142" y="1158875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rgbClr val="55575E"/>
                  </a:solidFill>
                  <a:latin typeface="Consolas"/>
                  <a:ea typeface="Microsoft JhengHei"/>
                  <a:cs typeface="Consolas"/>
                </a:rPr>
                <a:t>平均出塊時間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61950" y="1476375"/>
              <a:ext cx="1104290" cy="1390650"/>
            </a:xfrm>
            <a:prstGeom prst="rect">
              <a:avLst/>
            </a:prstGeom>
            <a:noFill/>
            <a:ln>
              <a:noFill/>
            </a:ln>
            <a:effectLst>
              <a:outerShdw blurRad="0" dist="53882" dir="2700000" algn="tl" rotWithShape="0">
                <a:srgbClr val="FFD84A">
                  <a:alpha val="7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7200" dirty="0">
                  <a:ln w="38100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12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88770" y="2054225"/>
              <a:ext cx="32575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秒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381000" y="2828925"/>
              <a:ext cx="4829175" cy="304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438150" y="2886075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76275" y="2886075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914400" y="2886075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1152525" y="2886075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1390650" y="2886075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1628775" y="2886075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866900" y="2886075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2105025" y="2886075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2343150" y="2886075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2581275" y="2886075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2819400" y="2886075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3057525" y="2886075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295650" y="2886075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3533775" y="2886075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3771900" y="2886075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4010025" y="2886075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248150" y="2886075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486275" y="2886075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4724400" y="2886075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962525" y="2886075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</p:grpSp>
      <p:grpSp>
        <p:nvGrpSpPr>
          <p:cNvPr id="60" name="kpi-2"/>
          <p:cNvGrpSpPr/>
          <p:nvPr/>
        </p:nvGrpSpPr>
        <p:grpSpPr>
          <a:xfrm>
            <a:off x="0" y="828675"/>
            <a:ext cx="12192000" cy="2847975"/>
            <a:chOff x="0" y="828675"/>
            <a:chExt cx="12192000" cy="2847975"/>
          </a:xfrm>
        </p:grpSpPr>
        <p:sp>
          <p:nvSpPr>
            <p:cNvPr id="35" name="Rectangle 35"/>
            <p:cNvSpPr/>
            <p:nvPr/>
          </p:nvSpPr>
          <p:spPr>
            <a:xfrm>
              <a:off x="6124575" y="828675"/>
              <a:ext cx="6067425" cy="2819400"/>
            </a:xfrm>
            <a:prstGeom prst="rect">
              <a:avLst/>
            </a:prstGeom>
            <a:solidFill>
              <a:srgbClr val="FF9EC7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0" y="3648075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470142" y="1158875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rgbClr val="55575E"/>
                  </a:solidFill>
                  <a:latin typeface="Consolas"/>
                  <a:ea typeface="Microsoft JhengHei"/>
                  <a:cs typeface="Consolas"/>
                </a:rPr>
                <a:t>活躍驗證者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457950" y="1476375"/>
              <a:ext cx="2703576" cy="1390650"/>
            </a:xfrm>
            <a:prstGeom prst="rect">
              <a:avLst/>
            </a:prstGeom>
            <a:noFill/>
            <a:ln>
              <a:noFill/>
            </a:ln>
            <a:effectLst>
              <a:outerShdw blurRad="0" dist="53882" dir="2700000" algn="tl" rotWithShape="0">
                <a:srgbClr val="FFD84A">
                  <a:alpha val="7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7200" dirty="0">
                  <a:ln w="38100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1,024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77000" y="2828925"/>
              <a:ext cx="4829175" cy="304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6534150" y="2886075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772275" y="2886075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010400" y="2886075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7248525" y="2886075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7486650" y="2886075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7724775" y="2886075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7962900" y="2886075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8201025" y="2886075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439150" y="2886075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8677275" y="2886075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915400" y="2886075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1" name="Rectangle 51"/>
            <p:cNvSpPr/>
            <p:nvPr/>
          </p:nvSpPr>
          <p:spPr>
            <a:xfrm>
              <a:off x="9153525" y="2886075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2" name="Rectangle 52"/>
            <p:cNvSpPr/>
            <p:nvPr/>
          </p:nvSpPr>
          <p:spPr>
            <a:xfrm>
              <a:off x="9391650" y="2886075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9629775" y="2886075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9867900" y="2886075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10106025" y="2886075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10344150" y="2886075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582275" y="2886075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10820400" y="2886075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11058525" y="2886075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</p:grpSp>
      <p:grpSp>
        <p:nvGrpSpPr>
          <p:cNvPr id="87" name="kpi-3"/>
          <p:cNvGrpSpPr/>
          <p:nvPr/>
        </p:nvGrpSpPr>
        <p:grpSpPr>
          <a:xfrm>
            <a:off x="0" y="3676650"/>
            <a:ext cx="6124575" cy="2847975"/>
            <a:chOff x="0" y="3676650"/>
            <a:chExt cx="6124575" cy="2847975"/>
          </a:xfrm>
        </p:grpSpPr>
        <p:sp>
          <p:nvSpPr>
            <p:cNvPr id="61" name="Rectangle 61"/>
            <p:cNvSpPr/>
            <p:nvPr/>
          </p:nvSpPr>
          <p:spPr>
            <a:xfrm>
              <a:off x="0" y="3676650"/>
              <a:ext cx="6067425" cy="28194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6096000" y="3676650"/>
              <a:ext cx="28575" cy="28479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74142" y="4006850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rgbClr val="55575E"/>
                  </a:solidFill>
                  <a:latin typeface="Consolas"/>
                  <a:ea typeface="Microsoft JhengHei"/>
                  <a:cs typeface="Consolas"/>
                </a:rPr>
                <a:t>每秒交易量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361950" y="4324350"/>
              <a:ext cx="1104290" cy="1390650"/>
            </a:xfrm>
            <a:prstGeom prst="rect">
              <a:avLst/>
            </a:prstGeom>
            <a:noFill/>
            <a:ln>
              <a:noFill/>
            </a:ln>
            <a:effectLst>
              <a:outerShdw blurRad="0" dist="53882" dir="2700000" algn="tl" rotWithShape="0">
                <a:srgbClr val="FFD84A">
                  <a:alpha val="7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7200" dirty="0">
                  <a:ln w="38100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15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588770" y="4902200"/>
              <a:ext cx="58635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TPS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381000" y="5676900"/>
              <a:ext cx="4829175" cy="304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438150" y="5734050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76275" y="5734050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914400" y="5734050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1152525" y="573405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1390650" y="573405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1628775" y="573405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1866900" y="573405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74" name="Rectangle 74"/>
            <p:cNvSpPr/>
            <p:nvPr/>
          </p:nvSpPr>
          <p:spPr>
            <a:xfrm>
              <a:off x="2105025" y="573405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2343150" y="573405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2581275" y="573405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2819400" y="573405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3057525" y="573405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3295650" y="573405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3533775" y="573405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3771900" y="573405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4010025" y="573405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4248150" y="573405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4486275" y="573405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4724400" y="573405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4962525" y="573405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</p:grpSp>
      <p:grpSp>
        <p:nvGrpSpPr>
          <p:cNvPr id="113" name="kpi-4"/>
          <p:cNvGrpSpPr/>
          <p:nvPr/>
        </p:nvGrpSpPr>
        <p:grpSpPr>
          <a:xfrm>
            <a:off x="6124575" y="3676650"/>
            <a:ext cx="6067425" cy="2819400"/>
            <a:chOff x="6124575" y="3676650"/>
            <a:chExt cx="6067425" cy="2819400"/>
          </a:xfrm>
        </p:grpSpPr>
        <p:sp>
          <p:nvSpPr>
            <p:cNvPr id="88" name="Rectangle 88"/>
            <p:cNvSpPr/>
            <p:nvPr/>
          </p:nvSpPr>
          <p:spPr>
            <a:xfrm>
              <a:off x="6124575" y="3676650"/>
              <a:ext cx="6067425" cy="28194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470142" y="4006850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rgbClr val="55575E"/>
                  </a:solidFill>
                  <a:latin typeface="Consolas"/>
                  <a:ea typeface="Microsoft JhengHei"/>
                  <a:cs typeface="Consolas"/>
                </a:rPr>
                <a:t>最終確認時間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6457950" y="4324350"/>
              <a:ext cx="1104290" cy="1390650"/>
            </a:xfrm>
            <a:prstGeom prst="rect">
              <a:avLst/>
            </a:prstGeom>
            <a:noFill/>
            <a:ln>
              <a:noFill/>
            </a:ln>
            <a:effectLst>
              <a:outerShdw blurRad="0" dist="53882" dir="2700000" algn="tl" rotWithShape="0">
                <a:srgbClr val="FFD84A">
                  <a:alpha val="7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7200" dirty="0">
                  <a:ln w="38100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13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7684770" y="4902200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2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分鐘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477000" y="5676900"/>
              <a:ext cx="4829175" cy="3048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93" name="Rectangle 93"/>
            <p:cNvSpPr/>
            <p:nvPr/>
          </p:nvSpPr>
          <p:spPr>
            <a:xfrm>
              <a:off x="6534150" y="5734050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6772275" y="5734050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7010400" y="5734050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7248525" y="5734050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7486650" y="5734050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7724775" y="5734050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7962900" y="5734050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8201025" y="5734050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8439150" y="5734050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02" name="Rectangle 102"/>
            <p:cNvSpPr/>
            <p:nvPr/>
          </p:nvSpPr>
          <p:spPr>
            <a:xfrm>
              <a:off x="8677275" y="5734050"/>
              <a:ext cx="190500" cy="190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8915400" y="573405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104" name="Rectangle 104"/>
            <p:cNvSpPr/>
            <p:nvPr/>
          </p:nvSpPr>
          <p:spPr>
            <a:xfrm>
              <a:off x="9153525" y="573405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105" name="Rectangle 105"/>
            <p:cNvSpPr/>
            <p:nvPr/>
          </p:nvSpPr>
          <p:spPr>
            <a:xfrm>
              <a:off x="9391650" y="573405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9629775" y="573405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107" name="Rectangle 107"/>
            <p:cNvSpPr/>
            <p:nvPr/>
          </p:nvSpPr>
          <p:spPr>
            <a:xfrm>
              <a:off x="9867900" y="573405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108" name="Rectangle 108"/>
            <p:cNvSpPr/>
            <p:nvPr/>
          </p:nvSpPr>
          <p:spPr>
            <a:xfrm>
              <a:off x="10106025" y="573405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10344150" y="573405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10582275" y="573405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10820400" y="573405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  <p:sp>
          <p:nvSpPr>
            <p:cNvPr id="112" name="Rectangle 112"/>
            <p:cNvSpPr/>
            <p:nvPr/>
          </p:nvSpPr>
          <p:spPr>
            <a:xfrm>
              <a:off x="11058525" y="5734050"/>
              <a:ext cx="190500" cy="190500"/>
            </a:xfrm>
            <a:prstGeom prst="rect">
              <a:avLst/>
            </a:prstGeom>
            <a:solidFill>
              <a:srgbClr val="F2F2EF"/>
            </a:solidFill>
            <a:ln>
              <a:noFill/>
            </a:ln>
          </p:spPr>
        </p:sp>
      </p:grpSp>
      <p:grpSp>
        <p:nvGrpSpPr>
          <p:cNvPr id="117" name="footer"/>
          <p:cNvGrpSpPr/>
          <p:nvPr/>
        </p:nvGrpSpPr>
        <p:grpSpPr>
          <a:xfrm>
            <a:off x="0" y="6515100"/>
            <a:ext cx="12192000" cy="323596"/>
            <a:chOff x="0" y="6515100"/>
            <a:chExt cx="12192000" cy="323596"/>
          </a:xfrm>
        </p:grpSpPr>
        <p:sp>
          <p:nvSpPr>
            <p:cNvPr id="114" name="Rectangle 114"/>
            <p:cNvSpPr/>
            <p:nvPr/>
          </p:nvSpPr>
          <p:spPr>
            <a:xfrm>
              <a:off x="0" y="65151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374904" y="65913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00" dirty="0">
                  <a:solidFill>
                    <a:srgbClr val="55575E"/>
                  </a:solidFill>
                  <a:latin typeface="Consolas"/>
                  <a:ea typeface="Microsoft JhengHei"/>
                  <a:cs typeface="Consolas"/>
                </a:rPr>
                <a:t>區塊鏈的交易旅程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1182960" y="660400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55575E"/>
                  </a:solidFill>
                  <a:latin typeface="Consolas"/>
                  <a:ea typeface="Consolas"/>
                  <a:cs typeface="Consolas"/>
                </a:rPr>
                <a:t>07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0" y="127000"/>
            <a:ext cx="12192000" cy="704088"/>
            <a:chOff x="0" y="127000"/>
            <a:chExt cx="12192000" cy="704088"/>
          </a:xfrm>
        </p:grpSpPr>
        <p:sp>
          <p:nvSpPr>
            <p:cNvPr id="2" name="TextBox 2"/>
            <p:cNvSpPr txBox="1"/>
            <p:nvPr/>
          </p:nvSpPr>
          <p:spPr>
            <a:xfrm>
              <a:off x="362712" y="127000"/>
              <a:ext cx="4252874" cy="704088"/>
            </a:xfrm>
            <a:prstGeom prst="rect">
              <a:avLst/>
            </a:prstGeom>
            <a:noFill/>
            <a:ln>
              <a:noFill/>
            </a:ln>
            <a:effectLst>
              <a:outerShdw blurRad="0" dist="26941" dir="2700000" algn="tl" rotWithShape="0">
                <a:srgbClr val="FFD84A">
                  <a:alpha val="7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600" dirty="0">
                  <a:ln w="19050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中心化 vs 去中心化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10648950" y="266700"/>
              <a:ext cx="1162050" cy="2857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738104" y="298450"/>
              <a:ext cx="10448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BLOCK #1031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0" y="8001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27" name="win-central"/>
          <p:cNvGrpSpPr/>
          <p:nvPr/>
        </p:nvGrpSpPr>
        <p:grpSpPr>
          <a:xfrm>
            <a:off x="381000" y="1143000"/>
            <a:ext cx="5429250" cy="5048250"/>
            <a:chOff x="381000" y="1143000"/>
            <a:chExt cx="5429250" cy="5048250"/>
          </a:xfrm>
        </p:grpSpPr>
        <p:sp>
          <p:nvSpPr>
            <p:cNvPr id="7" name="Rectangle 7"/>
            <p:cNvSpPr/>
            <p:nvPr/>
          </p:nvSpPr>
          <p:spPr>
            <a:xfrm>
              <a:off x="476250" y="1238250"/>
              <a:ext cx="5334000" cy="49530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143000"/>
              <a:ext cx="5334000" cy="49530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395288" y="1157288"/>
              <a:ext cx="5305425" cy="314325"/>
            </a:xfrm>
            <a:prstGeom prst="rect">
              <a:avLst/>
            </a:prstGeom>
            <a:solidFill>
              <a:srgbClr val="5A5C66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08254" y="1231900"/>
              <a:ext cx="12124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640" indent="-167640">
                <a:buClr>
                  <a:srgbClr val="FFFFFF"/>
                </a:buClr>
                <a:buSzTx/>
                <a:buFontTx/>
                <a:buChar char="■"/>
              </a:pPr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CENTRAL.EXE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467350" y="1228725"/>
              <a:ext cx="171450" cy="152400"/>
            </a:xfrm>
            <a:prstGeom prst="rect">
              <a:avLst/>
            </a:prstGeom>
            <a:solidFill>
              <a:srgbClr val="F2F2EF"/>
            </a:solidFill>
            <a:ln w="19050">
              <a:solidFill>
                <a:srgbClr val="0A0A0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238750" y="1228725"/>
              <a:ext cx="171450" cy="152400"/>
            </a:xfrm>
            <a:prstGeom prst="rect">
              <a:avLst/>
            </a:prstGeom>
            <a:solidFill>
              <a:srgbClr val="F2F2EF"/>
            </a:solidFill>
            <a:ln w="19050">
              <a:solidFill>
                <a:srgbClr val="0A0A0A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5010150" y="1228725"/>
              <a:ext cx="171450" cy="152400"/>
            </a:xfrm>
            <a:prstGeom prst="rect">
              <a:avLst/>
            </a:prstGeom>
            <a:solidFill>
              <a:srgbClr val="F2F2EF"/>
            </a:solidFill>
            <a:ln w="19050">
              <a:solidFill>
                <a:srgbClr val="0A0A0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381000" y="1466850"/>
              <a:ext cx="5334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609600" y="2057400"/>
              <a:ext cx="247650" cy="2476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59892" y="208280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✔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35558" y="19939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一個管理者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38606" y="247015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5575E"/>
                  </a:solidFill>
                  <a:latin typeface="+mn-lt"/>
                  <a:ea typeface="+mn-ea"/>
                  <a:cs typeface="+mn-cs"/>
                </a:rPr>
                <a:t>銀行說了算，帳本只有一份。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3295650"/>
              <a:ext cx="247650" cy="2476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9892" y="332105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✔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35558" y="3232150"/>
              <a:ext cx="34747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快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38606" y="370840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5575E"/>
                  </a:solidFill>
                  <a:latin typeface="+mn-lt"/>
                  <a:ea typeface="+mn-ea"/>
                  <a:cs typeface="+mn-cs"/>
                </a:rPr>
                <a:t>不需要大家同意，馬上入帳。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" y="4533900"/>
              <a:ext cx="247650" cy="247650"/>
            </a:xfrm>
            <a:prstGeom prst="rect">
              <a:avLst/>
            </a:prstGeom>
            <a:solidFill>
              <a:srgbClr val="FF9EC7"/>
            </a:solidFill>
            <a:ln w="28575">
              <a:solidFill>
                <a:srgbClr val="0A0A0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9892" y="455930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✖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35558" y="44704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單點風險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38606" y="494665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5575E"/>
                  </a:solidFill>
                  <a:latin typeface="+mn-lt"/>
                  <a:ea typeface="+mn-ea"/>
                  <a:cs typeface="+mn-cs"/>
                </a:rPr>
                <a:t>伺服器出事，全部停擺。</a:t>
              </a:r>
            </a:p>
          </p:txBody>
        </p:sp>
      </p:grpSp>
      <p:grpSp>
        <p:nvGrpSpPr>
          <p:cNvPr id="48" name="win-decentral"/>
          <p:cNvGrpSpPr/>
          <p:nvPr/>
        </p:nvGrpSpPr>
        <p:grpSpPr>
          <a:xfrm>
            <a:off x="6477000" y="1143000"/>
            <a:ext cx="5429250" cy="5048250"/>
            <a:chOff x="6477000" y="1143000"/>
            <a:chExt cx="5429250" cy="5048250"/>
          </a:xfrm>
        </p:grpSpPr>
        <p:sp>
          <p:nvSpPr>
            <p:cNvPr id="28" name="Rectangle 28"/>
            <p:cNvSpPr/>
            <p:nvPr/>
          </p:nvSpPr>
          <p:spPr>
            <a:xfrm>
              <a:off x="6572250" y="1238250"/>
              <a:ext cx="5334000" cy="49530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477000" y="1143000"/>
              <a:ext cx="5334000" cy="49530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6491288" y="1157288"/>
              <a:ext cx="5305425" cy="314325"/>
            </a:xfrm>
            <a:prstGeom prst="rect">
              <a:avLst/>
            </a:prstGeom>
            <a:solidFill>
              <a:srgbClr val="1B1FA8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604254" y="1231900"/>
              <a:ext cx="14002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640" indent="-167640">
                <a:buClr>
                  <a:srgbClr val="FFFFFF"/>
                </a:buClr>
                <a:buSzTx/>
                <a:buFontTx/>
                <a:buChar char="■"/>
              </a:pPr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DECENTRAL.EXE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563350" y="1228725"/>
              <a:ext cx="171450" cy="152400"/>
            </a:xfrm>
            <a:prstGeom prst="rect">
              <a:avLst/>
            </a:prstGeom>
            <a:solidFill>
              <a:srgbClr val="F2F2EF"/>
            </a:solidFill>
            <a:ln w="19050">
              <a:solidFill>
                <a:srgbClr val="0A0A0A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11334750" y="1228725"/>
              <a:ext cx="171450" cy="152400"/>
            </a:xfrm>
            <a:prstGeom prst="rect">
              <a:avLst/>
            </a:prstGeom>
            <a:solidFill>
              <a:srgbClr val="F2F2EF"/>
            </a:solidFill>
            <a:ln w="19050">
              <a:solidFill>
                <a:srgbClr val="0A0A0A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11106150" y="1228725"/>
              <a:ext cx="171450" cy="152400"/>
            </a:xfrm>
            <a:prstGeom prst="rect">
              <a:avLst/>
            </a:prstGeom>
            <a:solidFill>
              <a:srgbClr val="F2F2EF"/>
            </a:solidFill>
            <a:ln w="19050">
              <a:solidFill>
                <a:srgbClr val="0A0A0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477000" y="1466850"/>
              <a:ext cx="5334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705600" y="2057400"/>
              <a:ext cx="247650" cy="247650"/>
            </a:xfrm>
            <a:prstGeom prst="rect">
              <a:avLst/>
            </a:prstGeom>
            <a:solidFill>
              <a:srgbClr val="6FE0EE"/>
            </a:solidFill>
            <a:ln w="28575">
              <a:solidFill>
                <a:srgbClr val="0A0A0A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755892" y="208280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✔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31558" y="1993900"/>
              <a:ext cx="163982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大家一起記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134606" y="247015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5575E"/>
                  </a:solidFill>
                  <a:latin typeface="+mn-lt"/>
                  <a:ea typeface="+mn-ea"/>
                  <a:cs typeface="+mn-cs"/>
                </a:rPr>
                <a:t>每個節點都有一份帳本。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705600" y="3295650"/>
              <a:ext cx="247650" cy="24765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755892" y="332105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✖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131558" y="3232150"/>
              <a:ext cx="99364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慢一點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7134606" y="3708400"/>
              <a:ext cx="268376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5575E"/>
                  </a:solidFill>
                  <a:latin typeface="+mn-lt"/>
                  <a:ea typeface="+mn-ea"/>
                  <a:cs typeface="+mn-cs"/>
                </a:rPr>
                <a:t>需要共識，等幾個區塊。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705600" y="4533900"/>
              <a:ext cx="247650" cy="247650"/>
            </a:xfrm>
            <a:prstGeom prst="rect">
              <a:avLst/>
            </a:prstGeom>
            <a:solidFill>
              <a:srgbClr val="6FE0EE"/>
            </a:solidFill>
            <a:ln w="28575">
              <a:solidFill>
                <a:srgbClr val="0A0A0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55892" y="455930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350" b="1" dirty="0">
                  <a:solidFill>
                    <a:srgbClr val="0A0A0A"/>
                  </a:solidFill>
                  <a:latin typeface="Consolas"/>
                  <a:ea typeface="Consolas"/>
                  <a:cs typeface="Consolas"/>
                </a:rPr>
                <a:t>✔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31558" y="4470400"/>
              <a:ext cx="131673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4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難以竄改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134606" y="4946650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5575E"/>
                  </a:solidFill>
                  <a:latin typeface="+mn-lt"/>
                  <a:ea typeface="+mn-ea"/>
                  <a:cs typeface="+mn-cs"/>
                </a:rPr>
                <a:t>要改帳得同時騙過多數節點。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0" y="6515100"/>
            <a:ext cx="12192000" cy="323596"/>
            <a:chOff x="0" y="6515100"/>
            <a:chExt cx="12192000" cy="323596"/>
          </a:xfrm>
        </p:grpSpPr>
        <p:sp>
          <p:nvSpPr>
            <p:cNvPr id="49" name="Rectangle 49"/>
            <p:cNvSpPr/>
            <p:nvPr/>
          </p:nvSpPr>
          <p:spPr>
            <a:xfrm>
              <a:off x="0" y="65151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74904" y="65913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00" dirty="0">
                  <a:solidFill>
                    <a:srgbClr val="55575E"/>
                  </a:solidFill>
                  <a:latin typeface="Consolas"/>
                  <a:ea typeface="Microsoft JhengHei"/>
                  <a:cs typeface="Consolas"/>
                </a:rPr>
                <a:t>區塊鏈的交易旅程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182960" y="660400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55575E"/>
                  </a:solidFill>
                  <a:latin typeface="Consolas"/>
                  <a:ea typeface="Consolas"/>
                  <a:cs typeface="Consolas"/>
                </a:rPr>
                <a:t>08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0" y="127000"/>
            <a:ext cx="12192000" cy="704088"/>
            <a:chOff x="0" y="127000"/>
            <a:chExt cx="12192000" cy="704088"/>
          </a:xfrm>
        </p:grpSpPr>
        <p:sp>
          <p:nvSpPr>
            <p:cNvPr id="2" name="TextBox 2"/>
            <p:cNvSpPr txBox="1"/>
            <p:nvPr/>
          </p:nvSpPr>
          <p:spPr>
            <a:xfrm>
              <a:off x="362712" y="127000"/>
              <a:ext cx="3913632" cy="704088"/>
            </a:xfrm>
            <a:prstGeom prst="rect">
              <a:avLst/>
            </a:prstGeom>
            <a:noFill/>
            <a:ln>
              <a:noFill/>
            </a:ln>
            <a:effectLst>
              <a:outerShdw blurRad="0" dist="26941" dir="2700000" algn="tl" rotWithShape="0">
                <a:srgbClr val="FFD84A">
                  <a:alpha val="7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3600" dirty="0">
                  <a:ln w="19050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一條鏈，四個時刻</a:t>
              </a:r>
            </a:p>
          </p:txBody>
        </p:sp>
        <p:sp>
          <p:nvSpPr>
            <p:cNvPr id="3" name="Rectangle 3"/>
            <p:cNvSpPr/>
            <p:nvPr/>
          </p:nvSpPr>
          <p:spPr>
            <a:xfrm>
              <a:off x="10648950" y="266700"/>
              <a:ext cx="1162050" cy="28575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0738104" y="298450"/>
              <a:ext cx="10448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BLOCK #1032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0" y="8001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</p:grpSp>
      <p:grpSp>
        <p:nvGrpSpPr>
          <p:cNvPr id="14" name="blk-1"/>
          <p:cNvGrpSpPr/>
          <p:nvPr/>
        </p:nvGrpSpPr>
        <p:grpSpPr>
          <a:xfrm>
            <a:off x="371094" y="1428750"/>
            <a:ext cx="2962656" cy="3142996"/>
            <a:chOff x="371094" y="1428750"/>
            <a:chExt cx="2962656" cy="3142996"/>
          </a:xfrm>
        </p:grpSpPr>
        <p:sp>
          <p:nvSpPr>
            <p:cNvPr id="7" name="Rectangle 7"/>
            <p:cNvSpPr/>
            <p:nvPr/>
          </p:nvSpPr>
          <p:spPr>
            <a:xfrm>
              <a:off x="457200" y="1504950"/>
              <a:ext cx="2095500" cy="2095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381000" y="1428750"/>
              <a:ext cx="2095500" cy="20955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4642" y="1625600"/>
              <a:ext cx="1175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5575E"/>
                  </a:solidFill>
                  <a:latin typeface="Consolas"/>
                  <a:ea typeface="Consolas"/>
                  <a:cs typeface="Consolas"/>
                </a:rPr>
                <a:t>BLOCK #1021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2450" y="2197100"/>
              <a:ext cx="163738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400" dirty="0">
                  <a:ln w="28575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2009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2552700" y="2400300"/>
              <a:ext cx="781050" cy="1524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71094" y="3854450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比特幣創世區塊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4904" y="433705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5575E"/>
                  </a:solidFill>
                  <a:latin typeface="Consolas"/>
                  <a:ea typeface="Consolas"/>
                  <a:cs typeface="Consolas"/>
                </a:rPr>
                <a:t>prev = 0x0000</a:t>
              </a:r>
            </a:p>
          </p:txBody>
        </p:sp>
      </p:grpSp>
      <p:grpSp>
        <p:nvGrpSpPr>
          <p:cNvPr id="22" name="blk-2"/>
          <p:cNvGrpSpPr/>
          <p:nvPr/>
        </p:nvGrpSpPr>
        <p:grpSpPr>
          <a:xfrm>
            <a:off x="3323844" y="1428750"/>
            <a:ext cx="2962656" cy="3142996"/>
            <a:chOff x="3323844" y="1428750"/>
            <a:chExt cx="2962656" cy="3142996"/>
          </a:xfrm>
        </p:grpSpPr>
        <p:sp>
          <p:nvSpPr>
            <p:cNvPr id="15" name="Rectangle 15"/>
            <p:cNvSpPr/>
            <p:nvPr/>
          </p:nvSpPr>
          <p:spPr>
            <a:xfrm>
              <a:off x="3409950" y="1504950"/>
              <a:ext cx="2095500" cy="2095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3333750" y="1428750"/>
              <a:ext cx="2095500" cy="20955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517392" y="1625600"/>
              <a:ext cx="1175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5575E"/>
                  </a:solidFill>
                  <a:latin typeface="Consolas"/>
                  <a:ea typeface="Consolas"/>
                  <a:cs typeface="Consolas"/>
                </a:rPr>
                <a:t>BLOCK #1022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05200" y="2197100"/>
              <a:ext cx="163738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400" dirty="0">
                  <a:ln w="28575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2015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505450" y="2400300"/>
              <a:ext cx="781050" cy="1524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3323844" y="3854450"/>
              <a:ext cx="211988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以太坊與智能合約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327654" y="4337050"/>
              <a:ext cx="1078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5575E"/>
                  </a:solidFill>
                  <a:latin typeface="Consolas"/>
                  <a:ea typeface="Consolas"/>
                  <a:cs typeface="Consolas"/>
                </a:rPr>
                <a:t>prev = #1021</a:t>
              </a:r>
            </a:p>
          </p:txBody>
        </p:sp>
      </p:grpSp>
      <p:grpSp>
        <p:nvGrpSpPr>
          <p:cNvPr id="30" name="blk-3"/>
          <p:cNvGrpSpPr/>
          <p:nvPr/>
        </p:nvGrpSpPr>
        <p:grpSpPr>
          <a:xfrm>
            <a:off x="6276594" y="1428750"/>
            <a:ext cx="2962656" cy="3142996"/>
            <a:chOff x="6276594" y="1428750"/>
            <a:chExt cx="2962656" cy="3142996"/>
          </a:xfrm>
        </p:grpSpPr>
        <p:sp>
          <p:nvSpPr>
            <p:cNvPr id="23" name="Rectangle 23"/>
            <p:cNvSpPr/>
            <p:nvPr/>
          </p:nvSpPr>
          <p:spPr>
            <a:xfrm>
              <a:off x="6362700" y="1504950"/>
              <a:ext cx="2095500" cy="2095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86500" y="1428750"/>
              <a:ext cx="2095500" cy="20955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70142" y="1625600"/>
              <a:ext cx="1175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5575E"/>
                  </a:solidFill>
                  <a:latin typeface="Consolas"/>
                  <a:ea typeface="Consolas"/>
                  <a:cs typeface="Consolas"/>
                </a:rPr>
                <a:t>BLOCK #1023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57950" y="2197100"/>
              <a:ext cx="163738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400" dirty="0">
                  <a:ln w="28575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2022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8458200" y="2400300"/>
              <a:ext cx="781050" cy="1524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276594" y="3854450"/>
              <a:ext cx="238239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以太坊轉為權益證明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80404" y="4337050"/>
              <a:ext cx="1078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5575E"/>
                  </a:solidFill>
                  <a:latin typeface="Consolas"/>
                  <a:ea typeface="Consolas"/>
                  <a:cs typeface="Consolas"/>
                </a:rPr>
                <a:t>prev = #1022</a:t>
              </a:r>
            </a:p>
          </p:txBody>
        </p:sp>
      </p:grpSp>
      <p:grpSp>
        <p:nvGrpSpPr>
          <p:cNvPr id="37" name="blk-4"/>
          <p:cNvGrpSpPr/>
          <p:nvPr/>
        </p:nvGrpSpPr>
        <p:grpSpPr>
          <a:xfrm>
            <a:off x="9229344" y="1428750"/>
            <a:ext cx="2181606" cy="3142996"/>
            <a:chOff x="9229344" y="1428750"/>
            <a:chExt cx="2181606" cy="3142996"/>
          </a:xfrm>
        </p:grpSpPr>
        <p:sp>
          <p:nvSpPr>
            <p:cNvPr id="31" name="Rectangle 31"/>
            <p:cNvSpPr/>
            <p:nvPr/>
          </p:nvSpPr>
          <p:spPr>
            <a:xfrm>
              <a:off x="9315450" y="1504950"/>
              <a:ext cx="2095500" cy="20955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9239250" y="1428750"/>
              <a:ext cx="2095500" cy="2095500"/>
            </a:xfrm>
            <a:prstGeom prst="rect">
              <a:avLst/>
            </a:prstGeom>
            <a:solidFill>
              <a:srgbClr val="FFD84A"/>
            </a:solidFill>
            <a:ln w="28575">
              <a:solidFill>
                <a:srgbClr val="0A0A0A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22892" y="1625600"/>
              <a:ext cx="11754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55575E"/>
                  </a:solidFill>
                  <a:latin typeface="Consolas"/>
                  <a:ea typeface="Consolas"/>
                  <a:cs typeface="Consolas"/>
                </a:rPr>
                <a:t>BLOCK #1024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410700" y="2197100"/>
              <a:ext cx="1637386" cy="1047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5400" dirty="0">
                  <a:ln w="28575">
                    <a:solidFill>
                      <a:srgbClr val="0A0A0A"/>
                    </a:solidFill>
                  </a:ln>
                  <a:solidFill>
                    <a:srgbClr val="0A0A0A"/>
                  </a:solidFill>
                  <a:latin typeface="Cubic 11"/>
                  <a:ea typeface="Cubic 11"/>
                  <a:cs typeface="Cubic 11"/>
                </a:rPr>
                <a:t>2026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229344" y="3854450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9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你的第一筆交易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33154" y="4337050"/>
              <a:ext cx="10783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5575E"/>
                  </a:solidFill>
                  <a:latin typeface="Consolas"/>
                  <a:ea typeface="Consolas"/>
                  <a:cs typeface="Consolas"/>
                </a:rPr>
                <a:t>prev = #1023</a:t>
              </a:r>
            </a:p>
          </p:txBody>
        </p:sp>
      </p:grpSp>
      <p:grpSp>
        <p:nvGrpSpPr>
          <p:cNvPr id="40" name="note"/>
          <p:cNvGrpSpPr/>
          <p:nvPr/>
        </p:nvGrpSpPr>
        <p:grpSpPr>
          <a:xfrm>
            <a:off x="371856" y="5334000"/>
            <a:ext cx="11439144" cy="669544"/>
            <a:chOff x="371856" y="5334000"/>
            <a:chExt cx="11439144" cy="669544"/>
          </a:xfrm>
        </p:grpSpPr>
        <p:sp>
          <p:nvSpPr>
            <p:cNvPr id="38" name="Rectangle 38"/>
            <p:cNvSpPr/>
            <p:nvPr/>
          </p:nvSpPr>
          <p:spPr>
            <a:xfrm>
              <a:off x="381000" y="5334000"/>
              <a:ext cx="11430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371856" y="5651500"/>
              <a:ext cx="70454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每個區塊都記著</a:t>
              </a:r>
              <a:r>
                <a:rPr lang="zh-TW" sz="180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前一個區塊的編號</a:t>
              </a:r>
              <a:r>
                <a:rPr lang="zh-TW" sz="1800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，所以改一個就得改後面全部。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0" y="6515100"/>
            <a:ext cx="12192000" cy="323596"/>
            <a:chOff x="0" y="6515100"/>
            <a:chExt cx="12192000" cy="323596"/>
          </a:xfrm>
        </p:grpSpPr>
        <p:sp>
          <p:nvSpPr>
            <p:cNvPr id="41" name="Rectangle 41"/>
            <p:cNvSpPr/>
            <p:nvPr/>
          </p:nvSpPr>
          <p:spPr>
            <a:xfrm>
              <a:off x="0" y="6515100"/>
              <a:ext cx="12192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74904" y="65913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00" dirty="0">
                  <a:solidFill>
                    <a:srgbClr val="55575E"/>
                  </a:solidFill>
                  <a:latin typeface="Consolas"/>
                  <a:ea typeface="Microsoft JhengHei"/>
                  <a:cs typeface="Consolas"/>
                </a:rPr>
                <a:t>區塊鏈的交易旅程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182960" y="660400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55575E"/>
                  </a:solidFill>
                  <a:latin typeface="Consolas"/>
                  <a:ea typeface="Consolas"/>
                  <a:cs typeface="Consolas"/>
                </a:rPr>
                <a:t>09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sky"/>
          <p:cNvGrpSpPr/>
          <p:nvPr/>
        </p:nvGrpSpPr>
        <p:grpSpPr>
          <a:xfrm>
            <a:off x="857250" y="800100"/>
            <a:ext cx="4743450" cy="942975"/>
            <a:chOff x="857250" y="800100"/>
            <a:chExt cx="4743450" cy="942975"/>
          </a:xfrm>
        </p:grpSpPr>
        <p:sp>
          <p:nvSpPr>
            <p:cNvPr id="2" name="Rectangle 2"/>
            <p:cNvSpPr/>
            <p:nvPr/>
          </p:nvSpPr>
          <p:spPr>
            <a:xfrm>
              <a:off x="4972050" y="1381125"/>
              <a:ext cx="76200" cy="76200"/>
            </a:xfrm>
            <a:prstGeom prst="rect">
              <a:avLst/>
            </a:prstGeom>
            <a:solidFill>
              <a:srgbClr val="3A4290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562600" y="1333500"/>
              <a:ext cx="38100" cy="38100"/>
            </a:xfrm>
            <a:prstGeom prst="rect">
              <a:avLst/>
            </a:prstGeom>
            <a:solidFill>
              <a:srgbClr val="FFD84A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4924425" y="1123950"/>
              <a:ext cx="38100" cy="381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971550" y="1485900"/>
              <a:ext cx="38100" cy="381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2105025" y="1514475"/>
              <a:ext cx="76200" cy="76200"/>
            </a:xfrm>
            <a:prstGeom prst="rect">
              <a:avLst/>
            </a:prstGeom>
            <a:solidFill>
              <a:srgbClr val="3A4290"/>
            </a:solidFill>
            <a:ln>
              <a:noFill/>
            </a:ln>
          </p:spPr>
        </p:sp>
        <p:sp>
          <p:nvSpPr>
            <p:cNvPr id="7" name="Rectangle 7"/>
            <p:cNvSpPr/>
            <p:nvPr/>
          </p:nvSpPr>
          <p:spPr>
            <a:xfrm>
              <a:off x="1143000" y="800100"/>
              <a:ext cx="38100" cy="381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857250" y="1704975"/>
              <a:ext cx="38100" cy="38100"/>
            </a:xfrm>
            <a:prstGeom prst="rect">
              <a:avLst/>
            </a:prstGeom>
            <a:solidFill>
              <a:srgbClr val="FFD84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4867275" y="1476375"/>
              <a:ext cx="76200" cy="76200"/>
            </a:xfrm>
            <a:prstGeom prst="rect">
              <a:avLst/>
            </a:prstGeom>
            <a:solidFill>
              <a:srgbClr val="FF9EC7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3438525" y="1362075"/>
              <a:ext cx="38100" cy="38100"/>
            </a:xfrm>
            <a:prstGeom prst="rect">
              <a:avLst/>
            </a:prstGeom>
            <a:solidFill>
              <a:srgbClr val="FFD84A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5029200" y="1552575"/>
              <a:ext cx="38100" cy="381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</p:grpSp>
      <p:grpSp>
        <p:nvGrpSpPr>
          <p:cNvPr id="15" name="thanks"/>
          <p:cNvGrpSpPr/>
          <p:nvPr/>
        </p:nvGrpSpPr>
        <p:grpSpPr>
          <a:xfrm>
            <a:off x="361950" y="2273300"/>
            <a:ext cx="3430524" cy="2419350"/>
            <a:chOff x="361950" y="2273300"/>
            <a:chExt cx="3430524" cy="2419350"/>
          </a:xfrm>
        </p:grpSpPr>
        <p:sp>
          <p:nvSpPr>
            <p:cNvPr id="13" name="TextBox 13"/>
            <p:cNvSpPr txBox="1"/>
            <p:nvPr/>
          </p:nvSpPr>
          <p:spPr>
            <a:xfrm>
              <a:off x="361950" y="2273300"/>
              <a:ext cx="3430524" cy="2419350"/>
            </a:xfrm>
            <a:prstGeom prst="rect">
              <a:avLst/>
            </a:prstGeom>
            <a:noFill/>
            <a:ln>
              <a:noFill/>
            </a:ln>
            <a:effectLst>
              <a:outerShdw blurRad="0" dist="94293" dir="2700000" algn="tl" rotWithShape="0">
                <a:srgbClr val="FFD84A">
                  <a:alpha val="7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600" dirty="0">
                  <a:ln w="66675">
                    <a:solidFill>
                      <a:srgbClr val="6FE0EE"/>
                    </a:solidFill>
                  </a:ln>
                  <a:solidFill>
                    <a:srgbClr val="6FE0EE"/>
                  </a:solidFill>
                  <a:latin typeface="Cubic 11"/>
                  <a:ea typeface="Cubic 11"/>
                  <a:cs typeface="Cubic 11"/>
                </a:rPr>
                <a:t>謝謝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1480" y="4203700"/>
              <a:ext cx="28315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FFD84A"/>
                  </a:solidFill>
                  <a:latin typeface="Consolas"/>
                  <a:ea typeface="Consolas"/>
                  <a:cs typeface="Consolas"/>
                </a:rPr>
                <a:t>GAME SAVED ▸ BLOCK #1033</a:t>
              </a:r>
            </a:p>
          </p:txBody>
        </p:sp>
      </p:grpSp>
      <p:grpSp>
        <p:nvGrpSpPr>
          <p:cNvPr id="32" name="dialog"/>
          <p:cNvGrpSpPr/>
          <p:nvPr/>
        </p:nvGrpSpPr>
        <p:grpSpPr>
          <a:xfrm>
            <a:off x="6667500" y="2095500"/>
            <a:ext cx="5048250" cy="3143250"/>
            <a:chOff x="6667500" y="2095500"/>
            <a:chExt cx="5048250" cy="3143250"/>
          </a:xfrm>
        </p:grpSpPr>
        <p:sp>
          <p:nvSpPr>
            <p:cNvPr id="16" name="Rectangle 16"/>
            <p:cNvSpPr/>
            <p:nvPr/>
          </p:nvSpPr>
          <p:spPr>
            <a:xfrm>
              <a:off x="6762750" y="2190750"/>
              <a:ext cx="4953000" cy="3048000"/>
            </a:xfrm>
            <a:prstGeom prst="rect">
              <a:avLst/>
            </a:prstGeom>
            <a:solidFill>
              <a:srgbClr val="6FE0EE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667500" y="2095500"/>
              <a:ext cx="4953000" cy="30480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6681788" y="2109788"/>
              <a:ext cx="4924425" cy="314325"/>
            </a:xfrm>
            <a:prstGeom prst="rect">
              <a:avLst/>
            </a:prstGeom>
            <a:solidFill>
              <a:srgbClr val="1B1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794754" y="2184400"/>
              <a:ext cx="14002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67640" indent="-167640">
                <a:buClr>
                  <a:srgbClr val="FFFFFF"/>
                </a:buClr>
                <a:buSzTx/>
                <a:buFontTx/>
                <a:buChar char="■"/>
              </a:pPr>
              <a:r>
                <a:rPr lang="en-US" sz="1200" b="1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QUESTIONS.EXE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372850" y="2181225"/>
              <a:ext cx="171450" cy="152400"/>
            </a:xfrm>
            <a:prstGeom prst="rect">
              <a:avLst/>
            </a:prstGeom>
            <a:solidFill>
              <a:srgbClr val="F2F2EF"/>
            </a:solidFill>
            <a:ln w="19050">
              <a:solidFill>
                <a:srgbClr val="0A0A0A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11144250" y="2181225"/>
              <a:ext cx="171450" cy="152400"/>
            </a:xfrm>
            <a:prstGeom prst="rect">
              <a:avLst/>
            </a:prstGeom>
            <a:solidFill>
              <a:srgbClr val="F2F2EF"/>
            </a:solidFill>
            <a:ln w="19050">
              <a:solidFill>
                <a:srgbClr val="0A0A0A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10915650" y="2181225"/>
              <a:ext cx="171450" cy="152400"/>
            </a:xfrm>
            <a:prstGeom prst="rect">
              <a:avLst/>
            </a:prstGeom>
            <a:solidFill>
              <a:srgbClr val="F2F2EF"/>
            </a:solidFill>
            <a:ln w="19050">
              <a:solidFill>
                <a:srgbClr val="0A0A0A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6667500" y="2419350"/>
              <a:ext cx="4953000" cy="28575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035546" y="2730500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25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還有問題嗎？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039356" y="328930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800" dirty="0">
                  <a:solidFill>
                    <a:srgbClr val="55575E"/>
                  </a:solidFill>
                  <a:latin typeface="+mn-lt"/>
                  <a:ea typeface="+mn-ea"/>
                  <a:cs typeface="+mn-cs"/>
                </a:rPr>
                <a:t>歡迎現在提問，或課後找我聊。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200900" y="4286250"/>
              <a:ext cx="1333500" cy="4953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7143750" y="4229100"/>
              <a:ext cx="1333500" cy="495300"/>
            </a:xfrm>
            <a:prstGeom prst="rect">
              <a:avLst/>
            </a:prstGeom>
            <a:solidFill>
              <a:srgbClr val="6FE0EE"/>
            </a:solidFill>
            <a:ln w="28575">
              <a:solidFill>
                <a:srgbClr val="0A0A0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691056" y="4359275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6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8820150" y="4286250"/>
              <a:ext cx="1333500" cy="495300"/>
            </a:xfrm>
            <a:prstGeom prst="rect">
              <a:avLst/>
            </a:prstGeom>
            <a:solidFill>
              <a:srgbClr val="0A0A0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763000" y="4229100"/>
              <a:ext cx="1333500" cy="495300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0A0A0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9310306" y="4359275"/>
              <a:ext cx="23888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TW" sz="1650" b="1" dirty="0">
                  <a:solidFill>
                    <a:srgbClr val="0A0A0A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36" name="footer"/>
          <p:cNvGrpSpPr/>
          <p:nvPr/>
        </p:nvGrpSpPr>
        <p:grpSpPr>
          <a:xfrm>
            <a:off x="0" y="6515100"/>
            <a:ext cx="12192000" cy="323596"/>
            <a:chOff x="0" y="6515100"/>
            <a:chExt cx="12192000" cy="323596"/>
          </a:xfrm>
        </p:grpSpPr>
        <p:sp>
          <p:nvSpPr>
            <p:cNvPr id="33" name="Rectangle 33"/>
            <p:cNvSpPr/>
            <p:nvPr/>
          </p:nvSpPr>
          <p:spPr>
            <a:xfrm>
              <a:off x="0" y="6515100"/>
              <a:ext cx="12192000" cy="28575"/>
            </a:xfrm>
            <a:prstGeom prst="rect">
              <a:avLst/>
            </a:prstGeom>
            <a:solidFill>
              <a:srgbClr val="2A2F6E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374904" y="659130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TW" sz="1200" dirty="0">
                  <a:solidFill>
                    <a:srgbClr val="9AA0C8"/>
                  </a:solidFill>
                  <a:latin typeface="Consolas"/>
                  <a:ea typeface="Microsoft JhengHei"/>
                  <a:cs typeface="Consolas"/>
                </a:rPr>
                <a:t>區塊鏈的交易旅程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182960" y="660400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TW" sz="1200" dirty="0">
                  <a:solidFill>
                    <a:srgbClr val="9AA0C8"/>
                  </a:solidFill>
                  <a:latin typeface="Consolas"/>
                  <a:ea typeface="Consolas"/>
                  <a:cs typeface="Consolas"/>
                </a:rPr>
                <a:t>10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bitgrid">
  <a:themeElements>
    <a:clrScheme name="bitgri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itgrid">
      <a:majorFont>
        <a:latin typeface="Segoe UI"/>
        <a:ea typeface="Microsoft JhengHei"/>
        <a:cs typeface="Segoe UI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egoe UI"/>
        <a:ea typeface="Microsoft JhengHei"/>
        <a:cs typeface="Segoe UI"/>
        <a:font script="Jpan" typeface="Microsoft JhengHei"/>
        <a:font script="Hang" typeface="Microsoft JhengHei"/>
        <a:font script="Hans" typeface="Microsoft JhengHei"/>
        <a:font script="Hant" typeface="Microsoft Jheng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itgri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zh-TW</dc:language>
  <cp:lastModifiedBy/>
  <cp:revision>1</cp:revision>
  <dcterms:created xsi:type="dcterms:W3CDTF">2026-10-21T14:52:11Z</dcterms:created>
  <dcterms:modified xsi:type="dcterms:W3CDTF">2026-10-21T14:52:11Z</dcterms:modified>
  <cp:category/>
  <cp:contentStatus/>
</cp:coreProperties>
</file>