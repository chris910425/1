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7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zh-TW"/>
    </a:defPPr>
    <a:lvl1pPr marL="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7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701.xlsx"/>
</Relationships>
</file>

<file path=ppt/charts/chart7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k07-doughnut</c:v>
                </c:pt>
              </c:strCache>
            </c:strRef>
          </c:tx>
          <c:dPt>
            <c:idx val="0"/>
            <c:spPr>
              <a:solidFill>
                <a:srgbClr val="0A0A0A"/>
              </a:solidFill>
              <a:ln>
                <a:solidFill>
                  <a:srgbClr val="0A0A0A"/>
                </a:solidFill>
              </a:ln>
            </c:spPr>
          </c:dPt>
          <c:dPt>
            <c:idx val="1"/>
            <c:spPr>
              <a:solidFill>
                <a:srgbClr val="F2D4CF"/>
              </a:solidFill>
              <a:ln>
                <a:solidFill>
                  <a:srgbClr val="F2D4CF"/>
                </a:solidFill>
              </a:ln>
            </c:spPr>
          </c:dPt>
          <c:dPt>
            <c:idx val="2"/>
            <c:spPr>
              <a:solidFill>
                <a:srgbClr val="E5EDD6"/>
              </a:solidFill>
              <a:ln>
                <a:solidFill>
                  <a:srgbClr val="E5EDD6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全節點</c:v>
                </c:pt>
                <c:pt idx="1">
                  <c:v>輕節點</c:v>
                </c:pt>
                <c:pt idx="2">
                  <c:v>驗證者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firstSliceAng val="0"/>
        <c:holeSize val="75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TW" sz="900">
          <a:solidFill>
            <a:srgbClr val="404040"/>
          </a:solidFill>
        </a:defRPr>
      </a:pPr>
      <a:endParaRPr lang="zh-TW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awgrid_ki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awgrid_ki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TW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701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355587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區塊鏈 CHAIN OF BLOCKS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83689" y="320675"/>
              <a:ext cx="265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KIT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64" name="full"/>
          <p:cNvGrpSpPr/>
          <p:nvPr/>
        </p:nvGrpSpPr>
        <p:grpSpPr>
          <a:xfrm>
            <a:off x="376047" y="901700"/>
            <a:ext cx="11301603" cy="2393950"/>
            <a:chOff x="376047" y="901700"/>
            <a:chExt cx="11301603" cy="2393950"/>
          </a:xfrm>
        </p:grpSpPr>
        <p:sp>
          <p:nvSpPr>
            <p:cNvPr id="25" name="TextBox 25"/>
            <p:cNvSpPr txBox="1"/>
            <p:nvPr/>
          </p:nvSpPr>
          <p:spPr>
            <a:xfrm>
              <a:off x="376047" y="901700"/>
              <a:ext cx="32983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FULL · CHAIN(X, Y, N, START, BW, BH, GAP)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8150" y="1295400"/>
              <a:ext cx="2381250" cy="2000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1000" y="1238250"/>
              <a:ext cx="2381250" cy="2000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95288" y="1252538"/>
              <a:ext cx="2352675" cy="400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5018" y="1330325"/>
              <a:ext cx="627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#1021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8066" y="1911350"/>
              <a:ext cx="411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PREV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5399" y="209550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0x0000…0000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066" y="2425700"/>
              <a:ext cx="46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HASH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5399" y="260985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0xf408…eaea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762250" y="2200275"/>
              <a:ext cx="571500" cy="76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962275" y="2114550"/>
              <a:ext cx="171450" cy="2476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390900" y="1295400"/>
              <a:ext cx="2381250" cy="2000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333750" y="1238250"/>
              <a:ext cx="2381250" cy="2000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3348038" y="1252538"/>
              <a:ext cx="2352675" cy="400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477768" y="1330325"/>
              <a:ext cx="627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#1022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80816" y="1911350"/>
              <a:ext cx="411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PREV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78149" y="209550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0xf408…eaea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80816" y="2425700"/>
              <a:ext cx="46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HASH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478149" y="260985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0x8b4c…16df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15000" y="2200275"/>
              <a:ext cx="571500" cy="76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915025" y="2114550"/>
              <a:ext cx="171450" cy="2476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343650" y="1295400"/>
              <a:ext cx="2381250" cy="2000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86500" y="1238250"/>
              <a:ext cx="2381250" cy="2000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300788" y="1252538"/>
              <a:ext cx="2352675" cy="400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30518" y="1330325"/>
              <a:ext cx="627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#1023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33566" y="1911350"/>
              <a:ext cx="411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PREV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30899" y="209550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0x8b4c…16df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33566" y="2425700"/>
              <a:ext cx="46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HASH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30899" y="260985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0x0380…43c4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667750" y="2200275"/>
              <a:ext cx="571500" cy="76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867775" y="2114550"/>
              <a:ext cx="171450" cy="2476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296400" y="1295400"/>
              <a:ext cx="2381250" cy="2000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39250" y="1238250"/>
              <a:ext cx="2381250" cy="2000250"/>
            </a:xfrm>
            <a:prstGeom prst="rect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9253538" y="1252538"/>
              <a:ext cx="2352675" cy="400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383268" y="1330325"/>
              <a:ext cx="6276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#1024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386316" y="1911350"/>
              <a:ext cx="411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PREV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83649" y="209550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0x0380…43c4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86316" y="2425700"/>
              <a:ext cx="46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HASH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83649" y="2609850"/>
              <a:ext cx="130283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0x9ac4…7fb9</a:t>
              </a:r>
            </a:p>
          </p:txBody>
        </p:sp>
      </p:grpSp>
      <p:grpSp>
        <p:nvGrpSpPr>
          <p:cNvPr id="81" name="faint"/>
          <p:cNvGrpSpPr/>
          <p:nvPr/>
        </p:nvGrpSpPr>
        <p:grpSpPr>
          <a:xfrm>
            <a:off x="0" y="3676650"/>
            <a:ext cx="12192000" cy="1466850"/>
            <a:chOff x="0" y="3676650"/>
            <a:chExt cx="12192000" cy="1466850"/>
          </a:xfrm>
        </p:grpSpPr>
        <p:sp>
          <p:nvSpPr>
            <p:cNvPr id="65" name="Rectangle 65"/>
            <p:cNvSpPr/>
            <p:nvPr/>
          </p:nvSpPr>
          <p:spPr>
            <a:xfrm>
              <a:off x="0" y="367665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76047" y="3873500"/>
              <a:ext cx="24316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FAINT · CHAIN(..., FAINT=TRUE)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81000" y="4191000"/>
              <a:ext cx="1905000" cy="952500"/>
            </a:xfrm>
            <a:prstGeom prst="rect">
              <a:avLst/>
            </a:prstGeom>
            <a:noFill/>
            <a:ln w="19050">
              <a:solidFill>
                <a:srgbClr val="D6D6D2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381000" y="4191000"/>
              <a:ext cx="1905000" cy="209550"/>
            </a:xfrm>
            <a:prstGeom prst="rect">
              <a:avLst/>
            </a:prstGeom>
            <a:solidFill>
              <a:srgbClr val="D6D6D2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2762250" y="4191000"/>
              <a:ext cx="1905000" cy="952500"/>
            </a:xfrm>
            <a:prstGeom prst="rect">
              <a:avLst/>
            </a:prstGeom>
            <a:noFill/>
            <a:ln w="19050">
              <a:solidFill>
                <a:srgbClr val="D6D6D2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2762250" y="4191000"/>
              <a:ext cx="1905000" cy="209550"/>
            </a:xfrm>
            <a:prstGeom prst="rect">
              <a:avLst/>
            </a:prstGeom>
            <a:solidFill>
              <a:srgbClr val="D6D6D2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2286000" y="4648200"/>
              <a:ext cx="476250" cy="38100"/>
            </a:xfrm>
            <a:prstGeom prst="rect">
              <a:avLst/>
            </a:prstGeom>
            <a:solidFill>
              <a:srgbClr val="D6D6D2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143500" y="4191000"/>
              <a:ext cx="1905000" cy="952500"/>
            </a:xfrm>
            <a:prstGeom prst="rect">
              <a:avLst/>
            </a:prstGeom>
            <a:noFill/>
            <a:ln w="19050">
              <a:solidFill>
                <a:srgbClr val="D6D6D2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5143500" y="4191000"/>
              <a:ext cx="1905000" cy="209550"/>
            </a:xfrm>
            <a:prstGeom prst="rect">
              <a:avLst/>
            </a:prstGeom>
            <a:solidFill>
              <a:srgbClr val="D6D6D2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4667250" y="4648200"/>
              <a:ext cx="476250" cy="38100"/>
            </a:xfrm>
            <a:prstGeom prst="rect">
              <a:avLst/>
            </a:prstGeom>
            <a:solidFill>
              <a:srgbClr val="D6D6D2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524750" y="4191000"/>
              <a:ext cx="1905000" cy="952500"/>
            </a:xfrm>
            <a:prstGeom prst="rect">
              <a:avLst/>
            </a:prstGeom>
            <a:noFill/>
            <a:ln w="19050">
              <a:solidFill>
                <a:srgbClr val="D6D6D2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7524750" y="4191000"/>
              <a:ext cx="1905000" cy="209550"/>
            </a:xfrm>
            <a:prstGeom prst="rect">
              <a:avLst/>
            </a:prstGeom>
            <a:solidFill>
              <a:srgbClr val="D6D6D2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048500" y="4648200"/>
              <a:ext cx="476250" cy="38100"/>
            </a:xfrm>
            <a:prstGeom prst="rect">
              <a:avLst/>
            </a:prstGeom>
            <a:solidFill>
              <a:srgbClr val="D6D6D2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9906000" y="4191000"/>
              <a:ext cx="1905000" cy="952500"/>
            </a:xfrm>
            <a:prstGeom prst="rect">
              <a:avLst/>
            </a:prstGeom>
            <a:noFill/>
            <a:ln w="19050">
              <a:solidFill>
                <a:srgbClr val="D6D6D2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9906000" y="4191000"/>
              <a:ext cx="1905000" cy="209550"/>
            </a:xfrm>
            <a:prstGeom prst="rect">
              <a:avLst/>
            </a:prstGeom>
            <a:solidFill>
              <a:srgbClr val="D6D6D2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429750" y="4648200"/>
              <a:ext cx="476250" cy="38100"/>
            </a:xfrm>
            <a:prstGeom prst="rect">
              <a:avLst/>
            </a:prstGeom>
            <a:solidFill>
              <a:srgbClr val="D6D6D2"/>
            </a:solidFill>
            <a:ln>
              <a:noFill/>
            </a:ln>
          </p:spPr>
        </p:sp>
      </p:grpSp>
      <p:grpSp>
        <p:nvGrpSpPr>
          <p:cNvPr id="111" name="progress"/>
          <p:cNvGrpSpPr/>
          <p:nvPr/>
        </p:nvGrpSpPr>
        <p:grpSpPr>
          <a:xfrm>
            <a:off x="0" y="5486400"/>
            <a:ext cx="12192000" cy="838200"/>
            <a:chOff x="0" y="5486400"/>
            <a:chExt cx="12192000" cy="838200"/>
          </a:xfrm>
        </p:grpSpPr>
        <p:sp>
          <p:nvSpPr>
            <p:cNvPr id="82" name="Rectangle 82"/>
            <p:cNvSpPr/>
            <p:nvPr/>
          </p:nvSpPr>
          <p:spPr>
            <a:xfrm>
              <a:off x="0" y="54864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376047" y="5683250"/>
              <a:ext cx="45365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PROGRESS_CHAIN(X, Y, N, TOTAL) · HEADER PROGRESS BAR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81000" y="6096000"/>
              <a:ext cx="228600" cy="2286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096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723900" y="6096000"/>
              <a:ext cx="228600" cy="2286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9525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1066800" y="6096000"/>
              <a:ext cx="228600" cy="2286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12954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409700" y="6096000"/>
              <a:ext cx="228600" cy="2286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16383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1752600" y="6096000"/>
              <a:ext cx="228600" cy="2286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19812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2095500" y="6096000"/>
              <a:ext cx="228600" cy="228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23241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2438400" y="6096000"/>
              <a:ext cx="228600" cy="228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26670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2781300" y="6096000"/>
              <a:ext cx="228600" cy="228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30099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3124200" y="6096000"/>
              <a:ext cx="228600" cy="228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33528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3467100" y="6096000"/>
              <a:ext cx="228600" cy="228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36957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3810000" y="6096000"/>
              <a:ext cx="228600" cy="228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40386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4152900" y="6096000"/>
              <a:ext cx="228600" cy="228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43815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4495800" y="6096000"/>
              <a:ext cx="228600" cy="228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4724400" y="6200775"/>
              <a:ext cx="11430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4838700" y="6096000"/>
              <a:ext cx="228600" cy="228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32506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默克爾樹 MERKLE TREE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83689" y="320675"/>
              <a:ext cx="265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KIT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88" name="full"/>
          <p:cNvGrpSpPr/>
          <p:nvPr/>
        </p:nvGrpSpPr>
        <p:grpSpPr>
          <a:xfrm>
            <a:off x="376047" y="685800"/>
            <a:ext cx="7272528" cy="6172200"/>
            <a:chOff x="376047" y="685800"/>
            <a:chExt cx="7272528" cy="6172200"/>
          </a:xfrm>
        </p:grpSpPr>
        <p:sp>
          <p:nvSpPr>
            <p:cNvPr id="25" name="TextBox 25"/>
            <p:cNvSpPr txBox="1"/>
            <p:nvPr/>
          </p:nvSpPr>
          <p:spPr>
            <a:xfrm>
              <a:off x="376047" y="901700"/>
              <a:ext cx="344716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FULL · MERKLE(X, Y, W, H, LEAVES, PROOF=2)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821055" y="4959668"/>
              <a:ext cx="441008" cy="1117282"/>
            </a:xfrm>
            <a:custGeom>
              <a:avLst/>
              <a:gdLst/>
              <a:ahLst/>
              <a:cxnLst/>
              <a:rect l="l" t="t" r="r" b="b"/>
              <a:pathLst>
                <a:path w="441008" h="1117282">
                  <a:moveTo>
                    <a:pt x="0" y="1117282"/>
                  </a:moveTo>
                  <a:lnTo>
                    <a:pt x="0" y="558165"/>
                  </a:lnTo>
                  <a:lnTo>
                    <a:pt x="441008" y="558165"/>
                  </a:lnTo>
                  <a:lnTo>
                    <a:pt x="441008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262062" y="4959668"/>
              <a:ext cx="441008" cy="1117282"/>
            </a:xfrm>
            <a:custGeom>
              <a:avLst/>
              <a:gdLst/>
              <a:ahLst/>
              <a:cxnLst/>
              <a:rect l="l" t="t" r="r" b="b"/>
              <a:pathLst>
                <a:path w="441008" h="1117282">
                  <a:moveTo>
                    <a:pt x="441008" y="1117282"/>
                  </a:moveTo>
                  <a:lnTo>
                    <a:pt x="441008" y="558165"/>
                  </a:lnTo>
                  <a:lnTo>
                    <a:pt x="0" y="55816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583180" y="4959668"/>
              <a:ext cx="441008" cy="1117282"/>
            </a:xfrm>
            <a:custGeom>
              <a:avLst/>
              <a:gdLst/>
              <a:ahLst/>
              <a:cxnLst/>
              <a:rect l="l" t="t" r="r" b="b"/>
              <a:pathLst>
                <a:path w="441008" h="1117282">
                  <a:moveTo>
                    <a:pt x="0" y="1117282"/>
                  </a:moveTo>
                  <a:lnTo>
                    <a:pt x="0" y="558165"/>
                  </a:lnTo>
                  <a:lnTo>
                    <a:pt x="441008" y="558165"/>
                  </a:lnTo>
                  <a:lnTo>
                    <a:pt x="441008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024188" y="4959668"/>
              <a:ext cx="441008" cy="1117282"/>
            </a:xfrm>
            <a:custGeom>
              <a:avLst/>
              <a:gdLst/>
              <a:ahLst/>
              <a:cxnLst/>
              <a:rect l="l" t="t" r="r" b="b"/>
              <a:pathLst>
                <a:path w="441008" h="1117282">
                  <a:moveTo>
                    <a:pt x="441008" y="1117282"/>
                  </a:moveTo>
                  <a:lnTo>
                    <a:pt x="441008" y="558165"/>
                  </a:lnTo>
                  <a:lnTo>
                    <a:pt x="0" y="55816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345305" y="4959668"/>
              <a:ext cx="441008" cy="1117282"/>
            </a:xfrm>
            <a:custGeom>
              <a:avLst/>
              <a:gdLst/>
              <a:ahLst/>
              <a:cxnLst/>
              <a:rect l="l" t="t" r="r" b="b"/>
              <a:pathLst>
                <a:path w="441008" h="1117282">
                  <a:moveTo>
                    <a:pt x="0" y="1117282"/>
                  </a:moveTo>
                  <a:lnTo>
                    <a:pt x="0" y="558165"/>
                  </a:lnTo>
                  <a:lnTo>
                    <a:pt x="441008" y="558165"/>
                  </a:lnTo>
                  <a:lnTo>
                    <a:pt x="441008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786312" y="4959668"/>
              <a:ext cx="441007" cy="1117282"/>
            </a:xfrm>
            <a:custGeom>
              <a:avLst/>
              <a:gdLst/>
              <a:ahLst/>
              <a:cxnLst/>
              <a:rect l="l" t="t" r="r" b="b"/>
              <a:pathLst>
                <a:path w="441007" h="1117282">
                  <a:moveTo>
                    <a:pt x="441007" y="1117282"/>
                  </a:moveTo>
                  <a:lnTo>
                    <a:pt x="441007" y="558165"/>
                  </a:lnTo>
                  <a:lnTo>
                    <a:pt x="0" y="55816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107430" y="4959668"/>
              <a:ext cx="441007" cy="1117282"/>
            </a:xfrm>
            <a:custGeom>
              <a:avLst/>
              <a:gdLst/>
              <a:ahLst/>
              <a:cxnLst/>
              <a:rect l="l" t="t" r="r" b="b"/>
              <a:pathLst>
                <a:path w="441007" h="1117282">
                  <a:moveTo>
                    <a:pt x="0" y="1117282"/>
                  </a:moveTo>
                  <a:lnTo>
                    <a:pt x="0" y="558165"/>
                  </a:lnTo>
                  <a:lnTo>
                    <a:pt x="441007" y="558165"/>
                  </a:lnTo>
                  <a:lnTo>
                    <a:pt x="441007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548438" y="4959668"/>
              <a:ext cx="441007" cy="1117282"/>
            </a:xfrm>
            <a:custGeom>
              <a:avLst/>
              <a:gdLst/>
              <a:ahLst/>
              <a:cxnLst/>
              <a:rect l="l" t="t" r="r" b="b"/>
              <a:pathLst>
                <a:path w="441007" h="1117282">
                  <a:moveTo>
                    <a:pt x="441007" y="1117282"/>
                  </a:moveTo>
                  <a:lnTo>
                    <a:pt x="441007" y="558165"/>
                  </a:lnTo>
                  <a:lnTo>
                    <a:pt x="0" y="558165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262062" y="3346132"/>
              <a:ext cx="881062" cy="1118235"/>
            </a:xfrm>
            <a:custGeom>
              <a:avLst/>
              <a:gdLst/>
              <a:ahLst/>
              <a:cxnLst/>
              <a:rect l="l" t="t" r="r" b="b"/>
              <a:pathLst>
                <a:path w="881062" h="1118235">
                  <a:moveTo>
                    <a:pt x="0" y="1118235"/>
                  </a:moveTo>
                  <a:lnTo>
                    <a:pt x="0" y="559117"/>
                  </a:lnTo>
                  <a:lnTo>
                    <a:pt x="881062" y="559117"/>
                  </a:lnTo>
                  <a:lnTo>
                    <a:pt x="881062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2143125" y="3346132"/>
              <a:ext cx="881062" cy="1118235"/>
            </a:xfrm>
            <a:custGeom>
              <a:avLst/>
              <a:gdLst/>
              <a:ahLst/>
              <a:cxnLst/>
              <a:rect l="l" t="t" r="r" b="b"/>
              <a:pathLst>
                <a:path w="881062" h="1118235">
                  <a:moveTo>
                    <a:pt x="881062" y="1118235"/>
                  </a:moveTo>
                  <a:lnTo>
                    <a:pt x="881062" y="559117"/>
                  </a:lnTo>
                  <a:lnTo>
                    <a:pt x="0" y="559117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4786312" y="3346132"/>
              <a:ext cx="881062" cy="1118235"/>
            </a:xfrm>
            <a:custGeom>
              <a:avLst/>
              <a:gdLst/>
              <a:ahLst/>
              <a:cxnLst/>
              <a:rect l="l" t="t" r="r" b="b"/>
              <a:pathLst>
                <a:path w="881062" h="1118235">
                  <a:moveTo>
                    <a:pt x="0" y="1118235"/>
                  </a:moveTo>
                  <a:lnTo>
                    <a:pt x="0" y="559117"/>
                  </a:lnTo>
                  <a:lnTo>
                    <a:pt x="881062" y="559117"/>
                  </a:lnTo>
                  <a:lnTo>
                    <a:pt x="881062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5667375" y="3346132"/>
              <a:ext cx="881062" cy="1118235"/>
            </a:xfrm>
            <a:custGeom>
              <a:avLst/>
              <a:gdLst/>
              <a:ahLst/>
              <a:cxnLst/>
              <a:rect l="l" t="t" r="r" b="b"/>
              <a:pathLst>
                <a:path w="881062" h="1118235">
                  <a:moveTo>
                    <a:pt x="881062" y="1118235"/>
                  </a:moveTo>
                  <a:lnTo>
                    <a:pt x="881062" y="559117"/>
                  </a:lnTo>
                  <a:lnTo>
                    <a:pt x="0" y="559117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2143125" y="1733550"/>
              <a:ext cx="1762125" cy="1117282"/>
            </a:xfrm>
            <a:custGeom>
              <a:avLst/>
              <a:gdLst/>
              <a:ahLst/>
              <a:cxnLst/>
              <a:rect l="l" t="t" r="r" b="b"/>
              <a:pathLst>
                <a:path w="1762125" h="1117282">
                  <a:moveTo>
                    <a:pt x="0" y="1117282"/>
                  </a:moveTo>
                  <a:lnTo>
                    <a:pt x="0" y="559117"/>
                  </a:lnTo>
                  <a:lnTo>
                    <a:pt x="1762125" y="559117"/>
                  </a:lnTo>
                  <a:lnTo>
                    <a:pt x="1762125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3905250" y="1733550"/>
              <a:ext cx="1762125" cy="1117282"/>
            </a:xfrm>
            <a:custGeom>
              <a:avLst/>
              <a:gdLst/>
              <a:ahLst/>
              <a:cxnLst/>
              <a:rect l="l" t="t" r="r" b="b"/>
              <a:pathLst>
                <a:path w="1762125" h="1117282">
                  <a:moveTo>
                    <a:pt x="1762125" y="1117282"/>
                  </a:moveTo>
                  <a:lnTo>
                    <a:pt x="1762125" y="559117"/>
                  </a:lnTo>
                  <a:lnTo>
                    <a:pt x="0" y="559117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A0A0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466725" y="6076950"/>
              <a:ext cx="709612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2779" y="62388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347788" y="6076950"/>
              <a:ext cx="709612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544794" y="62388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266950" y="6115050"/>
              <a:ext cx="709612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2228850" y="6076950"/>
              <a:ext cx="709612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2276475" y="6124575"/>
              <a:ext cx="614362" cy="400050"/>
            </a:xfrm>
            <a:prstGeom prst="rect">
              <a:avLst/>
            </a:prstGeom>
            <a:noFill/>
            <a:ln w="19050">
              <a:solidFill>
                <a:srgbClr val="0A0A0A"/>
              </a:solidFill>
              <a:custDash>
                <a:ds d="200000" sp="15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424904" y="62388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148012" y="6115050"/>
              <a:ext cx="709612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109912" y="6076950"/>
              <a:ext cx="709612" cy="495300"/>
            </a:xfrm>
            <a:prstGeom prst="rect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306919" y="62388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Tx4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990975" y="6076950"/>
              <a:ext cx="709612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187029" y="62388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872038" y="6076950"/>
              <a:ext cx="709612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069044" y="62388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753100" y="6076950"/>
              <a:ext cx="709612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49154" y="62388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Tx7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634162" y="6076950"/>
              <a:ext cx="709612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31169" y="6238875"/>
              <a:ext cx="3165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Tx8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45356" y="4502150"/>
              <a:ext cx="709612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07256" y="4464050"/>
              <a:ext cx="709612" cy="495300"/>
            </a:xfrm>
            <a:prstGeom prst="rect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56450" y="4521518"/>
              <a:ext cx="411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H1·1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06885" y="473741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0xf10…d03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707481" y="4502150"/>
              <a:ext cx="709612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2669381" y="4464050"/>
              <a:ext cx="709612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2716530" y="4511992"/>
              <a:ext cx="614362" cy="400050"/>
            </a:xfrm>
            <a:prstGeom prst="rect">
              <a:avLst/>
            </a:prstGeom>
            <a:noFill/>
            <a:ln w="19050">
              <a:solidFill>
                <a:srgbClr val="0A0A0A"/>
              </a:solidFill>
              <a:custDash>
                <a:ds d="200000" sp="150000"/>
              </a:custDash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818574" y="4521518"/>
              <a:ext cx="411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H1·2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669010" y="473741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0x784…13f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431506" y="4464050"/>
              <a:ext cx="709612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580700" y="4521518"/>
              <a:ext cx="411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H1·3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431135" y="473741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0x0f8…56c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193631" y="4464050"/>
              <a:ext cx="709612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42825" y="4521518"/>
              <a:ext cx="411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H1·4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193260" y="473741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0x97c…998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826419" y="2889250"/>
              <a:ext cx="709612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788319" y="2851150"/>
              <a:ext cx="709612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1836420" y="2898458"/>
              <a:ext cx="614362" cy="400050"/>
            </a:xfrm>
            <a:prstGeom prst="rect">
              <a:avLst/>
            </a:prstGeom>
            <a:noFill/>
            <a:ln w="19050">
              <a:solidFill>
                <a:srgbClr val="0A0A0A"/>
              </a:solidFill>
              <a:custDash>
                <a:ds d="200000" sp="150000"/>
              </a:custDash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937512" y="2907982"/>
              <a:ext cx="411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H2·1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787947" y="312388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0xe6d…667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50669" y="2889250"/>
              <a:ext cx="709612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312569" y="2851150"/>
              <a:ext cx="709612" cy="495300"/>
            </a:xfrm>
            <a:prstGeom prst="rect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461762" y="2907982"/>
              <a:ext cx="411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H2·2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312197" y="312388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0x7d1…a93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038475" y="1276350"/>
              <a:ext cx="1809750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3000375" y="1238250"/>
              <a:ext cx="1809750" cy="495300"/>
            </a:xfrm>
            <a:prstGeom prst="rect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603695" y="1257300"/>
              <a:ext cx="6031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ROOT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550072" y="151130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0xdba…ecb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620000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03" name="faint"/>
          <p:cNvGrpSpPr/>
          <p:nvPr/>
        </p:nvGrpSpPr>
        <p:grpSpPr>
          <a:xfrm>
            <a:off x="7996047" y="901700"/>
            <a:ext cx="3729228" cy="5384800"/>
            <a:chOff x="7996047" y="901700"/>
            <a:chExt cx="3729228" cy="5384800"/>
          </a:xfrm>
        </p:grpSpPr>
        <p:sp>
          <p:nvSpPr>
            <p:cNvPr id="89" name="TextBox 89"/>
            <p:cNvSpPr txBox="1"/>
            <p:nvPr/>
          </p:nvSpPr>
          <p:spPr>
            <a:xfrm>
              <a:off x="7996047" y="901700"/>
              <a:ext cx="25307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FAINT · MERKLE(..., FAINT=TRUE)</a:t>
              </a:r>
            </a:p>
          </p:txBody>
        </p:sp>
        <p:sp>
          <p:nvSpPr>
            <p:cNvPr id="90" name="Freeform 90"/>
            <p:cNvSpPr/>
            <p:nvPr/>
          </p:nvSpPr>
          <p:spPr>
            <a:xfrm>
              <a:off x="8477250" y="4057650"/>
              <a:ext cx="476250" cy="1733550"/>
            </a:xfrm>
            <a:custGeom>
              <a:avLst/>
              <a:gdLst/>
              <a:ahLst/>
              <a:cxnLst/>
              <a:rect l="l" t="t" r="r" b="b"/>
              <a:pathLst>
                <a:path w="476250" h="1733550">
                  <a:moveTo>
                    <a:pt x="0" y="1733550"/>
                  </a:moveTo>
                  <a:lnTo>
                    <a:pt x="0" y="866775"/>
                  </a:lnTo>
                  <a:lnTo>
                    <a:pt x="476250" y="866775"/>
                  </a:ln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8953500" y="4057650"/>
              <a:ext cx="476250" cy="1733550"/>
            </a:xfrm>
            <a:custGeom>
              <a:avLst/>
              <a:gdLst/>
              <a:ahLst/>
              <a:cxnLst/>
              <a:rect l="l" t="t" r="r" b="b"/>
              <a:pathLst>
                <a:path w="476250" h="1733550">
                  <a:moveTo>
                    <a:pt x="476250" y="1733550"/>
                  </a:moveTo>
                  <a:lnTo>
                    <a:pt x="476250" y="866775"/>
                  </a:lnTo>
                  <a:lnTo>
                    <a:pt x="0" y="866775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10382250" y="4057650"/>
              <a:ext cx="476250" cy="1733550"/>
            </a:xfrm>
            <a:custGeom>
              <a:avLst/>
              <a:gdLst/>
              <a:ahLst/>
              <a:cxnLst/>
              <a:rect l="l" t="t" r="r" b="b"/>
              <a:pathLst>
                <a:path w="476250" h="1733550">
                  <a:moveTo>
                    <a:pt x="0" y="1733550"/>
                  </a:moveTo>
                  <a:lnTo>
                    <a:pt x="0" y="866775"/>
                  </a:lnTo>
                  <a:lnTo>
                    <a:pt x="476250" y="866775"/>
                  </a:ln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10858500" y="4057650"/>
              <a:ext cx="476250" cy="1733550"/>
            </a:xfrm>
            <a:custGeom>
              <a:avLst/>
              <a:gdLst/>
              <a:ahLst/>
              <a:cxnLst/>
              <a:rect l="l" t="t" r="r" b="b"/>
              <a:pathLst>
                <a:path w="476250" h="1733550">
                  <a:moveTo>
                    <a:pt x="476250" y="1733550"/>
                  </a:moveTo>
                  <a:lnTo>
                    <a:pt x="476250" y="866775"/>
                  </a:lnTo>
                  <a:lnTo>
                    <a:pt x="0" y="866775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8953500" y="1828800"/>
              <a:ext cx="952500" cy="1733550"/>
            </a:xfrm>
            <a:custGeom>
              <a:avLst/>
              <a:gdLst/>
              <a:ahLst/>
              <a:cxnLst/>
              <a:rect l="l" t="t" r="r" b="b"/>
              <a:pathLst>
                <a:path w="952500" h="1733550">
                  <a:moveTo>
                    <a:pt x="0" y="1733550"/>
                  </a:moveTo>
                  <a:lnTo>
                    <a:pt x="0" y="866775"/>
                  </a:lnTo>
                  <a:lnTo>
                    <a:pt x="952500" y="866775"/>
                  </a:ln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9906000" y="1828800"/>
              <a:ext cx="952500" cy="1733550"/>
            </a:xfrm>
            <a:custGeom>
              <a:avLst/>
              <a:gdLst/>
              <a:ahLst/>
              <a:cxnLst/>
              <a:rect l="l" t="t" r="r" b="b"/>
              <a:pathLst>
                <a:path w="952500" h="1733550">
                  <a:moveTo>
                    <a:pt x="952500" y="1733550"/>
                  </a:moveTo>
                  <a:lnTo>
                    <a:pt x="952500" y="866775"/>
                  </a:lnTo>
                  <a:lnTo>
                    <a:pt x="0" y="866775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8086725" y="5791200"/>
              <a:ext cx="781050" cy="495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9039225" y="5791200"/>
              <a:ext cx="781050" cy="495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9991725" y="5791200"/>
              <a:ext cx="781050" cy="495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10944225" y="5791200"/>
              <a:ext cx="781050" cy="495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8562975" y="3562350"/>
              <a:ext cx="781050" cy="495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10467975" y="3562350"/>
              <a:ext cx="781050" cy="495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9001125" y="1333500"/>
              <a:ext cx="1809750" cy="495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23705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網路傳播 GOSSIP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07647" y="320675"/>
              <a:ext cx="1041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KIT · MORPH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88" name="net"/>
          <p:cNvGrpSpPr/>
          <p:nvPr/>
        </p:nvGrpSpPr>
        <p:grpSpPr>
          <a:xfrm>
            <a:off x="376047" y="685800"/>
            <a:ext cx="7463028" cy="6172200"/>
            <a:chOff x="376047" y="685800"/>
            <a:chExt cx="7463028" cy="6172200"/>
          </a:xfrm>
        </p:grpSpPr>
        <p:sp>
          <p:nvSpPr>
            <p:cNvPr id="25" name="TextBox 25"/>
            <p:cNvSpPr txBox="1"/>
            <p:nvPr/>
          </p:nvSpPr>
          <p:spPr>
            <a:xfrm>
              <a:off x="376047" y="901700"/>
              <a:ext cx="29044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NETWORK(X, Y, W, H, N=16, WAVE=0)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248025" y="3619500"/>
              <a:ext cx="1342072" cy="461010"/>
            </a:xfrm>
            <a:custGeom>
              <a:avLst/>
              <a:gdLst/>
              <a:ahLst/>
              <a:cxnLst/>
              <a:rect l="l" t="t" r="r" b="b"/>
              <a:pathLst>
                <a:path w="1342072" h="461010">
                  <a:moveTo>
                    <a:pt x="1342072" y="0"/>
                  </a:moveTo>
                  <a:lnTo>
                    <a:pt x="0" y="46101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115752" y="2742248"/>
              <a:ext cx="474345" cy="877253"/>
            </a:xfrm>
            <a:custGeom>
              <a:avLst/>
              <a:gdLst/>
              <a:ahLst/>
              <a:cxnLst/>
              <a:rect l="l" t="t" r="r" b="b"/>
              <a:pathLst>
                <a:path w="474345" h="877253">
                  <a:moveTo>
                    <a:pt x="474345" y="87725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590098" y="3619500"/>
              <a:ext cx="359093" cy="827722"/>
            </a:xfrm>
            <a:custGeom>
              <a:avLst/>
              <a:gdLst/>
              <a:ahLst/>
              <a:cxnLst/>
              <a:rect l="l" t="t" r="r" b="b"/>
              <a:pathLst>
                <a:path w="359093" h="827722">
                  <a:moveTo>
                    <a:pt x="0" y="0"/>
                  </a:moveTo>
                  <a:lnTo>
                    <a:pt x="359093" y="82772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4590098" y="2918460"/>
              <a:ext cx="1059180" cy="701040"/>
            </a:xfrm>
            <a:custGeom>
              <a:avLst/>
              <a:gdLst/>
              <a:ahLst/>
              <a:cxnLst/>
              <a:rect l="l" t="t" r="r" b="b"/>
              <a:pathLst>
                <a:path w="1059180" h="701040">
                  <a:moveTo>
                    <a:pt x="0" y="701040"/>
                  </a:moveTo>
                  <a:lnTo>
                    <a:pt x="105918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4590098" y="3619500"/>
              <a:ext cx="256223" cy="1803082"/>
            </a:xfrm>
            <a:custGeom>
              <a:avLst/>
              <a:gdLst/>
              <a:ahLst/>
              <a:cxnLst/>
              <a:rect l="l" t="t" r="r" b="b"/>
              <a:pathLst>
                <a:path w="256223" h="1803082">
                  <a:moveTo>
                    <a:pt x="0" y="0"/>
                  </a:moveTo>
                  <a:lnTo>
                    <a:pt x="256223" y="180308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259330" y="3413760"/>
              <a:ext cx="988695" cy="666750"/>
            </a:xfrm>
            <a:custGeom>
              <a:avLst/>
              <a:gdLst/>
              <a:ahLst/>
              <a:cxnLst/>
              <a:rect l="l" t="t" r="r" b="b"/>
              <a:pathLst>
                <a:path w="988695" h="666750">
                  <a:moveTo>
                    <a:pt x="988695" y="666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3248025" y="4080510"/>
              <a:ext cx="200978" cy="910590"/>
            </a:xfrm>
            <a:custGeom>
              <a:avLst/>
              <a:gdLst/>
              <a:ahLst/>
              <a:cxnLst/>
              <a:rect l="l" t="t" r="r" b="b"/>
              <a:pathLst>
                <a:path w="200978" h="910590">
                  <a:moveTo>
                    <a:pt x="0" y="0"/>
                  </a:moveTo>
                  <a:lnTo>
                    <a:pt x="200978" y="91059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625918" y="4080510"/>
              <a:ext cx="1622108" cy="194310"/>
            </a:xfrm>
            <a:custGeom>
              <a:avLst/>
              <a:gdLst/>
              <a:ahLst/>
              <a:cxnLst/>
              <a:rect l="l" t="t" r="r" b="b"/>
              <a:pathLst>
                <a:path w="1622108" h="194310">
                  <a:moveTo>
                    <a:pt x="1622108" y="0"/>
                  </a:moveTo>
                  <a:lnTo>
                    <a:pt x="0" y="19431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175510" y="4080510"/>
              <a:ext cx="1072515" cy="1274445"/>
            </a:xfrm>
            <a:custGeom>
              <a:avLst/>
              <a:gdLst/>
              <a:ahLst/>
              <a:cxnLst/>
              <a:rect l="l" t="t" r="r" b="b"/>
              <a:pathLst>
                <a:path w="1072515" h="1274445">
                  <a:moveTo>
                    <a:pt x="1072515" y="0"/>
                  </a:moveTo>
                  <a:lnTo>
                    <a:pt x="0" y="127444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2948940" y="2265045"/>
              <a:ext cx="1166812" cy="477202"/>
            </a:xfrm>
            <a:custGeom>
              <a:avLst/>
              <a:gdLst/>
              <a:ahLst/>
              <a:cxnLst/>
              <a:rect l="l" t="t" r="r" b="b"/>
              <a:pathLst>
                <a:path w="1166812" h="477202">
                  <a:moveTo>
                    <a:pt x="1166812" y="47720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115752" y="1984058"/>
              <a:ext cx="1029653" cy="758190"/>
            </a:xfrm>
            <a:custGeom>
              <a:avLst/>
              <a:gdLst/>
              <a:ahLst/>
              <a:cxnLst/>
              <a:rect l="l" t="t" r="r" b="b"/>
              <a:pathLst>
                <a:path w="1029653" h="758190">
                  <a:moveTo>
                    <a:pt x="0" y="758190"/>
                  </a:moveTo>
                  <a:lnTo>
                    <a:pt x="1029653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3578542" y="1443990"/>
              <a:ext cx="537210" cy="1298257"/>
            </a:xfrm>
            <a:custGeom>
              <a:avLst/>
              <a:gdLst/>
              <a:ahLst/>
              <a:cxnLst/>
              <a:rect l="l" t="t" r="r" b="b"/>
              <a:pathLst>
                <a:path w="537210" h="1298257">
                  <a:moveTo>
                    <a:pt x="537210" y="1298257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4949190" y="4176712"/>
              <a:ext cx="1333500" cy="270510"/>
            </a:xfrm>
            <a:custGeom>
              <a:avLst/>
              <a:gdLst/>
              <a:ahLst/>
              <a:cxnLst/>
              <a:rect l="l" t="t" r="r" b="b"/>
              <a:pathLst>
                <a:path w="1333500" h="270510">
                  <a:moveTo>
                    <a:pt x="0" y="27051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4846320" y="4447222"/>
              <a:ext cx="102870" cy="975360"/>
            </a:xfrm>
            <a:custGeom>
              <a:avLst/>
              <a:gdLst/>
              <a:ahLst/>
              <a:cxnLst/>
              <a:rect l="l" t="t" r="r" b="b"/>
              <a:pathLst>
                <a:path w="102870" h="975360">
                  <a:moveTo>
                    <a:pt x="102870" y="0"/>
                  </a:moveTo>
                  <a:lnTo>
                    <a:pt x="0" y="97536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2259330" y="2265045"/>
              <a:ext cx="689610" cy="1148715"/>
            </a:xfrm>
            <a:custGeom>
              <a:avLst/>
              <a:gdLst/>
              <a:ahLst/>
              <a:cxnLst/>
              <a:rect l="l" t="t" r="r" b="b"/>
              <a:pathLst>
                <a:path w="689610" h="1148715">
                  <a:moveTo>
                    <a:pt x="0" y="1148715"/>
                  </a:moveTo>
                  <a:lnTo>
                    <a:pt x="68961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1625918" y="3413760"/>
              <a:ext cx="633412" cy="861060"/>
            </a:xfrm>
            <a:custGeom>
              <a:avLst/>
              <a:gdLst/>
              <a:ahLst/>
              <a:cxnLst/>
              <a:rect l="l" t="t" r="r" b="b"/>
              <a:pathLst>
                <a:path w="633412" h="861060">
                  <a:moveTo>
                    <a:pt x="633412" y="0"/>
                  </a:moveTo>
                  <a:lnTo>
                    <a:pt x="0" y="86106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450658" y="2631758"/>
              <a:ext cx="808672" cy="782002"/>
            </a:xfrm>
            <a:custGeom>
              <a:avLst/>
              <a:gdLst/>
              <a:ahLst/>
              <a:cxnLst/>
              <a:rect l="l" t="t" r="r" b="b"/>
              <a:pathLst>
                <a:path w="808672" h="782002">
                  <a:moveTo>
                    <a:pt x="808672" y="78200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649278" y="2918460"/>
              <a:ext cx="633412" cy="1258253"/>
            </a:xfrm>
            <a:custGeom>
              <a:avLst/>
              <a:gdLst/>
              <a:ahLst/>
              <a:cxnLst/>
              <a:rect l="l" t="t" r="r" b="b"/>
              <a:pathLst>
                <a:path w="633412" h="1258253">
                  <a:moveTo>
                    <a:pt x="0" y="0"/>
                  </a:moveTo>
                  <a:lnTo>
                    <a:pt x="633412" y="1258253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5145405" y="1984058"/>
              <a:ext cx="503872" cy="934402"/>
            </a:xfrm>
            <a:custGeom>
              <a:avLst/>
              <a:gdLst/>
              <a:ahLst/>
              <a:cxnLst/>
              <a:rect l="l" t="t" r="r" b="b"/>
              <a:pathLst>
                <a:path w="503872" h="934402">
                  <a:moveTo>
                    <a:pt x="503872" y="93440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5649278" y="2918460"/>
              <a:ext cx="1342072" cy="260985"/>
            </a:xfrm>
            <a:custGeom>
              <a:avLst/>
              <a:gdLst/>
              <a:ahLst/>
              <a:cxnLst/>
              <a:rect l="l" t="t" r="r" b="b"/>
              <a:pathLst>
                <a:path w="1342072" h="260985">
                  <a:moveTo>
                    <a:pt x="0" y="0"/>
                  </a:moveTo>
                  <a:lnTo>
                    <a:pt x="1342072" y="26098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449002" y="4991100"/>
              <a:ext cx="1397318" cy="431482"/>
            </a:xfrm>
            <a:custGeom>
              <a:avLst/>
              <a:gdLst/>
              <a:ahLst/>
              <a:cxnLst/>
              <a:rect l="l" t="t" r="r" b="b"/>
              <a:pathLst>
                <a:path w="1397318" h="431482">
                  <a:moveTo>
                    <a:pt x="0" y="0"/>
                  </a:moveTo>
                  <a:lnTo>
                    <a:pt x="1397318" y="43148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2175510" y="4991100"/>
              <a:ext cx="1273493" cy="363855"/>
            </a:xfrm>
            <a:custGeom>
              <a:avLst/>
              <a:gdLst/>
              <a:ahLst/>
              <a:cxnLst/>
              <a:rect l="l" t="t" r="r" b="b"/>
              <a:pathLst>
                <a:path w="1273493" h="363855">
                  <a:moveTo>
                    <a:pt x="1273493" y="0"/>
                  </a:moveTo>
                  <a:lnTo>
                    <a:pt x="0" y="36385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1450658" y="2265045"/>
              <a:ext cx="1498282" cy="366712"/>
            </a:xfrm>
            <a:custGeom>
              <a:avLst/>
              <a:gdLst/>
              <a:ahLst/>
              <a:cxnLst/>
              <a:rect l="l" t="t" r="r" b="b"/>
              <a:pathLst>
                <a:path w="1498282" h="366712">
                  <a:moveTo>
                    <a:pt x="1498282" y="0"/>
                  </a:moveTo>
                  <a:lnTo>
                    <a:pt x="0" y="36671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2948940" y="1443990"/>
              <a:ext cx="629602" cy="821055"/>
            </a:xfrm>
            <a:custGeom>
              <a:avLst/>
              <a:gdLst/>
              <a:ahLst/>
              <a:cxnLst/>
              <a:rect l="l" t="t" r="r" b="b"/>
              <a:pathLst>
                <a:path w="629602" h="821055">
                  <a:moveTo>
                    <a:pt x="0" y="821055"/>
                  </a:moveTo>
                  <a:lnTo>
                    <a:pt x="629602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282690" y="3179445"/>
              <a:ext cx="708660" cy="997267"/>
            </a:xfrm>
            <a:custGeom>
              <a:avLst/>
              <a:gdLst/>
              <a:ahLst/>
              <a:cxnLst/>
              <a:rect l="l" t="t" r="r" b="b"/>
              <a:pathLst>
                <a:path w="708660" h="997267">
                  <a:moveTo>
                    <a:pt x="0" y="997267"/>
                  </a:moveTo>
                  <a:lnTo>
                    <a:pt x="70866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1450658" y="2631758"/>
              <a:ext cx="175260" cy="1643062"/>
            </a:xfrm>
            <a:custGeom>
              <a:avLst/>
              <a:gdLst/>
              <a:ahLst/>
              <a:cxnLst/>
              <a:rect l="l" t="t" r="r" b="b"/>
              <a:pathLst>
                <a:path w="175260" h="1643062">
                  <a:moveTo>
                    <a:pt x="175260" y="164306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1625918" y="4274820"/>
              <a:ext cx="549593" cy="1080135"/>
            </a:xfrm>
            <a:custGeom>
              <a:avLst/>
              <a:gdLst/>
              <a:ahLst/>
              <a:cxnLst/>
              <a:rect l="l" t="t" r="r" b="b"/>
              <a:pathLst>
                <a:path w="549593" h="1080135">
                  <a:moveTo>
                    <a:pt x="0" y="0"/>
                  </a:moveTo>
                  <a:lnTo>
                    <a:pt x="549593" y="108013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5145405" y="1984058"/>
              <a:ext cx="1845945" cy="1195388"/>
            </a:xfrm>
            <a:custGeom>
              <a:avLst/>
              <a:gdLst/>
              <a:ahLst/>
              <a:cxnLst/>
              <a:rect l="l" t="t" r="r" b="b"/>
              <a:pathLst>
                <a:path w="1845945" h="1195388">
                  <a:moveTo>
                    <a:pt x="0" y="0"/>
                  </a:moveTo>
                  <a:lnTo>
                    <a:pt x="1845945" y="1195388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3578542" y="1443990"/>
              <a:ext cx="1566863" cy="540068"/>
            </a:xfrm>
            <a:custGeom>
              <a:avLst/>
              <a:gdLst/>
              <a:ahLst/>
              <a:cxnLst/>
              <a:rect l="l" t="t" r="r" b="b"/>
              <a:pathLst>
                <a:path w="1566863" h="540068">
                  <a:moveTo>
                    <a:pt x="1566863" y="54006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4494848" y="352425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4466272" y="34956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3152775" y="398526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3124200" y="395668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4020502" y="264699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3991928" y="261842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4853940" y="435197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4825365" y="432339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2164080" y="331851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2135505" y="328993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5554028" y="282321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5525452" y="279463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3353752" y="489585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3325178" y="48672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2853690" y="216979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2825115" y="2141220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6187440" y="408146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6158865" y="405288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1530668" y="417957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1502092" y="415099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5050155" y="188880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5021580" y="186023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4751070" y="532733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4722495" y="529875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1355408" y="253650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1326832" y="250793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6896100" y="308419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6867525" y="3055620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2080260" y="525970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2051685" y="5231130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3435668" y="1301115"/>
              <a:ext cx="342900" cy="34290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3407092" y="1272540"/>
              <a:ext cx="342900" cy="342900"/>
            </a:xfrm>
            <a:prstGeom prst="ellipse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810500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26" name="note"/>
          <p:cNvGrpSpPr/>
          <p:nvPr/>
        </p:nvGrpSpPr>
        <p:grpSpPr>
          <a:xfrm>
            <a:off x="8172450" y="1511300"/>
            <a:ext cx="3128962" cy="4268343"/>
            <a:chOff x="8172450" y="1511300"/>
            <a:chExt cx="3128962" cy="4268343"/>
          </a:xfrm>
        </p:grpSpPr>
        <p:sp>
          <p:nvSpPr>
            <p:cNvPr id="89" name="TextBox 89"/>
            <p:cNvSpPr txBox="1"/>
            <p:nvPr/>
          </p:nvSpPr>
          <p:spPr>
            <a:xfrm>
              <a:off x="8172450" y="1511300"/>
              <a:ext cx="218734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spc="-98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WAVE 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183880" y="2546350"/>
              <a:ext cx="2682240" cy="11791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連續幾張投影片用同樣的節點、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wave 0 → 1 → 2 …，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再加上 Morph 轉場，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訊息就會一跳一跳傳開。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186547" y="5588000"/>
              <a:ext cx="27001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FAINT · NETWORK(..., FAINT=TRUE)</a:t>
              </a:r>
            </a:p>
          </p:txBody>
        </p:sp>
        <p:sp>
          <p:nvSpPr>
            <p:cNvPr id="92" name="Line 92"/>
            <p:cNvSpPr/>
            <p:nvPr/>
          </p:nvSpPr>
          <p:spPr>
            <a:xfrm>
              <a:off x="10062210" y="4874895"/>
              <a:ext cx="250507" cy="125730"/>
            </a:xfrm>
            <a:custGeom>
              <a:avLst/>
              <a:gdLst/>
              <a:ahLst/>
              <a:cxnLst/>
              <a:rect l="l" t="t" r="r" b="b"/>
              <a:pathLst>
                <a:path w="250507" h="125730">
                  <a:moveTo>
                    <a:pt x="250507" y="12573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10312718" y="5000625"/>
              <a:ext cx="189547" cy="118110"/>
            </a:xfrm>
            <a:custGeom>
              <a:avLst/>
              <a:gdLst/>
              <a:ahLst/>
              <a:cxnLst/>
              <a:rect l="l" t="t" r="r" b="b"/>
              <a:pathLst>
                <a:path w="189547" h="118110">
                  <a:moveTo>
                    <a:pt x="0" y="0"/>
                  </a:moveTo>
                  <a:lnTo>
                    <a:pt x="189547" y="11811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4" name="Line 94"/>
            <p:cNvSpPr/>
            <p:nvPr/>
          </p:nvSpPr>
          <p:spPr>
            <a:xfrm>
              <a:off x="10312718" y="4766310"/>
              <a:ext cx="292418" cy="234315"/>
            </a:xfrm>
            <a:custGeom>
              <a:avLst/>
              <a:gdLst/>
              <a:ahLst/>
              <a:cxnLst/>
              <a:rect l="l" t="t" r="r" b="b"/>
              <a:pathLst>
                <a:path w="292418" h="234315">
                  <a:moveTo>
                    <a:pt x="0" y="234315"/>
                  </a:moveTo>
                  <a:lnTo>
                    <a:pt x="292418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5" name="Line 95"/>
            <p:cNvSpPr/>
            <p:nvPr/>
          </p:nvSpPr>
          <p:spPr>
            <a:xfrm>
              <a:off x="10312718" y="5000625"/>
              <a:ext cx="135255" cy="258128"/>
            </a:xfrm>
            <a:custGeom>
              <a:avLst/>
              <a:gdLst/>
              <a:ahLst/>
              <a:cxnLst/>
              <a:rect l="l" t="t" r="r" b="b"/>
              <a:pathLst>
                <a:path w="135255" h="258128">
                  <a:moveTo>
                    <a:pt x="0" y="0"/>
                  </a:moveTo>
                  <a:lnTo>
                    <a:pt x="135255" y="258128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6" name="Line 96"/>
            <p:cNvSpPr/>
            <p:nvPr/>
          </p:nvSpPr>
          <p:spPr>
            <a:xfrm>
              <a:off x="9604058" y="4874895"/>
              <a:ext cx="458153" cy="191452"/>
            </a:xfrm>
            <a:custGeom>
              <a:avLst/>
              <a:gdLst/>
              <a:ahLst/>
              <a:cxnLst/>
              <a:rect l="l" t="t" r="r" b="b"/>
              <a:pathLst>
                <a:path w="458153" h="191452">
                  <a:moveTo>
                    <a:pt x="0" y="191452"/>
                  </a:moveTo>
                  <a:lnTo>
                    <a:pt x="458153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7" name="Line 97"/>
            <p:cNvSpPr/>
            <p:nvPr/>
          </p:nvSpPr>
          <p:spPr>
            <a:xfrm>
              <a:off x="9082088" y="4971098"/>
              <a:ext cx="521970" cy="95250"/>
            </a:xfrm>
            <a:custGeom>
              <a:avLst/>
              <a:gdLst/>
              <a:ahLst/>
              <a:cxnLst/>
              <a:rect l="l" t="t" r="r" b="b"/>
              <a:pathLst>
                <a:path w="521970" h="95250">
                  <a:moveTo>
                    <a:pt x="521970" y="95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8" name="Line 98"/>
            <p:cNvSpPr/>
            <p:nvPr/>
          </p:nvSpPr>
          <p:spPr>
            <a:xfrm>
              <a:off x="9604058" y="5066348"/>
              <a:ext cx="105728" cy="130493"/>
            </a:xfrm>
            <a:custGeom>
              <a:avLst/>
              <a:gdLst/>
              <a:ahLst/>
              <a:cxnLst/>
              <a:rect l="l" t="t" r="r" b="b"/>
              <a:pathLst>
                <a:path w="105728" h="130493">
                  <a:moveTo>
                    <a:pt x="0" y="0"/>
                  </a:moveTo>
                  <a:lnTo>
                    <a:pt x="105728" y="130493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9" name="Line 99"/>
            <p:cNvSpPr/>
            <p:nvPr/>
          </p:nvSpPr>
          <p:spPr>
            <a:xfrm>
              <a:off x="9445942" y="4807268"/>
              <a:ext cx="158115" cy="259080"/>
            </a:xfrm>
            <a:custGeom>
              <a:avLst/>
              <a:gdLst/>
              <a:ahLst/>
              <a:cxnLst/>
              <a:rect l="l" t="t" r="r" b="b"/>
              <a:pathLst>
                <a:path w="158115" h="259080">
                  <a:moveTo>
                    <a:pt x="158115" y="25908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0" name="Line 100"/>
            <p:cNvSpPr/>
            <p:nvPr/>
          </p:nvSpPr>
          <p:spPr>
            <a:xfrm>
              <a:off x="8747760" y="5066348"/>
              <a:ext cx="856297" cy="27622"/>
            </a:xfrm>
            <a:custGeom>
              <a:avLst/>
              <a:gdLst/>
              <a:ahLst/>
              <a:cxnLst/>
              <a:rect l="l" t="t" r="r" b="b"/>
              <a:pathLst>
                <a:path w="856297" h="27622">
                  <a:moveTo>
                    <a:pt x="856297" y="0"/>
                  </a:moveTo>
                  <a:lnTo>
                    <a:pt x="0" y="27622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1" name="Line 101"/>
            <p:cNvSpPr/>
            <p:nvPr/>
          </p:nvSpPr>
          <p:spPr>
            <a:xfrm>
              <a:off x="9709785" y="4874895"/>
              <a:ext cx="352425" cy="321945"/>
            </a:xfrm>
            <a:custGeom>
              <a:avLst/>
              <a:gdLst/>
              <a:ahLst/>
              <a:cxnLst/>
              <a:rect l="l" t="t" r="r" b="b"/>
              <a:pathLst>
                <a:path w="352425" h="321945">
                  <a:moveTo>
                    <a:pt x="352425" y="0"/>
                  </a:moveTo>
                  <a:lnTo>
                    <a:pt x="0" y="321945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2" name="Line 102"/>
            <p:cNvSpPr/>
            <p:nvPr/>
          </p:nvSpPr>
          <p:spPr>
            <a:xfrm>
              <a:off x="10502265" y="4900612"/>
              <a:ext cx="369570" cy="218122"/>
            </a:xfrm>
            <a:custGeom>
              <a:avLst/>
              <a:gdLst/>
              <a:ahLst/>
              <a:cxnLst/>
              <a:rect l="l" t="t" r="r" b="b"/>
              <a:pathLst>
                <a:path w="369570" h="218122">
                  <a:moveTo>
                    <a:pt x="0" y="218122"/>
                  </a:moveTo>
                  <a:lnTo>
                    <a:pt x="36957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3" name="Line 103"/>
            <p:cNvSpPr/>
            <p:nvPr/>
          </p:nvSpPr>
          <p:spPr>
            <a:xfrm>
              <a:off x="10502265" y="5080635"/>
              <a:ext cx="703898" cy="38100"/>
            </a:xfrm>
            <a:custGeom>
              <a:avLst/>
              <a:gdLst/>
              <a:ahLst/>
              <a:cxnLst/>
              <a:rect l="l" t="t" r="r" b="b"/>
              <a:pathLst>
                <a:path w="703898" h="38100">
                  <a:moveTo>
                    <a:pt x="0" y="38100"/>
                  </a:moveTo>
                  <a:lnTo>
                    <a:pt x="703898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4" name="Line 104"/>
            <p:cNvSpPr/>
            <p:nvPr/>
          </p:nvSpPr>
          <p:spPr>
            <a:xfrm>
              <a:off x="10502265" y="4766310"/>
              <a:ext cx="102870" cy="352425"/>
            </a:xfrm>
            <a:custGeom>
              <a:avLst/>
              <a:gdLst/>
              <a:ahLst/>
              <a:cxnLst/>
              <a:rect l="l" t="t" r="r" b="b"/>
              <a:pathLst>
                <a:path w="102870" h="352425">
                  <a:moveTo>
                    <a:pt x="0" y="352425"/>
                  </a:moveTo>
                  <a:lnTo>
                    <a:pt x="10287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10447972" y="5118735"/>
              <a:ext cx="54292" cy="140018"/>
            </a:xfrm>
            <a:custGeom>
              <a:avLst/>
              <a:gdLst/>
              <a:ahLst/>
              <a:cxnLst/>
              <a:rect l="l" t="t" r="r" b="b"/>
              <a:pathLst>
                <a:path w="54292" h="140018">
                  <a:moveTo>
                    <a:pt x="54292" y="0"/>
                  </a:moveTo>
                  <a:lnTo>
                    <a:pt x="0" y="140018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9082088" y="4807268"/>
              <a:ext cx="363855" cy="163830"/>
            </a:xfrm>
            <a:custGeom>
              <a:avLst/>
              <a:gdLst/>
              <a:ahLst/>
              <a:cxnLst/>
              <a:rect l="l" t="t" r="r" b="b"/>
              <a:pathLst>
                <a:path w="363855" h="163830">
                  <a:moveTo>
                    <a:pt x="0" y="163830"/>
                  </a:moveTo>
                  <a:lnTo>
                    <a:pt x="363855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8747760" y="4971098"/>
              <a:ext cx="334328" cy="122872"/>
            </a:xfrm>
            <a:custGeom>
              <a:avLst/>
              <a:gdLst/>
              <a:ahLst/>
              <a:cxnLst/>
              <a:rect l="l" t="t" r="r" b="b"/>
              <a:pathLst>
                <a:path w="334328" h="122872">
                  <a:moveTo>
                    <a:pt x="334328" y="0"/>
                  </a:moveTo>
                  <a:lnTo>
                    <a:pt x="0" y="122872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8" name="Line 108"/>
            <p:cNvSpPr/>
            <p:nvPr/>
          </p:nvSpPr>
          <p:spPr>
            <a:xfrm>
              <a:off x="10871835" y="4900612"/>
              <a:ext cx="334327" cy="180022"/>
            </a:xfrm>
            <a:custGeom>
              <a:avLst/>
              <a:gdLst/>
              <a:ahLst/>
              <a:cxnLst/>
              <a:rect l="l" t="t" r="r" b="b"/>
              <a:pathLst>
                <a:path w="334327" h="180022">
                  <a:moveTo>
                    <a:pt x="0" y="0"/>
                  </a:moveTo>
                  <a:lnTo>
                    <a:pt x="334327" y="180022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10605135" y="4766310"/>
              <a:ext cx="266700" cy="134303"/>
            </a:xfrm>
            <a:custGeom>
              <a:avLst/>
              <a:gdLst/>
              <a:ahLst/>
              <a:cxnLst/>
              <a:rect l="l" t="t" r="r" b="b"/>
              <a:pathLst>
                <a:path w="266700" h="134303">
                  <a:moveTo>
                    <a:pt x="266700" y="13430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9445942" y="4807268"/>
              <a:ext cx="263842" cy="389573"/>
            </a:xfrm>
            <a:custGeom>
              <a:avLst/>
              <a:gdLst/>
              <a:ahLst/>
              <a:cxnLst/>
              <a:rect l="l" t="t" r="r" b="b"/>
              <a:pathLst>
                <a:path w="263842" h="389573">
                  <a:moveTo>
                    <a:pt x="263842" y="38957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1" name="Line 111"/>
            <p:cNvSpPr/>
            <p:nvPr/>
          </p:nvSpPr>
          <p:spPr>
            <a:xfrm>
              <a:off x="8747760" y="4807268"/>
              <a:ext cx="698183" cy="286702"/>
            </a:xfrm>
            <a:custGeom>
              <a:avLst/>
              <a:gdLst/>
              <a:ahLst/>
              <a:cxnLst/>
              <a:rect l="l" t="t" r="r" b="b"/>
              <a:pathLst>
                <a:path w="698183" h="286702">
                  <a:moveTo>
                    <a:pt x="698183" y="0"/>
                  </a:moveTo>
                  <a:lnTo>
                    <a:pt x="0" y="286702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2" name="Line 112"/>
            <p:cNvSpPr/>
            <p:nvPr/>
          </p:nvSpPr>
          <p:spPr>
            <a:xfrm>
              <a:off x="10605135" y="4766310"/>
              <a:ext cx="601027" cy="314325"/>
            </a:xfrm>
            <a:custGeom>
              <a:avLst/>
              <a:gdLst/>
              <a:ahLst/>
              <a:cxnLst/>
              <a:rect l="l" t="t" r="r" b="b"/>
              <a:pathLst>
                <a:path w="601027" h="314325">
                  <a:moveTo>
                    <a:pt x="601027" y="3143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3" name="Line 113"/>
            <p:cNvSpPr/>
            <p:nvPr/>
          </p:nvSpPr>
          <p:spPr>
            <a:xfrm>
              <a:off x="10447972" y="4766310"/>
              <a:ext cx="157162" cy="492443"/>
            </a:xfrm>
            <a:custGeom>
              <a:avLst/>
              <a:gdLst/>
              <a:ahLst/>
              <a:cxnLst/>
              <a:rect l="l" t="t" r="r" b="b"/>
              <a:pathLst>
                <a:path w="157162" h="492443">
                  <a:moveTo>
                    <a:pt x="157162" y="0"/>
                  </a:moveTo>
                  <a:lnTo>
                    <a:pt x="0" y="492443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4" name="Ellipse 114"/>
            <p:cNvSpPr/>
            <p:nvPr/>
          </p:nvSpPr>
          <p:spPr>
            <a:xfrm>
              <a:off x="10217468" y="490537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5" name="Ellipse 115"/>
            <p:cNvSpPr/>
            <p:nvPr/>
          </p:nvSpPr>
          <p:spPr>
            <a:xfrm>
              <a:off x="9508808" y="4971098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6" name="Ellipse 116"/>
            <p:cNvSpPr/>
            <p:nvPr/>
          </p:nvSpPr>
          <p:spPr>
            <a:xfrm>
              <a:off x="9966960" y="477964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7" name="Ellipse 117"/>
            <p:cNvSpPr/>
            <p:nvPr/>
          </p:nvSpPr>
          <p:spPr>
            <a:xfrm>
              <a:off x="10407015" y="502348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8" name="Ellipse 118"/>
            <p:cNvSpPr/>
            <p:nvPr/>
          </p:nvSpPr>
          <p:spPr>
            <a:xfrm>
              <a:off x="8986838" y="4875848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9" name="Ellipse 119"/>
            <p:cNvSpPr/>
            <p:nvPr/>
          </p:nvSpPr>
          <p:spPr>
            <a:xfrm>
              <a:off x="10776585" y="480536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0" name="Ellipse 120"/>
            <p:cNvSpPr/>
            <p:nvPr/>
          </p:nvSpPr>
          <p:spPr>
            <a:xfrm>
              <a:off x="9614535" y="510159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1" name="Ellipse 121"/>
            <p:cNvSpPr/>
            <p:nvPr/>
          </p:nvSpPr>
          <p:spPr>
            <a:xfrm>
              <a:off x="9350692" y="4712018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2" name="Ellipse 122"/>
            <p:cNvSpPr/>
            <p:nvPr/>
          </p:nvSpPr>
          <p:spPr>
            <a:xfrm>
              <a:off x="11110912" y="498538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3" name="Ellipse 123"/>
            <p:cNvSpPr/>
            <p:nvPr/>
          </p:nvSpPr>
          <p:spPr>
            <a:xfrm>
              <a:off x="8652510" y="499872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4" name="Ellipse 124"/>
            <p:cNvSpPr/>
            <p:nvPr/>
          </p:nvSpPr>
          <p:spPr>
            <a:xfrm>
              <a:off x="10509885" y="467106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5" name="Ellipse 125"/>
            <p:cNvSpPr/>
            <p:nvPr/>
          </p:nvSpPr>
          <p:spPr>
            <a:xfrm>
              <a:off x="10352722" y="516350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23705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網路傳播 GOSSIP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07647" y="320675"/>
              <a:ext cx="1041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KIT · MORPH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88" name="net"/>
          <p:cNvGrpSpPr/>
          <p:nvPr/>
        </p:nvGrpSpPr>
        <p:grpSpPr>
          <a:xfrm>
            <a:off x="376047" y="685800"/>
            <a:ext cx="7463028" cy="6172200"/>
            <a:chOff x="376047" y="685800"/>
            <a:chExt cx="7463028" cy="6172200"/>
          </a:xfrm>
        </p:grpSpPr>
        <p:sp>
          <p:nvSpPr>
            <p:cNvPr id="25" name="TextBox 25"/>
            <p:cNvSpPr txBox="1"/>
            <p:nvPr/>
          </p:nvSpPr>
          <p:spPr>
            <a:xfrm>
              <a:off x="376047" y="901700"/>
              <a:ext cx="29044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NETWORK(X, Y, W, H, N=16, WAVE=1)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248025" y="3619500"/>
              <a:ext cx="1342072" cy="461010"/>
            </a:xfrm>
            <a:custGeom>
              <a:avLst/>
              <a:gdLst/>
              <a:ahLst/>
              <a:cxnLst/>
              <a:rect l="l" t="t" r="r" b="b"/>
              <a:pathLst>
                <a:path w="1342072" h="461010">
                  <a:moveTo>
                    <a:pt x="1342072" y="0"/>
                  </a:moveTo>
                  <a:lnTo>
                    <a:pt x="0" y="46101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115752" y="2742248"/>
              <a:ext cx="474345" cy="877253"/>
            </a:xfrm>
            <a:custGeom>
              <a:avLst/>
              <a:gdLst/>
              <a:ahLst/>
              <a:cxnLst/>
              <a:rect l="l" t="t" r="r" b="b"/>
              <a:pathLst>
                <a:path w="474345" h="877253">
                  <a:moveTo>
                    <a:pt x="474345" y="87725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590098" y="3619500"/>
              <a:ext cx="359093" cy="827722"/>
            </a:xfrm>
            <a:custGeom>
              <a:avLst/>
              <a:gdLst/>
              <a:ahLst/>
              <a:cxnLst/>
              <a:rect l="l" t="t" r="r" b="b"/>
              <a:pathLst>
                <a:path w="359093" h="827722">
                  <a:moveTo>
                    <a:pt x="0" y="0"/>
                  </a:moveTo>
                  <a:lnTo>
                    <a:pt x="359093" y="82772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4590098" y="2918460"/>
              <a:ext cx="1059180" cy="701040"/>
            </a:xfrm>
            <a:custGeom>
              <a:avLst/>
              <a:gdLst/>
              <a:ahLst/>
              <a:cxnLst/>
              <a:rect l="l" t="t" r="r" b="b"/>
              <a:pathLst>
                <a:path w="1059180" h="701040">
                  <a:moveTo>
                    <a:pt x="0" y="701040"/>
                  </a:moveTo>
                  <a:lnTo>
                    <a:pt x="105918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4590098" y="3619500"/>
              <a:ext cx="256223" cy="1803082"/>
            </a:xfrm>
            <a:custGeom>
              <a:avLst/>
              <a:gdLst/>
              <a:ahLst/>
              <a:cxnLst/>
              <a:rect l="l" t="t" r="r" b="b"/>
              <a:pathLst>
                <a:path w="256223" h="1803082">
                  <a:moveTo>
                    <a:pt x="0" y="0"/>
                  </a:moveTo>
                  <a:lnTo>
                    <a:pt x="256223" y="180308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259330" y="3413760"/>
              <a:ext cx="988695" cy="666750"/>
            </a:xfrm>
            <a:custGeom>
              <a:avLst/>
              <a:gdLst/>
              <a:ahLst/>
              <a:cxnLst/>
              <a:rect l="l" t="t" r="r" b="b"/>
              <a:pathLst>
                <a:path w="988695" h="666750">
                  <a:moveTo>
                    <a:pt x="988695" y="666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3248025" y="4080510"/>
              <a:ext cx="200978" cy="910590"/>
            </a:xfrm>
            <a:custGeom>
              <a:avLst/>
              <a:gdLst/>
              <a:ahLst/>
              <a:cxnLst/>
              <a:rect l="l" t="t" r="r" b="b"/>
              <a:pathLst>
                <a:path w="200978" h="910590">
                  <a:moveTo>
                    <a:pt x="0" y="0"/>
                  </a:moveTo>
                  <a:lnTo>
                    <a:pt x="200978" y="91059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625918" y="4080510"/>
              <a:ext cx="1622108" cy="194310"/>
            </a:xfrm>
            <a:custGeom>
              <a:avLst/>
              <a:gdLst/>
              <a:ahLst/>
              <a:cxnLst/>
              <a:rect l="l" t="t" r="r" b="b"/>
              <a:pathLst>
                <a:path w="1622108" h="194310">
                  <a:moveTo>
                    <a:pt x="1622108" y="0"/>
                  </a:moveTo>
                  <a:lnTo>
                    <a:pt x="0" y="19431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175510" y="4080510"/>
              <a:ext cx="1072515" cy="1274445"/>
            </a:xfrm>
            <a:custGeom>
              <a:avLst/>
              <a:gdLst/>
              <a:ahLst/>
              <a:cxnLst/>
              <a:rect l="l" t="t" r="r" b="b"/>
              <a:pathLst>
                <a:path w="1072515" h="1274445">
                  <a:moveTo>
                    <a:pt x="1072515" y="0"/>
                  </a:moveTo>
                  <a:lnTo>
                    <a:pt x="0" y="127444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2948940" y="2265045"/>
              <a:ext cx="1166812" cy="477202"/>
            </a:xfrm>
            <a:custGeom>
              <a:avLst/>
              <a:gdLst/>
              <a:ahLst/>
              <a:cxnLst/>
              <a:rect l="l" t="t" r="r" b="b"/>
              <a:pathLst>
                <a:path w="1166812" h="477202">
                  <a:moveTo>
                    <a:pt x="1166812" y="47720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115752" y="1984058"/>
              <a:ext cx="1029653" cy="758190"/>
            </a:xfrm>
            <a:custGeom>
              <a:avLst/>
              <a:gdLst/>
              <a:ahLst/>
              <a:cxnLst/>
              <a:rect l="l" t="t" r="r" b="b"/>
              <a:pathLst>
                <a:path w="1029653" h="758190">
                  <a:moveTo>
                    <a:pt x="0" y="758190"/>
                  </a:moveTo>
                  <a:lnTo>
                    <a:pt x="1029653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3578542" y="1443990"/>
              <a:ext cx="537210" cy="1298257"/>
            </a:xfrm>
            <a:custGeom>
              <a:avLst/>
              <a:gdLst/>
              <a:ahLst/>
              <a:cxnLst/>
              <a:rect l="l" t="t" r="r" b="b"/>
              <a:pathLst>
                <a:path w="537210" h="1298257">
                  <a:moveTo>
                    <a:pt x="537210" y="1298257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4949190" y="4176712"/>
              <a:ext cx="1333500" cy="270510"/>
            </a:xfrm>
            <a:custGeom>
              <a:avLst/>
              <a:gdLst/>
              <a:ahLst/>
              <a:cxnLst/>
              <a:rect l="l" t="t" r="r" b="b"/>
              <a:pathLst>
                <a:path w="1333500" h="270510">
                  <a:moveTo>
                    <a:pt x="0" y="27051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4846320" y="4447222"/>
              <a:ext cx="102870" cy="975360"/>
            </a:xfrm>
            <a:custGeom>
              <a:avLst/>
              <a:gdLst/>
              <a:ahLst/>
              <a:cxnLst/>
              <a:rect l="l" t="t" r="r" b="b"/>
              <a:pathLst>
                <a:path w="102870" h="975360">
                  <a:moveTo>
                    <a:pt x="102870" y="0"/>
                  </a:moveTo>
                  <a:lnTo>
                    <a:pt x="0" y="97536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2259330" y="2265045"/>
              <a:ext cx="689610" cy="1148715"/>
            </a:xfrm>
            <a:custGeom>
              <a:avLst/>
              <a:gdLst/>
              <a:ahLst/>
              <a:cxnLst/>
              <a:rect l="l" t="t" r="r" b="b"/>
              <a:pathLst>
                <a:path w="689610" h="1148715">
                  <a:moveTo>
                    <a:pt x="0" y="1148715"/>
                  </a:moveTo>
                  <a:lnTo>
                    <a:pt x="68961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1625918" y="3413760"/>
              <a:ext cx="633412" cy="861060"/>
            </a:xfrm>
            <a:custGeom>
              <a:avLst/>
              <a:gdLst/>
              <a:ahLst/>
              <a:cxnLst/>
              <a:rect l="l" t="t" r="r" b="b"/>
              <a:pathLst>
                <a:path w="633412" h="861060">
                  <a:moveTo>
                    <a:pt x="633412" y="0"/>
                  </a:moveTo>
                  <a:lnTo>
                    <a:pt x="0" y="86106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450658" y="2631758"/>
              <a:ext cx="808672" cy="782002"/>
            </a:xfrm>
            <a:custGeom>
              <a:avLst/>
              <a:gdLst/>
              <a:ahLst/>
              <a:cxnLst/>
              <a:rect l="l" t="t" r="r" b="b"/>
              <a:pathLst>
                <a:path w="808672" h="782002">
                  <a:moveTo>
                    <a:pt x="808672" y="78200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649278" y="2918460"/>
              <a:ext cx="633412" cy="1258253"/>
            </a:xfrm>
            <a:custGeom>
              <a:avLst/>
              <a:gdLst/>
              <a:ahLst/>
              <a:cxnLst/>
              <a:rect l="l" t="t" r="r" b="b"/>
              <a:pathLst>
                <a:path w="633412" h="1258253">
                  <a:moveTo>
                    <a:pt x="0" y="0"/>
                  </a:moveTo>
                  <a:lnTo>
                    <a:pt x="633412" y="1258253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5145405" y="1984058"/>
              <a:ext cx="503872" cy="934402"/>
            </a:xfrm>
            <a:custGeom>
              <a:avLst/>
              <a:gdLst/>
              <a:ahLst/>
              <a:cxnLst/>
              <a:rect l="l" t="t" r="r" b="b"/>
              <a:pathLst>
                <a:path w="503872" h="934402">
                  <a:moveTo>
                    <a:pt x="503872" y="93440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5649278" y="2918460"/>
              <a:ext cx="1342072" cy="260985"/>
            </a:xfrm>
            <a:custGeom>
              <a:avLst/>
              <a:gdLst/>
              <a:ahLst/>
              <a:cxnLst/>
              <a:rect l="l" t="t" r="r" b="b"/>
              <a:pathLst>
                <a:path w="1342072" h="260985">
                  <a:moveTo>
                    <a:pt x="0" y="0"/>
                  </a:moveTo>
                  <a:lnTo>
                    <a:pt x="1342072" y="26098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449002" y="4991100"/>
              <a:ext cx="1397318" cy="431482"/>
            </a:xfrm>
            <a:custGeom>
              <a:avLst/>
              <a:gdLst/>
              <a:ahLst/>
              <a:cxnLst/>
              <a:rect l="l" t="t" r="r" b="b"/>
              <a:pathLst>
                <a:path w="1397318" h="431482">
                  <a:moveTo>
                    <a:pt x="0" y="0"/>
                  </a:moveTo>
                  <a:lnTo>
                    <a:pt x="1397318" y="43148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2175510" y="4991100"/>
              <a:ext cx="1273493" cy="363855"/>
            </a:xfrm>
            <a:custGeom>
              <a:avLst/>
              <a:gdLst/>
              <a:ahLst/>
              <a:cxnLst/>
              <a:rect l="l" t="t" r="r" b="b"/>
              <a:pathLst>
                <a:path w="1273493" h="363855">
                  <a:moveTo>
                    <a:pt x="1273493" y="0"/>
                  </a:moveTo>
                  <a:lnTo>
                    <a:pt x="0" y="36385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1450658" y="2265045"/>
              <a:ext cx="1498282" cy="366712"/>
            </a:xfrm>
            <a:custGeom>
              <a:avLst/>
              <a:gdLst/>
              <a:ahLst/>
              <a:cxnLst/>
              <a:rect l="l" t="t" r="r" b="b"/>
              <a:pathLst>
                <a:path w="1498282" h="366712">
                  <a:moveTo>
                    <a:pt x="1498282" y="0"/>
                  </a:moveTo>
                  <a:lnTo>
                    <a:pt x="0" y="36671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2948940" y="1443990"/>
              <a:ext cx="629602" cy="821055"/>
            </a:xfrm>
            <a:custGeom>
              <a:avLst/>
              <a:gdLst/>
              <a:ahLst/>
              <a:cxnLst/>
              <a:rect l="l" t="t" r="r" b="b"/>
              <a:pathLst>
                <a:path w="629602" h="821055">
                  <a:moveTo>
                    <a:pt x="0" y="821055"/>
                  </a:moveTo>
                  <a:lnTo>
                    <a:pt x="629602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282690" y="3179445"/>
              <a:ext cx="708660" cy="997267"/>
            </a:xfrm>
            <a:custGeom>
              <a:avLst/>
              <a:gdLst/>
              <a:ahLst/>
              <a:cxnLst/>
              <a:rect l="l" t="t" r="r" b="b"/>
              <a:pathLst>
                <a:path w="708660" h="997267">
                  <a:moveTo>
                    <a:pt x="0" y="997267"/>
                  </a:moveTo>
                  <a:lnTo>
                    <a:pt x="70866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1450658" y="2631758"/>
              <a:ext cx="175260" cy="1643062"/>
            </a:xfrm>
            <a:custGeom>
              <a:avLst/>
              <a:gdLst/>
              <a:ahLst/>
              <a:cxnLst/>
              <a:rect l="l" t="t" r="r" b="b"/>
              <a:pathLst>
                <a:path w="175260" h="1643062">
                  <a:moveTo>
                    <a:pt x="175260" y="164306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1625918" y="4274820"/>
              <a:ext cx="549593" cy="1080135"/>
            </a:xfrm>
            <a:custGeom>
              <a:avLst/>
              <a:gdLst/>
              <a:ahLst/>
              <a:cxnLst/>
              <a:rect l="l" t="t" r="r" b="b"/>
              <a:pathLst>
                <a:path w="549593" h="1080135">
                  <a:moveTo>
                    <a:pt x="0" y="0"/>
                  </a:moveTo>
                  <a:lnTo>
                    <a:pt x="549593" y="108013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5145405" y="1984058"/>
              <a:ext cx="1845945" cy="1195388"/>
            </a:xfrm>
            <a:custGeom>
              <a:avLst/>
              <a:gdLst/>
              <a:ahLst/>
              <a:cxnLst/>
              <a:rect l="l" t="t" r="r" b="b"/>
              <a:pathLst>
                <a:path w="1845945" h="1195388">
                  <a:moveTo>
                    <a:pt x="0" y="0"/>
                  </a:moveTo>
                  <a:lnTo>
                    <a:pt x="1845945" y="1195388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3578542" y="1443990"/>
              <a:ext cx="1566863" cy="540068"/>
            </a:xfrm>
            <a:custGeom>
              <a:avLst/>
              <a:gdLst/>
              <a:ahLst/>
              <a:cxnLst/>
              <a:rect l="l" t="t" r="r" b="b"/>
              <a:pathLst>
                <a:path w="1566863" h="540068">
                  <a:moveTo>
                    <a:pt x="1566863" y="540068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4494848" y="352425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4466272" y="34956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3152775" y="398526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3124200" y="395668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4020502" y="264699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3991928" y="2618422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4853940" y="435197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4825365" y="432339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2164080" y="331851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2135505" y="328993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5554028" y="282321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5525452" y="279463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3353752" y="489585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3325178" y="48672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2853690" y="216979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2825115" y="2141220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6187440" y="408146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6158865" y="405288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1530668" y="417957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1502092" y="415099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5050155" y="188880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5021580" y="1860232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4751070" y="532733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4722495" y="529875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1355408" y="253650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1326832" y="2507932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6896100" y="308419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6867525" y="3055620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2080260" y="525970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2051685" y="5231130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3435668" y="1301115"/>
              <a:ext cx="342900" cy="34290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3407092" y="1272540"/>
              <a:ext cx="342900" cy="342900"/>
            </a:xfrm>
            <a:prstGeom prst="ellipse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810500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26" name="note"/>
          <p:cNvGrpSpPr/>
          <p:nvPr/>
        </p:nvGrpSpPr>
        <p:grpSpPr>
          <a:xfrm>
            <a:off x="8172450" y="1511300"/>
            <a:ext cx="3128962" cy="4268343"/>
            <a:chOff x="8172450" y="1511300"/>
            <a:chExt cx="3128962" cy="4268343"/>
          </a:xfrm>
        </p:grpSpPr>
        <p:sp>
          <p:nvSpPr>
            <p:cNvPr id="89" name="TextBox 89"/>
            <p:cNvSpPr txBox="1"/>
            <p:nvPr/>
          </p:nvSpPr>
          <p:spPr>
            <a:xfrm>
              <a:off x="8172450" y="1511300"/>
              <a:ext cx="218734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spc="-98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WAVE 1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183880" y="2546350"/>
              <a:ext cx="2682240" cy="11791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連續幾張投影片用同樣的節點、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wave 0 → 1 → 2 …，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再加上 Morph 轉場，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訊息就會一跳一跳傳開。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186547" y="5588000"/>
              <a:ext cx="27001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FAINT · NETWORK(..., FAINT=TRUE)</a:t>
              </a:r>
            </a:p>
          </p:txBody>
        </p:sp>
        <p:sp>
          <p:nvSpPr>
            <p:cNvPr id="92" name="Line 92"/>
            <p:cNvSpPr/>
            <p:nvPr/>
          </p:nvSpPr>
          <p:spPr>
            <a:xfrm>
              <a:off x="10062210" y="4874895"/>
              <a:ext cx="250507" cy="125730"/>
            </a:xfrm>
            <a:custGeom>
              <a:avLst/>
              <a:gdLst/>
              <a:ahLst/>
              <a:cxnLst/>
              <a:rect l="l" t="t" r="r" b="b"/>
              <a:pathLst>
                <a:path w="250507" h="125730">
                  <a:moveTo>
                    <a:pt x="250507" y="12573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10312718" y="5000625"/>
              <a:ext cx="189547" cy="118110"/>
            </a:xfrm>
            <a:custGeom>
              <a:avLst/>
              <a:gdLst/>
              <a:ahLst/>
              <a:cxnLst/>
              <a:rect l="l" t="t" r="r" b="b"/>
              <a:pathLst>
                <a:path w="189547" h="118110">
                  <a:moveTo>
                    <a:pt x="0" y="0"/>
                  </a:moveTo>
                  <a:lnTo>
                    <a:pt x="189547" y="11811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4" name="Line 94"/>
            <p:cNvSpPr/>
            <p:nvPr/>
          </p:nvSpPr>
          <p:spPr>
            <a:xfrm>
              <a:off x="10312718" y="4766310"/>
              <a:ext cx="292418" cy="234315"/>
            </a:xfrm>
            <a:custGeom>
              <a:avLst/>
              <a:gdLst/>
              <a:ahLst/>
              <a:cxnLst/>
              <a:rect l="l" t="t" r="r" b="b"/>
              <a:pathLst>
                <a:path w="292418" h="234315">
                  <a:moveTo>
                    <a:pt x="0" y="234315"/>
                  </a:moveTo>
                  <a:lnTo>
                    <a:pt x="292418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5" name="Line 95"/>
            <p:cNvSpPr/>
            <p:nvPr/>
          </p:nvSpPr>
          <p:spPr>
            <a:xfrm>
              <a:off x="10312718" y="5000625"/>
              <a:ext cx="135255" cy="258128"/>
            </a:xfrm>
            <a:custGeom>
              <a:avLst/>
              <a:gdLst/>
              <a:ahLst/>
              <a:cxnLst/>
              <a:rect l="l" t="t" r="r" b="b"/>
              <a:pathLst>
                <a:path w="135255" h="258128">
                  <a:moveTo>
                    <a:pt x="0" y="0"/>
                  </a:moveTo>
                  <a:lnTo>
                    <a:pt x="135255" y="258128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6" name="Line 96"/>
            <p:cNvSpPr/>
            <p:nvPr/>
          </p:nvSpPr>
          <p:spPr>
            <a:xfrm>
              <a:off x="9604058" y="4874895"/>
              <a:ext cx="458153" cy="191452"/>
            </a:xfrm>
            <a:custGeom>
              <a:avLst/>
              <a:gdLst/>
              <a:ahLst/>
              <a:cxnLst/>
              <a:rect l="l" t="t" r="r" b="b"/>
              <a:pathLst>
                <a:path w="458153" h="191452">
                  <a:moveTo>
                    <a:pt x="0" y="191452"/>
                  </a:moveTo>
                  <a:lnTo>
                    <a:pt x="458153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7" name="Line 97"/>
            <p:cNvSpPr/>
            <p:nvPr/>
          </p:nvSpPr>
          <p:spPr>
            <a:xfrm>
              <a:off x="9082088" y="4971098"/>
              <a:ext cx="521970" cy="95250"/>
            </a:xfrm>
            <a:custGeom>
              <a:avLst/>
              <a:gdLst/>
              <a:ahLst/>
              <a:cxnLst/>
              <a:rect l="l" t="t" r="r" b="b"/>
              <a:pathLst>
                <a:path w="521970" h="95250">
                  <a:moveTo>
                    <a:pt x="521970" y="95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8" name="Line 98"/>
            <p:cNvSpPr/>
            <p:nvPr/>
          </p:nvSpPr>
          <p:spPr>
            <a:xfrm>
              <a:off x="9604058" y="5066348"/>
              <a:ext cx="105728" cy="130493"/>
            </a:xfrm>
            <a:custGeom>
              <a:avLst/>
              <a:gdLst/>
              <a:ahLst/>
              <a:cxnLst/>
              <a:rect l="l" t="t" r="r" b="b"/>
              <a:pathLst>
                <a:path w="105728" h="130493">
                  <a:moveTo>
                    <a:pt x="0" y="0"/>
                  </a:moveTo>
                  <a:lnTo>
                    <a:pt x="105728" y="130493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9" name="Line 99"/>
            <p:cNvSpPr/>
            <p:nvPr/>
          </p:nvSpPr>
          <p:spPr>
            <a:xfrm>
              <a:off x="9445942" y="4807268"/>
              <a:ext cx="158115" cy="259080"/>
            </a:xfrm>
            <a:custGeom>
              <a:avLst/>
              <a:gdLst/>
              <a:ahLst/>
              <a:cxnLst/>
              <a:rect l="l" t="t" r="r" b="b"/>
              <a:pathLst>
                <a:path w="158115" h="259080">
                  <a:moveTo>
                    <a:pt x="158115" y="25908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0" name="Line 100"/>
            <p:cNvSpPr/>
            <p:nvPr/>
          </p:nvSpPr>
          <p:spPr>
            <a:xfrm>
              <a:off x="8747760" y="5066348"/>
              <a:ext cx="856297" cy="27622"/>
            </a:xfrm>
            <a:custGeom>
              <a:avLst/>
              <a:gdLst/>
              <a:ahLst/>
              <a:cxnLst/>
              <a:rect l="l" t="t" r="r" b="b"/>
              <a:pathLst>
                <a:path w="856297" h="27622">
                  <a:moveTo>
                    <a:pt x="856297" y="0"/>
                  </a:moveTo>
                  <a:lnTo>
                    <a:pt x="0" y="27622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1" name="Line 101"/>
            <p:cNvSpPr/>
            <p:nvPr/>
          </p:nvSpPr>
          <p:spPr>
            <a:xfrm>
              <a:off x="9709785" y="4874895"/>
              <a:ext cx="352425" cy="321945"/>
            </a:xfrm>
            <a:custGeom>
              <a:avLst/>
              <a:gdLst/>
              <a:ahLst/>
              <a:cxnLst/>
              <a:rect l="l" t="t" r="r" b="b"/>
              <a:pathLst>
                <a:path w="352425" h="321945">
                  <a:moveTo>
                    <a:pt x="352425" y="0"/>
                  </a:moveTo>
                  <a:lnTo>
                    <a:pt x="0" y="321945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2" name="Line 102"/>
            <p:cNvSpPr/>
            <p:nvPr/>
          </p:nvSpPr>
          <p:spPr>
            <a:xfrm>
              <a:off x="10502265" y="4900612"/>
              <a:ext cx="369570" cy="218122"/>
            </a:xfrm>
            <a:custGeom>
              <a:avLst/>
              <a:gdLst/>
              <a:ahLst/>
              <a:cxnLst/>
              <a:rect l="l" t="t" r="r" b="b"/>
              <a:pathLst>
                <a:path w="369570" h="218122">
                  <a:moveTo>
                    <a:pt x="0" y="218122"/>
                  </a:moveTo>
                  <a:lnTo>
                    <a:pt x="36957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3" name="Line 103"/>
            <p:cNvSpPr/>
            <p:nvPr/>
          </p:nvSpPr>
          <p:spPr>
            <a:xfrm>
              <a:off x="10502265" y="5080635"/>
              <a:ext cx="703898" cy="38100"/>
            </a:xfrm>
            <a:custGeom>
              <a:avLst/>
              <a:gdLst/>
              <a:ahLst/>
              <a:cxnLst/>
              <a:rect l="l" t="t" r="r" b="b"/>
              <a:pathLst>
                <a:path w="703898" h="38100">
                  <a:moveTo>
                    <a:pt x="0" y="38100"/>
                  </a:moveTo>
                  <a:lnTo>
                    <a:pt x="703898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4" name="Line 104"/>
            <p:cNvSpPr/>
            <p:nvPr/>
          </p:nvSpPr>
          <p:spPr>
            <a:xfrm>
              <a:off x="10502265" y="4766310"/>
              <a:ext cx="102870" cy="352425"/>
            </a:xfrm>
            <a:custGeom>
              <a:avLst/>
              <a:gdLst/>
              <a:ahLst/>
              <a:cxnLst/>
              <a:rect l="l" t="t" r="r" b="b"/>
              <a:pathLst>
                <a:path w="102870" h="352425">
                  <a:moveTo>
                    <a:pt x="0" y="352425"/>
                  </a:moveTo>
                  <a:lnTo>
                    <a:pt x="10287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10447972" y="5118735"/>
              <a:ext cx="54292" cy="140018"/>
            </a:xfrm>
            <a:custGeom>
              <a:avLst/>
              <a:gdLst/>
              <a:ahLst/>
              <a:cxnLst/>
              <a:rect l="l" t="t" r="r" b="b"/>
              <a:pathLst>
                <a:path w="54292" h="140018">
                  <a:moveTo>
                    <a:pt x="54292" y="0"/>
                  </a:moveTo>
                  <a:lnTo>
                    <a:pt x="0" y="140018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9082088" y="4807268"/>
              <a:ext cx="363855" cy="163830"/>
            </a:xfrm>
            <a:custGeom>
              <a:avLst/>
              <a:gdLst/>
              <a:ahLst/>
              <a:cxnLst/>
              <a:rect l="l" t="t" r="r" b="b"/>
              <a:pathLst>
                <a:path w="363855" h="163830">
                  <a:moveTo>
                    <a:pt x="0" y="163830"/>
                  </a:moveTo>
                  <a:lnTo>
                    <a:pt x="363855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8747760" y="4971098"/>
              <a:ext cx="334328" cy="122872"/>
            </a:xfrm>
            <a:custGeom>
              <a:avLst/>
              <a:gdLst/>
              <a:ahLst/>
              <a:cxnLst/>
              <a:rect l="l" t="t" r="r" b="b"/>
              <a:pathLst>
                <a:path w="334328" h="122872">
                  <a:moveTo>
                    <a:pt x="334328" y="0"/>
                  </a:moveTo>
                  <a:lnTo>
                    <a:pt x="0" y="122872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8" name="Line 108"/>
            <p:cNvSpPr/>
            <p:nvPr/>
          </p:nvSpPr>
          <p:spPr>
            <a:xfrm>
              <a:off x="10871835" y="4900612"/>
              <a:ext cx="334327" cy="180022"/>
            </a:xfrm>
            <a:custGeom>
              <a:avLst/>
              <a:gdLst/>
              <a:ahLst/>
              <a:cxnLst/>
              <a:rect l="l" t="t" r="r" b="b"/>
              <a:pathLst>
                <a:path w="334327" h="180022">
                  <a:moveTo>
                    <a:pt x="0" y="0"/>
                  </a:moveTo>
                  <a:lnTo>
                    <a:pt x="334327" y="180022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10605135" y="4766310"/>
              <a:ext cx="266700" cy="134303"/>
            </a:xfrm>
            <a:custGeom>
              <a:avLst/>
              <a:gdLst/>
              <a:ahLst/>
              <a:cxnLst/>
              <a:rect l="l" t="t" r="r" b="b"/>
              <a:pathLst>
                <a:path w="266700" h="134303">
                  <a:moveTo>
                    <a:pt x="266700" y="13430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9445942" y="4807268"/>
              <a:ext cx="263842" cy="389573"/>
            </a:xfrm>
            <a:custGeom>
              <a:avLst/>
              <a:gdLst/>
              <a:ahLst/>
              <a:cxnLst/>
              <a:rect l="l" t="t" r="r" b="b"/>
              <a:pathLst>
                <a:path w="263842" h="389573">
                  <a:moveTo>
                    <a:pt x="263842" y="38957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1" name="Line 111"/>
            <p:cNvSpPr/>
            <p:nvPr/>
          </p:nvSpPr>
          <p:spPr>
            <a:xfrm>
              <a:off x="8747760" y="4807268"/>
              <a:ext cx="698183" cy="286702"/>
            </a:xfrm>
            <a:custGeom>
              <a:avLst/>
              <a:gdLst/>
              <a:ahLst/>
              <a:cxnLst/>
              <a:rect l="l" t="t" r="r" b="b"/>
              <a:pathLst>
                <a:path w="698183" h="286702">
                  <a:moveTo>
                    <a:pt x="698183" y="0"/>
                  </a:moveTo>
                  <a:lnTo>
                    <a:pt x="0" y="286702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2" name="Line 112"/>
            <p:cNvSpPr/>
            <p:nvPr/>
          </p:nvSpPr>
          <p:spPr>
            <a:xfrm>
              <a:off x="10605135" y="4766310"/>
              <a:ext cx="601027" cy="314325"/>
            </a:xfrm>
            <a:custGeom>
              <a:avLst/>
              <a:gdLst/>
              <a:ahLst/>
              <a:cxnLst/>
              <a:rect l="l" t="t" r="r" b="b"/>
              <a:pathLst>
                <a:path w="601027" h="314325">
                  <a:moveTo>
                    <a:pt x="601027" y="3143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3" name="Line 113"/>
            <p:cNvSpPr/>
            <p:nvPr/>
          </p:nvSpPr>
          <p:spPr>
            <a:xfrm>
              <a:off x="10447972" y="4766310"/>
              <a:ext cx="157162" cy="492443"/>
            </a:xfrm>
            <a:custGeom>
              <a:avLst/>
              <a:gdLst/>
              <a:ahLst/>
              <a:cxnLst/>
              <a:rect l="l" t="t" r="r" b="b"/>
              <a:pathLst>
                <a:path w="157162" h="492443">
                  <a:moveTo>
                    <a:pt x="157162" y="0"/>
                  </a:moveTo>
                  <a:lnTo>
                    <a:pt x="0" y="492443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4" name="Ellipse 114"/>
            <p:cNvSpPr/>
            <p:nvPr/>
          </p:nvSpPr>
          <p:spPr>
            <a:xfrm>
              <a:off x="10217468" y="490537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5" name="Ellipse 115"/>
            <p:cNvSpPr/>
            <p:nvPr/>
          </p:nvSpPr>
          <p:spPr>
            <a:xfrm>
              <a:off x="9508808" y="4971098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6" name="Ellipse 116"/>
            <p:cNvSpPr/>
            <p:nvPr/>
          </p:nvSpPr>
          <p:spPr>
            <a:xfrm>
              <a:off x="9966960" y="477964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7" name="Ellipse 117"/>
            <p:cNvSpPr/>
            <p:nvPr/>
          </p:nvSpPr>
          <p:spPr>
            <a:xfrm>
              <a:off x="10407015" y="502348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8" name="Ellipse 118"/>
            <p:cNvSpPr/>
            <p:nvPr/>
          </p:nvSpPr>
          <p:spPr>
            <a:xfrm>
              <a:off x="8986838" y="4875848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9" name="Ellipse 119"/>
            <p:cNvSpPr/>
            <p:nvPr/>
          </p:nvSpPr>
          <p:spPr>
            <a:xfrm>
              <a:off x="10776585" y="480536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0" name="Ellipse 120"/>
            <p:cNvSpPr/>
            <p:nvPr/>
          </p:nvSpPr>
          <p:spPr>
            <a:xfrm>
              <a:off x="9614535" y="510159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1" name="Ellipse 121"/>
            <p:cNvSpPr/>
            <p:nvPr/>
          </p:nvSpPr>
          <p:spPr>
            <a:xfrm>
              <a:off x="9350692" y="4712018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2" name="Ellipse 122"/>
            <p:cNvSpPr/>
            <p:nvPr/>
          </p:nvSpPr>
          <p:spPr>
            <a:xfrm>
              <a:off x="11110912" y="498538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3" name="Ellipse 123"/>
            <p:cNvSpPr/>
            <p:nvPr/>
          </p:nvSpPr>
          <p:spPr>
            <a:xfrm>
              <a:off x="8652510" y="499872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4" name="Ellipse 124"/>
            <p:cNvSpPr/>
            <p:nvPr/>
          </p:nvSpPr>
          <p:spPr>
            <a:xfrm>
              <a:off x="10509885" y="467106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5" name="Ellipse 125"/>
            <p:cNvSpPr/>
            <p:nvPr/>
          </p:nvSpPr>
          <p:spPr>
            <a:xfrm>
              <a:off x="10352722" y="516350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23705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網路傳播 GOSSIP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07647" y="320675"/>
              <a:ext cx="1041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KIT · MORPH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88" name="net"/>
          <p:cNvGrpSpPr/>
          <p:nvPr/>
        </p:nvGrpSpPr>
        <p:grpSpPr>
          <a:xfrm>
            <a:off x="376047" y="685800"/>
            <a:ext cx="7463028" cy="6172200"/>
            <a:chOff x="376047" y="685800"/>
            <a:chExt cx="7463028" cy="6172200"/>
          </a:xfrm>
        </p:grpSpPr>
        <p:sp>
          <p:nvSpPr>
            <p:cNvPr id="25" name="TextBox 25"/>
            <p:cNvSpPr txBox="1"/>
            <p:nvPr/>
          </p:nvSpPr>
          <p:spPr>
            <a:xfrm>
              <a:off x="376047" y="901700"/>
              <a:ext cx="29044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NETWORK(X, Y, W, H, N=16, WAVE=2)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248025" y="3619500"/>
              <a:ext cx="1342072" cy="461010"/>
            </a:xfrm>
            <a:custGeom>
              <a:avLst/>
              <a:gdLst/>
              <a:ahLst/>
              <a:cxnLst/>
              <a:rect l="l" t="t" r="r" b="b"/>
              <a:pathLst>
                <a:path w="1342072" h="461010">
                  <a:moveTo>
                    <a:pt x="1342072" y="0"/>
                  </a:moveTo>
                  <a:lnTo>
                    <a:pt x="0" y="46101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4115752" y="2742248"/>
              <a:ext cx="474345" cy="877253"/>
            </a:xfrm>
            <a:custGeom>
              <a:avLst/>
              <a:gdLst/>
              <a:ahLst/>
              <a:cxnLst/>
              <a:rect l="l" t="t" r="r" b="b"/>
              <a:pathLst>
                <a:path w="474345" h="877253">
                  <a:moveTo>
                    <a:pt x="474345" y="877253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4590098" y="3619500"/>
              <a:ext cx="359093" cy="827722"/>
            </a:xfrm>
            <a:custGeom>
              <a:avLst/>
              <a:gdLst/>
              <a:ahLst/>
              <a:cxnLst/>
              <a:rect l="l" t="t" r="r" b="b"/>
              <a:pathLst>
                <a:path w="359093" h="827722">
                  <a:moveTo>
                    <a:pt x="0" y="0"/>
                  </a:moveTo>
                  <a:lnTo>
                    <a:pt x="359093" y="82772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4590098" y="2918460"/>
              <a:ext cx="1059180" cy="701040"/>
            </a:xfrm>
            <a:custGeom>
              <a:avLst/>
              <a:gdLst/>
              <a:ahLst/>
              <a:cxnLst/>
              <a:rect l="l" t="t" r="r" b="b"/>
              <a:pathLst>
                <a:path w="1059180" h="701040">
                  <a:moveTo>
                    <a:pt x="0" y="701040"/>
                  </a:moveTo>
                  <a:lnTo>
                    <a:pt x="105918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4590098" y="3619500"/>
              <a:ext cx="256223" cy="1803082"/>
            </a:xfrm>
            <a:custGeom>
              <a:avLst/>
              <a:gdLst/>
              <a:ahLst/>
              <a:cxnLst/>
              <a:rect l="l" t="t" r="r" b="b"/>
              <a:pathLst>
                <a:path w="256223" h="1803082">
                  <a:moveTo>
                    <a:pt x="0" y="0"/>
                  </a:moveTo>
                  <a:lnTo>
                    <a:pt x="256223" y="180308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259330" y="3413760"/>
              <a:ext cx="988695" cy="666750"/>
            </a:xfrm>
            <a:custGeom>
              <a:avLst/>
              <a:gdLst/>
              <a:ahLst/>
              <a:cxnLst/>
              <a:rect l="l" t="t" r="r" b="b"/>
              <a:pathLst>
                <a:path w="988695" h="666750">
                  <a:moveTo>
                    <a:pt x="988695" y="666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3248025" y="4080510"/>
              <a:ext cx="200978" cy="910590"/>
            </a:xfrm>
            <a:custGeom>
              <a:avLst/>
              <a:gdLst/>
              <a:ahLst/>
              <a:cxnLst/>
              <a:rect l="l" t="t" r="r" b="b"/>
              <a:pathLst>
                <a:path w="200978" h="910590">
                  <a:moveTo>
                    <a:pt x="0" y="0"/>
                  </a:moveTo>
                  <a:lnTo>
                    <a:pt x="200978" y="91059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625918" y="4080510"/>
              <a:ext cx="1622108" cy="194310"/>
            </a:xfrm>
            <a:custGeom>
              <a:avLst/>
              <a:gdLst/>
              <a:ahLst/>
              <a:cxnLst/>
              <a:rect l="l" t="t" r="r" b="b"/>
              <a:pathLst>
                <a:path w="1622108" h="194310">
                  <a:moveTo>
                    <a:pt x="1622108" y="0"/>
                  </a:moveTo>
                  <a:lnTo>
                    <a:pt x="0" y="19431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2175510" y="4080510"/>
              <a:ext cx="1072515" cy="1274445"/>
            </a:xfrm>
            <a:custGeom>
              <a:avLst/>
              <a:gdLst/>
              <a:ahLst/>
              <a:cxnLst/>
              <a:rect l="l" t="t" r="r" b="b"/>
              <a:pathLst>
                <a:path w="1072515" h="1274445">
                  <a:moveTo>
                    <a:pt x="1072515" y="0"/>
                  </a:moveTo>
                  <a:lnTo>
                    <a:pt x="0" y="127444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2948940" y="2265045"/>
              <a:ext cx="1166812" cy="477202"/>
            </a:xfrm>
            <a:custGeom>
              <a:avLst/>
              <a:gdLst/>
              <a:ahLst/>
              <a:cxnLst/>
              <a:rect l="l" t="t" r="r" b="b"/>
              <a:pathLst>
                <a:path w="1166812" h="477202">
                  <a:moveTo>
                    <a:pt x="1166812" y="47720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115752" y="1984058"/>
              <a:ext cx="1029653" cy="758190"/>
            </a:xfrm>
            <a:custGeom>
              <a:avLst/>
              <a:gdLst/>
              <a:ahLst/>
              <a:cxnLst/>
              <a:rect l="l" t="t" r="r" b="b"/>
              <a:pathLst>
                <a:path w="1029653" h="758190">
                  <a:moveTo>
                    <a:pt x="0" y="758190"/>
                  </a:moveTo>
                  <a:lnTo>
                    <a:pt x="1029653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3578542" y="1443990"/>
              <a:ext cx="537210" cy="1298257"/>
            </a:xfrm>
            <a:custGeom>
              <a:avLst/>
              <a:gdLst/>
              <a:ahLst/>
              <a:cxnLst/>
              <a:rect l="l" t="t" r="r" b="b"/>
              <a:pathLst>
                <a:path w="537210" h="1298257">
                  <a:moveTo>
                    <a:pt x="537210" y="1298257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4949190" y="4176712"/>
              <a:ext cx="1333500" cy="270510"/>
            </a:xfrm>
            <a:custGeom>
              <a:avLst/>
              <a:gdLst/>
              <a:ahLst/>
              <a:cxnLst/>
              <a:rect l="l" t="t" r="r" b="b"/>
              <a:pathLst>
                <a:path w="1333500" h="270510">
                  <a:moveTo>
                    <a:pt x="0" y="27051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4846320" y="4447222"/>
              <a:ext cx="102870" cy="975360"/>
            </a:xfrm>
            <a:custGeom>
              <a:avLst/>
              <a:gdLst/>
              <a:ahLst/>
              <a:cxnLst/>
              <a:rect l="l" t="t" r="r" b="b"/>
              <a:pathLst>
                <a:path w="102870" h="975360">
                  <a:moveTo>
                    <a:pt x="102870" y="0"/>
                  </a:moveTo>
                  <a:lnTo>
                    <a:pt x="0" y="97536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2259330" y="2265045"/>
              <a:ext cx="689610" cy="1148715"/>
            </a:xfrm>
            <a:custGeom>
              <a:avLst/>
              <a:gdLst/>
              <a:ahLst/>
              <a:cxnLst/>
              <a:rect l="l" t="t" r="r" b="b"/>
              <a:pathLst>
                <a:path w="689610" h="1148715">
                  <a:moveTo>
                    <a:pt x="0" y="1148715"/>
                  </a:moveTo>
                  <a:lnTo>
                    <a:pt x="68961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1625918" y="3413760"/>
              <a:ext cx="633412" cy="861060"/>
            </a:xfrm>
            <a:custGeom>
              <a:avLst/>
              <a:gdLst/>
              <a:ahLst/>
              <a:cxnLst/>
              <a:rect l="l" t="t" r="r" b="b"/>
              <a:pathLst>
                <a:path w="633412" h="861060">
                  <a:moveTo>
                    <a:pt x="633412" y="0"/>
                  </a:moveTo>
                  <a:lnTo>
                    <a:pt x="0" y="86106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450658" y="2631758"/>
              <a:ext cx="808672" cy="782002"/>
            </a:xfrm>
            <a:custGeom>
              <a:avLst/>
              <a:gdLst/>
              <a:ahLst/>
              <a:cxnLst/>
              <a:rect l="l" t="t" r="r" b="b"/>
              <a:pathLst>
                <a:path w="808672" h="782002">
                  <a:moveTo>
                    <a:pt x="808672" y="78200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5649278" y="2918460"/>
              <a:ext cx="633412" cy="1258253"/>
            </a:xfrm>
            <a:custGeom>
              <a:avLst/>
              <a:gdLst/>
              <a:ahLst/>
              <a:cxnLst/>
              <a:rect l="l" t="t" r="r" b="b"/>
              <a:pathLst>
                <a:path w="633412" h="1258253">
                  <a:moveTo>
                    <a:pt x="0" y="0"/>
                  </a:moveTo>
                  <a:lnTo>
                    <a:pt x="633412" y="1258253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5145405" y="1984058"/>
              <a:ext cx="503872" cy="934402"/>
            </a:xfrm>
            <a:custGeom>
              <a:avLst/>
              <a:gdLst/>
              <a:ahLst/>
              <a:cxnLst/>
              <a:rect l="l" t="t" r="r" b="b"/>
              <a:pathLst>
                <a:path w="503872" h="934402">
                  <a:moveTo>
                    <a:pt x="503872" y="93440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5649278" y="2918460"/>
              <a:ext cx="1342072" cy="260985"/>
            </a:xfrm>
            <a:custGeom>
              <a:avLst/>
              <a:gdLst/>
              <a:ahLst/>
              <a:cxnLst/>
              <a:rect l="l" t="t" r="r" b="b"/>
              <a:pathLst>
                <a:path w="1342072" h="260985">
                  <a:moveTo>
                    <a:pt x="0" y="0"/>
                  </a:moveTo>
                  <a:lnTo>
                    <a:pt x="1342072" y="26098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449002" y="4991100"/>
              <a:ext cx="1397318" cy="431482"/>
            </a:xfrm>
            <a:custGeom>
              <a:avLst/>
              <a:gdLst/>
              <a:ahLst/>
              <a:cxnLst/>
              <a:rect l="l" t="t" r="r" b="b"/>
              <a:pathLst>
                <a:path w="1397318" h="431482">
                  <a:moveTo>
                    <a:pt x="0" y="0"/>
                  </a:moveTo>
                  <a:lnTo>
                    <a:pt x="1397318" y="431482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2175510" y="4991100"/>
              <a:ext cx="1273493" cy="363855"/>
            </a:xfrm>
            <a:custGeom>
              <a:avLst/>
              <a:gdLst/>
              <a:ahLst/>
              <a:cxnLst/>
              <a:rect l="l" t="t" r="r" b="b"/>
              <a:pathLst>
                <a:path w="1273493" h="363855">
                  <a:moveTo>
                    <a:pt x="1273493" y="0"/>
                  </a:moveTo>
                  <a:lnTo>
                    <a:pt x="0" y="36385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1450658" y="2265045"/>
              <a:ext cx="1498282" cy="366712"/>
            </a:xfrm>
            <a:custGeom>
              <a:avLst/>
              <a:gdLst/>
              <a:ahLst/>
              <a:cxnLst/>
              <a:rect l="l" t="t" r="r" b="b"/>
              <a:pathLst>
                <a:path w="1498282" h="366712">
                  <a:moveTo>
                    <a:pt x="1498282" y="0"/>
                  </a:moveTo>
                  <a:lnTo>
                    <a:pt x="0" y="366712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2948940" y="1443990"/>
              <a:ext cx="629602" cy="821055"/>
            </a:xfrm>
            <a:custGeom>
              <a:avLst/>
              <a:gdLst/>
              <a:ahLst/>
              <a:cxnLst/>
              <a:rect l="l" t="t" r="r" b="b"/>
              <a:pathLst>
                <a:path w="629602" h="821055">
                  <a:moveTo>
                    <a:pt x="0" y="821055"/>
                  </a:moveTo>
                  <a:lnTo>
                    <a:pt x="629602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282690" y="3179445"/>
              <a:ext cx="708660" cy="997267"/>
            </a:xfrm>
            <a:custGeom>
              <a:avLst/>
              <a:gdLst/>
              <a:ahLst/>
              <a:cxnLst/>
              <a:rect l="l" t="t" r="r" b="b"/>
              <a:pathLst>
                <a:path w="708660" h="997267">
                  <a:moveTo>
                    <a:pt x="0" y="997267"/>
                  </a:moveTo>
                  <a:lnTo>
                    <a:pt x="70866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1450658" y="2631758"/>
              <a:ext cx="175260" cy="1643062"/>
            </a:xfrm>
            <a:custGeom>
              <a:avLst/>
              <a:gdLst/>
              <a:ahLst/>
              <a:cxnLst/>
              <a:rect l="l" t="t" r="r" b="b"/>
              <a:pathLst>
                <a:path w="175260" h="1643062">
                  <a:moveTo>
                    <a:pt x="175260" y="164306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1625918" y="4274820"/>
              <a:ext cx="549593" cy="1080135"/>
            </a:xfrm>
            <a:custGeom>
              <a:avLst/>
              <a:gdLst/>
              <a:ahLst/>
              <a:cxnLst/>
              <a:rect l="l" t="t" r="r" b="b"/>
              <a:pathLst>
                <a:path w="549593" h="1080135">
                  <a:moveTo>
                    <a:pt x="0" y="0"/>
                  </a:moveTo>
                  <a:lnTo>
                    <a:pt x="549593" y="1080135"/>
                  </a:lnTo>
                </a:path>
              </a:pathLst>
            </a:custGeom>
            <a:noFill/>
            <a:ln w="19050">
              <a:solidFill>
                <a:srgbClr val="BDBDBD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5145405" y="1984058"/>
              <a:ext cx="1845945" cy="1195388"/>
            </a:xfrm>
            <a:custGeom>
              <a:avLst/>
              <a:gdLst/>
              <a:ahLst/>
              <a:cxnLst/>
              <a:rect l="l" t="t" r="r" b="b"/>
              <a:pathLst>
                <a:path w="1845945" h="1195388">
                  <a:moveTo>
                    <a:pt x="0" y="0"/>
                  </a:moveTo>
                  <a:lnTo>
                    <a:pt x="1845945" y="1195388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3578542" y="1443990"/>
              <a:ext cx="1566863" cy="540068"/>
            </a:xfrm>
            <a:custGeom>
              <a:avLst/>
              <a:gdLst/>
              <a:ahLst/>
              <a:cxnLst/>
              <a:rect l="l" t="t" r="r" b="b"/>
              <a:pathLst>
                <a:path w="1566863" h="540068">
                  <a:moveTo>
                    <a:pt x="1566863" y="540068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0A0A0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4494848" y="352425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4466272" y="349567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3152775" y="398526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3124200" y="395668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4020502" y="264699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3991928" y="2618422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4853940" y="435197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4825365" y="432339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2164080" y="331851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2135505" y="328993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5554028" y="282321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5525452" y="2794635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3353752" y="489585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3325178" y="48672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2853690" y="216979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2825115" y="2141220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6187440" y="408146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6158865" y="405288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1530668" y="4179570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1502092" y="4150995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5050155" y="188880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5021580" y="1860232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4751070" y="5327332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4722495" y="5298758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1355408" y="2536508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1326832" y="2507932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6896100" y="308419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6867525" y="3055620"/>
              <a:ext cx="247650" cy="247650"/>
            </a:xfrm>
            <a:prstGeom prst="ellipse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2080260" y="5259705"/>
              <a:ext cx="247650" cy="2476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2051685" y="5231130"/>
              <a:ext cx="247650" cy="2476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3435668" y="1301115"/>
              <a:ext cx="342900" cy="34290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3407092" y="1272540"/>
              <a:ext cx="342900" cy="342900"/>
            </a:xfrm>
            <a:prstGeom prst="ellipse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810500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26" name="note"/>
          <p:cNvGrpSpPr/>
          <p:nvPr/>
        </p:nvGrpSpPr>
        <p:grpSpPr>
          <a:xfrm>
            <a:off x="8172450" y="1511300"/>
            <a:ext cx="3128962" cy="4268343"/>
            <a:chOff x="8172450" y="1511300"/>
            <a:chExt cx="3128962" cy="4268343"/>
          </a:xfrm>
        </p:grpSpPr>
        <p:sp>
          <p:nvSpPr>
            <p:cNvPr id="89" name="TextBox 89"/>
            <p:cNvSpPr txBox="1"/>
            <p:nvPr/>
          </p:nvSpPr>
          <p:spPr>
            <a:xfrm>
              <a:off x="8172450" y="1511300"/>
              <a:ext cx="218734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spc="-98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WAVE 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183880" y="2546350"/>
              <a:ext cx="2682240" cy="11791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連續幾張投影片用同樣的節點、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wave 0 → 1 → 2 …，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再加上 Morph 轉場，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訊息就會一跳一跳傳開。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186547" y="5588000"/>
              <a:ext cx="27001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FAINT · NETWORK(..., FAINT=TRUE)</a:t>
              </a:r>
            </a:p>
          </p:txBody>
        </p:sp>
        <p:sp>
          <p:nvSpPr>
            <p:cNvPr id="92" name="Line 92"/>
            <p:cNvSpPr/>
            <p:nvPr/>
          </p:nvSpPr>
          <p:spPr>
            <a:xfrm>
              <a:off x="10062210" y="4874895"/>
              <a:ext cx="250507" cy="125730"/>
            </a:xfrm>
            <a:custGeom>
              <a:avLst/>
              <a:gdLst/>
              <a:ahLst/>
              <a:cxnLst/>
              <a:rect l="l" t="t" r="r" b="b"/>
              <a:pathLst>
                <a:path w="250507" h="125730">
                  <a:moveTo>
                    <a:pt x="250507" y="12573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10312718" y="5000625"/>
              <a:ext cx="189547" cy="118110"/>
            </a:xfrm>
            <a:custGeom>
              <a:avLst/>
              <a:gdLst/>
              <a:ahLst/>
              <a:cxnLst/>
              <a:rect l="l" t="t" r="r" b="b"/>
              <a:pathLst>
                <a:path w="189547" h="118110">
                  <a:moveTo>
                    <a:pt x="0" y="0"/>
                  </a:moveTo>
                  <a:lnTo>
                    <a:pt x="189547" y="11811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4" name="Line 94"/>
            <p:cNvSpPr/>
            <p:nvPr/>
          </p:nvSpPr>
          <p:spPr>
            <a:xfrm>
              <a:off x="10312718" y="4766310"/>
              <a:ext cx="292418" cy="234315"/>
            </a:xfrm>
            <a:custGeom>
              <a:avLst/>
              <a:gdLst/>
              <a:ahLst/>
              <a:cxnLst/>
              <a:rect l="l" t="t" r="r" b="b"/>
              <a:pathLst>
                <a:path w="292418" h="234315">
                  <a:moveTo>
                    <a:pt x="0" y="234315"/>
                  </a:moveTo>
                  <a:lnTo>
                    <a:pt x="292418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5" name="Line 95"/>
            <p:cNvSpPr/>
            <p:nvPr/>
          </p:nvSpPr>
          <p:spPr>
            <a:xfrm>
              <a:off x="10312718" y="5000625"/>
              <a:ext cx="135255" cy="258128"/>
            </a:xfrm>
            <a:custGeom>
              <a:avLst/>
              <a:gdLst/>
              <a:ahLst/>
              <a:cxnLst/>
              <a:rect l="l" t="t" r="r" b="b"/>
              <a:pathLst>
                <a:path w="135255" h="258128">
                  <a:moveTo>
                    <a:pt x="0" y="0"/>
                  </a:moveTo>
                  <a:lnTo>
                    <a:pt x="135255" y="258128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6" name="Line 96"/>
            <p:cNvSpPr/>
            <p:nvPr/>
          </p:nvSpPr>
          <p:spPr>
            <a:xfrm>
              <a:off x="9604058" y="4874895"/>
              <a:ext cx="458153" cy="191452"/>
            </a:xfrm>
            <a:custGeom>
              <a:avLst/>
              <a:gdLst/>
              <a:ahLst/>
              <a:cxnLst/>
              <a:rect l="l" t="t" r="r" b="b"/>
              <a:pathLst>
                <a:path w="458153" h="191452">
                  <a:moveTo>
                    <a:pt x="0" y="191452"/>
                  </a:moveTo>
                  <a:lnTo>
                    <a:pt x="458153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7" name="Line 97"/>
            <p:cNvSpPr/>
            <p:nvPr/>
          </p:nvSpPr>
          <p:spPr>
            <a:xfrm>
              <a:off x="9082088" y="4971098"/>
              <a:ext cx="521970" cy="95250"/>
            </a:xfrm>
            <a:custGeom>
              <a:avLst/>
              <a:gdLst/>
              <a:ahLst/>
              <a:cxnLst/>
              <a:rect l="l" t="t" r="r" b="b"/>
              <a:pathLst>
                <a:path w="521970" h="95250">
                  <a:moveTo>
                    <a:pt x="521970" y="95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8" name="Line 98"/>
            <p:cNvSpPr/>
            <p:nvPr/>
          </p:nvSpPr>
          <p:spPr>
            <a:xfrm>
              <a:off x="9604058" y="5066348"/>
              <a:ext cx="105728" cy="130493"/>
            </a:xfrm>
            <a:custGeom>
              <a:avLst/>
              <a:gdLst/>
              <a:ahLst/>
              <a:cxnLst/>
              <a:rect l="l" t="t" r="r" b="b"/>
              <a:pathLst>
                <a:path w="105728" h="130493">
                  <a:moveTo>
                    <a:pt x="0" y="0"/>
                  </a:moveTo>
                  <a:lnTo>
                    <a:pt x="105728" y="130493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99" name="Line 99"/>
            <p:cNvSpPr/>
            <p:nvPr/>
          </p:nvSpPr>
          <p:spPr>
            <a:xfrm>
              <a:off x="9445942" y="4807268"/>
              <a:ext cx="158115" cy="259080"/>
            </a:xfrm>
            <a:custGeom>
              <a:avLst/>
              <a:gdLst/>
              <a:ahLst/>
              <a:cxnLst/>
              <a:rect l="l" t="t" r="r" b="b"/>
              <a:pathLst>
                <a:path w="158115" h="259080">
                  <a:moveTo>
                    <a:pt x="158115" y="25908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0" name="Line 100"/>
            <p:cNvSpPr/>
            <p:nvPr/>
          </p:nvSpPr>
          <p:spPr>
            <a:xfrm>
              <a:off x="8747760" y="5066348"/>
              <a:ext cx="856297" cy="27622"/>
            </a:xfrm>
            <a:custGeom>
              <a:avLst/>
              <a:gdLst/>
              <a:ahLst/>
              <a:cxnLst/>
              <a:rect l="l" t="t" r="r" b="b"/>
              <a:pathLst>
                <a:path w="856297" h="27622">
                  <a:moveTo>
                    <a:pt x="856297" y="0"/>
                  </a:moveTo>
                  <a:lnTo>
                    <a:pt x="0" y="27622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1" name="Line 101"/>
            <p:cNvSpPr/>
            <p:nvPr/>
          </p:nvSpPr>
          <p:spPr>
            <a:xfrm>
              <a:off x="9709785" y="4874895"/>
              <a:ext cx="352425" cy="321945"/>
            </a:xfrm>
            <a:custGeom>
              <a:avLst/>
              <a:gdLst/>
              <a:ahLst/>
              <a:cxnLst/>
              <a:rect l="l" t="t" r="r" b="b"/>
              <a:pathLst>
                <a:path w="352425" h="321945">
                  <a:moveTo>
                    <a:pt x="352425" y="0"/>
                  </a:moveTo>
                  <a:lnTo>
                    <a:pt x="0" y="321945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2" name="Line 102"/>
            <p:cNvSpPr/>
            <p:nvPr/>
          </p:nvSpPr>
          <p:spPr>
            <a:xfrm>
              <a:off x="10502265" y="4900612"/>
              <a:ext cx="369570" cy="218122"/>
            </a:xfrm>
            <a:custGeom>
              <a:avLst/>
              <a:gdLst/>
              <a:ahLst/>
              <a:cxnLst/>
              <a:rect l="l" t="t" r="r" b="b"/>
              <a:pathLst>
                <a:path w="369570" h="218122">
                  <a:moveTo>
                    <a:pt x="0" y="218122"/>
                  </a:moveTo>
                  <a:lnTo>
                    <a:pt x="36957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3" name="Line 103"/>
            <p:cNvSpPr/>
            <p:nvPr/>
          </p:nvSpPr>
          <p:spPr>
            <a:xfrm>
              <a:off x="10502265" y="5080635"/>
              <a:ext cx="703898" cy="38100"/>
            </a:xfrm>
            <a:custGeom>
              <a:avLst/>
              <a:gdLst/>
              <a:ahLst/>
              <a:cxnLst/>
              <a:rect l="l" t="t" r="r" b="b"/>
              <a:pathLst>
                <a:path w="703898" h="38100">
                  <a:moveTo>
                    <a:pt x="0" y="38100"/>
                  </a:moveTo>
                  <a:lnTo>
                    <a:pt x="703898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4" name="Line 104"/>
            <p:cNvSpPr/>
            <p:nvPr/>
          </p:nvSpPr>
          <p:spPr>
            <a:xfrm>
              <a:off x="10502265" y="4766310"/>
              <a:ext cx="102870" cy="352425"/>
            </a:xfrm>
            <a:custGeom>
              <a:avLst/>
              <a:gdLst/>
              <a:ahLst/>
              <a:cxnLst/>
              <a:rect l="l" t="t" r="r" b="b"/>
              <a:pathLst>
                <a:path w="102870" h="352425">
                  <a:moveTo>
                    <a:pt x="0" y="352425"/>
                  </a:moveTo>
                  <a:lnTo>
                    <a:pt x="10287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10447972" y="5118735"/>
              <a:ext cx="54292" cy="140018"/>
            </a:xfrm>
            <a:custGeom>
              <a:avLst/>
              <a:gdLst/>
              <a:ahLst/>
              <a:cxnLst/>
              <a:rect l="l" t="t" r="r" b="b"/>
              <a:pathLst>
                <a:path w="54292" h="140018">
                  <a:moveTo>
                    <a:pt x="54292" y="0"/>
                  </a:moveTo>
                  <a:lnTo>
                    <a:pt x="0" y="140018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6" name="Line 106"/>
            <p:cNvSpPr/>
            <p:nvPr/>
          </p:nvSpPr>
          <p:spPr>
            <a:xfrm>
              <a:off x="9082088" y="4807268"/>
              <a:ext cx="363855" cy="163830"/>
            </a:xfrm>
            <a:custGeom>
              <a:avLst/>
              <a:gdLst/>
              <a:ahLst/>
              <a:cxnLst/>
              <a:rect l="l" t="t" r="r" b="b"/>
              <a:pathLst>
                <a:path w="363855" h="163830">
                  <a:moveTo>
                    <a:pt x="0" y="163830"/>
                  </a:moveTo>
                  <a:lnTo>
                    <a:pt x="363855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7" name="Line 107"/>
            <p:cNvSpPr/>
            <p:nvPr/>
          </p:nvSpPr>
          <p:spPr>
            <a:xfrm>
              <a:off x="8747760" y="4971098"/>
              <a:ext cx="334328" cy="122872"/>
            </a:xfrm>
            <a:custGeom>
              <a:avLst/>
              <a:gdLst/>
              <a:ahLst/>
              <a:cxnLst/>
              <a:rect l="l" t="t" r="r" b="b"/>
              <a:pathLst>
                <a:path w="334328" h="122872">
                  <a:moveTo>
                    <a:pt x="334328" y="0"/>
                  </a:moveTo>
                  <a:lnTo>
                    <a:pt x="0" y="122872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8" name="Line 108"/>
            <p:cNvSpPr/>
            <p:nvPr/>
          </p:nvSpPr>
          <p:spPr>
            <a:xfrm>
              <a:off x="10871835" y="4900612"/>
              <a:ext cx="334327" cy="180022"/>
            </a:xfrm>
            <a:custGeom>
              <a:avLst/>
              <a:gdLst/>
              <a:ahLst/>
              <a:cxnLst/>
              <a:rect l="l" t="t" r="r" b="b"/>
              <a:pathLst>
                <a:path w="334327" h="180022">
                  <a:moveTo>
                    <a:pt x="0" y="0"/>
                  </a:moveTo>
                  <a:lnTo>
                    <a:pt x="334327" y="180022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10605135" y="4766310"/>
              <a:ext cx="266700" cy="134303"/>
            </a:xfrm>
            <a:custGeom>
              <a:avLst/>
              <a:gdLst/>
              <a:ahLst/>
              <a:cxnLst/>
              <a:rect l="l" t="t" r="r" b="b"/>
              <a:pathLst>
                <a:path w="266700" h="134303">
                  <a:moveTo>
                    <a:pt x="266700" y="13430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9445942" y="4807268"/>
              <a:ext cx="263842" cy="389573"/>
            </a:xfrm>
            <a:custGeom>
              <a:avLst/>
              <a:gdLst/>
              <a:ahLst/>
              <a:cxnLst/>
              <a:rect l="l" t="t" r="r" b="b"/>
              <a:pathLst>
                <a:path w="263842" h="389573">
                  <a:moveTo>
                    <a:pt x="263842" y="38957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1" name="Line 111"/>
            <p:cNvSpPr/>
            <p:nvPr/>
          </p:nvSpPr>
          <p:spPr>
            <a:xfrm>
              <a:off x="8747760" y="4807268"/>
              <a:ext cx="698183" cy="286702"/>
            </a:xfrm>
            <a:custGeom>
              <a:avLst/>
              <a:gdLst/>
              <a:ahLst/>
              <a:cxnLst/>
              <a:rect l="l" t="t" r="r" b="b"/>
              <a:pathLst>
                <a:path w="698183" h="286702">
                  <a:moveTo>
                    <a:pt x="698183" y="0"/>
                  </a:moveTo>
                  <a:lnTo>
                    <a:pt x="0" y="286702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2" name="Line 112"/>
            <p:cNvSpPr/>
            <p:nvPr/>
          </p:nvSpPr>
          <p:spPr>
            <a:xfrm>
              <a:off x="10605135" y="4766310"/>
              <a:ext cx="601027" cy="314325"/>
            </a:xfrm>
            <a:custGeom>
              <a:avLst/>
              <a:gdLst/>
              <a:ahLst/>
              <a:cxnLst/>
              <a:rect l="l" t="t" r="r" b="b"/>
              <a:pathLst>
                <a:path w="601027" h="314325">
                  <a:moveTo>
                    <a:pt x="601027" y="3143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3" name="Line 113"/>
            <p:cNvSpPr/>
            <p:nvPr/>
          </p:nvSpPr>
          <p:spPr>
            <a:xfrm>
              <a:off x="10447972" y="4766310"/>
              <a:ext cx="157162" cy="492443"/>
            </a:xfrm>
            <a:custGeom>
              <a:avLst/>
              <a:gdLst/>
              <a:ahLst/>
              <a:cxnLst/>
              <a:rect l="l" t="t" r="r" b="b"/>
              <a:pathLst>
                <a:path w="157162" h="492443">
                  <a:moveTo>
                    <a:pt x="157162" y="0"/>
                  </a:moveTo>
                  <a:lnTo>
                    <a:pt x="0" y="492443"/>
                  </a:lnTo>
                </a:path>
              </a:pathLst>
            </a:custGeom>
            <a:noFill/>
            <a:ln w="19050">
              <a:solidFill>
                <a:srgbClr val="D6D6D2"/>
              </a:solidFill>
            </a:ln>
          </p:spPr>
        </p:sp>
        <p:sp>
          <p:nvSpPr>
            <p:cNvPr id="114" name="Ellipse 114"/>
            <p:cNvSpPr/>
            <p:nvPr/>
          </p:nvSpPr>
          <p:spPr>
            <a:xfrm>
              <a:off x="10217468" y="490537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5" name="Ellipse 115"/>
            <p:cNvSpPr/>
            <p:nvPr/>
          </p:nvSpPr>
          <p:spPr>
            <a:xfrm>
              <a:off x="9508808" y="4971098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6" name="Ellipse 116"/>
            <p:cNvSpPr/>
            <p:nvPr/>
          </p:nvSpPr>
          <p:spPr>
            <a:xfrm>
              <a:off x="9966960" y="477964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7" name="Ellipse 117"/>
            <p:cNvSpPr/>
            <p:nvPr/>
          </p:nvSpPr>
          <p:spPr>
            <a:xfrm>
              <a:off x="10407015" y="502348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8" name="Ellipse 118"/>
            <p:cNvSpPr/>
            <p:nvPr/>
          </p:nvSpPr>
          <p:spPr>
            <a:xfrm>
              <a:off x="8986838" y="4875848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19" name="Ellipse 119"/>
            <p:cNvSpPr/>
            <p:nvPr/>
          </p:nvSpPr>
          <p:spPr>
            <a:xfrm>
              <a:off x="10776585" y="480536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0" name="Ellipse 120"/>
            <p:cNvSpPr/>
            <p:nvPr/>
          </p:nvSpPr>
          <p:spPr>
            <a:xfrm>
              <a:off x="9614535" y="510159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1" name="Ellipse 121"/>
            <p:cNvSpPr/>
            <p:nvPr/>
          </p:nvSpPr>
          <p:spPr>
            <a:xfrm>
              <a:off x="9350692" y="4712018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2" name="Ellipse 122"/>
            <p:cNvSpPr/>
            <p:nvPr/>
          </p:nvSpPr>
          <p:spPr>
            <a:xfrm>
              <a:off x="11110912" y="4985385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3" name="Ellipse 123"/>
            <p:cNvSpPr/>
            <p:nvPr/>
          </p:nvSpPr>
          <p:spPr>
            <a:xfrm>
              <a:off x="8652510" y="499872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4" name="Ellipse 124"/>
            <p:cNvSpPr/>
            <p:nvPr/>
          </p:nvSpPr>
          <p:spPr>
            <a:xfrm>
              <a:off x="10509885" y="4671060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  <p:sp>
          <p:nvSpPr>
            <p:cNvPr id="125" name="Ellipse 125"/>
            <p:cNvSpPr/>
            <p:nvPr/>
          </p:nvSpPr>
          <p:spPr>
            <a:xfrm>
              <a:off x="10352722" y="5163502"/>
              <a:ext cx="190500" cy="1905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D6D6D2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22105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交易步驟 STEPS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83689" y="320675"/>
              <a:ext cx="265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KIT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50" name="steps"/>
          <p:cNvGrpSpPr/>
          <p:nvPr/>
        </p:nvGrpSpPr>
        <p:grpSpPr>
          <a:xfrm>
            <a:off x="0" y="685800"/>
            <a:ext cx="12192000" cy="4191000"/>
            <a:chOff x="0" y="685800"/>
            <a:chExt cx="12192000" cy="4191000"/>
          </a:xfrm>
        </p:grpSpPr>
        <p:sp>
          <p:nvSpPr>
            <p:cNvPr id="25" name="Rectangle 25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0" y="4848225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0" y="714375"/>
              <a:ext cx="3048000" cy="4133850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9550" y="857250"/>
              <a:ext cx="110429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solidFill>
                    <a:srgbClr val="9C9C9C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7170" y="20256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簽署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1742" y="25400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用私鑰簽名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76575" y="714375"/>
              <a:ext cx="3019425" cy="4133850"/>
            </a:xfrm>
            <a:prstGeom prst="rect">
              <a:avLst/>
            </a:prstGeom>
            <a:solidFill>
              <a:srgbClr val="F2D4C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57550" y="857250"/>
              <a:ext cx="110429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solidFill>
                    <a:srgbClr val="9C9C9C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65170" y="20256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廣播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69742" y="25400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進入交易池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048000" y="685800"/>
              <a:ext cx="28575" cy="4191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962275" y="857250"/>
              <a:ext cx="200025" cy="2000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17799" y="8699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05550" y="857250"/>
              <a:ext cx="110429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solidFill>
                    <a:srgbClr val="BDBDBD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13170" y="20256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驗證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17742" y="25400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檢查簽名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0" y="685800"/>
              <a:ext cx="28575" cy="4191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10275" y="857250"/>
              <a:ext cx="200025" cy="2000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65799" y="8699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53550" y="857250"/>
              <a:ext cx="110429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solidFill>
                    <a:srgbClr val="BDBDBD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61170" y="202565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打包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65742" y="25400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選進區塊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44000" y="685800"/>
              <a:ext cx="28575" cy="4191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058275" y="857250"/>
              <a:ext cx="200025" cy="2000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13799" y="869950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63" name="bars"/>
          <p:cNvGrpSpPr/>
          <p:nvPr/>
        </p:nvGrpSpPr>
        <p:grpSpPr>
          <a:xfrm>
            <a:off x="376047" y="5168900"/>
            <a:ext cx="11053953" cy="1256157"/>
            <a:chOff x="376047" y="5168900"/>
            <a:chExt cx="11053953" cy="1256157"/>
          </a:xfrm>
        </p:grpSpPr>
        <p:sp>
          <p:nvSpPr>
            <p:cNvPr id="51" name="TextBox 51"/>
            <p:cNvSpPr txBox="1"/>
            <p:nvPr/>
          </p:nvSpPr>
          <p:spPr>
            <a:xfrm>
              <a:off x="376047" y="5168900"/>
              <a:ext cx="4671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BAR(X, Y, W, FRAC, FILL, VALUE) · LABEL(X, Y, TEXT) · ARROW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81000" y="5524500"/>
              <a:ext cx="5334000" cy="304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409575" y="5553075"/>
              <a:ext cx="3800475" cy="247650"/>
            </a:xfrm>
            <a:prstGeom prst="rect">
              <a:avLst/>
            </a:prstGeom>
            <a:solidFill>
              <a:srgbClr val="F2D4C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89966" y="5607050"/>
              <a:ext cx="295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72%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96000" y="5524500"/>
              <a:ext cx="5334000" cy="304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124575" y="5553075"/>
              <a:ext cx="2114550" cy="247650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04966" y="5607050"/>
              <a:ext cx="295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40%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81000" y="6096000"/>
              <a:ext cx="733425" cy="285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09016" y="6140450"/>
              <a:ext cx="4902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82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LABEL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619250" y="6096000"/>
              <a:ext cx="533400" cy="285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747266" y="61404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標籤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134868" y="6102350"/>
              <a:ext cx="17284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→ ARROW ITEM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280263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甜甜圈圖 DOUGHNUT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10080" y="320675"/>
              <a:ext cx="16393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KIT · NATIVE CHART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28" name="chart"/>
          <p:cNvGrpSpPr/>
          <p:nvPr/>
        </p:nvGrpSpPr>
        <p:grpSpPr>
          <a:xfrm>
            <a:off x="1000125" y="685800"/>
            <a:ext cx="5124450" cy="6172200"/>
            <a:chOff x="1000125" y="685800"/>
            <a:chExt cx="5124450" cy="6172200"/>
          </a:xfrm>
        </p:grpSpPr>
        <p:graphicFrame>
          <p:nvGraphicFramePr>
            <p:cNvPr id="25" name="k07-doughnut"/>
            <p:cNvGraphicFramePr>
              <a:graphicFrameLocks noGrp="1"/>
            </p:cNvGraphicFramePr>
            <p:nvPr/>
          </p:nvGraphicFramePr>
          <p:xfrm>
            <a:off x="1000125" y="1714500"/>
            <a:ext cx="4095750" cy="409575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26" name="TextBox 26"/>
            <p:cNvSpPr txBox="1"/>
            <p:nvPr/>
          </p:nvSpPr>
          <p:spPr>
            <a:xfrm>
              <a:off x="2444430" y="3397250"/>
              <a:ext cx="120714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800" spc="-98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45%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0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49" name="legend"/>
          <p:cNvGrpSpPr/>
          <p:nvPr/>
        </p:nvGrpSpPr>
        <p:grpSpPr>
          <a:xfrm>
            <a:off x="6124575" y="841375"/>
            <a:ext cx="6067425" cy="5341620"/>
            <a:chOff x="6124575" y="841375"/>
            <a:chExt cx="6067425" cy="5341620"/>
          </a:xfrm>
        </p:grpSpPr>
        <p:sp>
          <p:nvSpPr>
            <p:cNvPr id="29" name="Rectangle 29"/>
            <p:cNvSpPr/>
            <p:nvPr/>
          </p:nvSpPr>
          <p:spPr>
            <a:xfrm>
              <a:off x="6124575" y="2114550"/>
              <a:ext cx="6067425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353175" y="942975"/>
              <a:ext cx="247650" cy="247650"/>
            </a:xfrm>
            <a:prstGeom prst="rect">
              <a:avLst/>
            </a:prstGeom>
            <a:solidFill>
              <a:srgbClr val="0A0A0A"/>
            </a:solidFill>
            <a:ln w="28575">
              <a:solidFill>
                <a:srgbClr val="0A0A0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44843" y="94932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全節點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17173" y="841375"/>
              <a:ext cx="7614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3000" spc="-6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45%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53175" y="1304925"/>
              <a:ext cx="3971925" cy="1714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381750" y="1333500"/>
              <a:ext cx="1762125" cy="114300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124575" y="3543300"/>
              <a:ext cx="6067425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353175" y="2371725"/>
              <a:ext cx="247650" cy="247650"/>
            </a:xfrm>
            <a:prstGeom prst="rect">
              <a:avLst/>
            </a:prstGeom>
            <a:solidFill>
              <a:srgbClr val="F2D4CF"/>
            </a:solidFill>
            <a:ln w="28575">
              <a:solidFill>
                <a:srgbClr val="0A0A0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44843" y="237807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輕節點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17173" y="2270125"/>
              <a:ext cx="7614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3000" spc="-6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30%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353175" y="2733675"/>
              <a:ext cx="3971925" cy="1714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381750" y="2762250"/>
              <a:ext cx="1171575" cy="114300"/>
            </a:xfrm>
            <a:prstGeom prst="rect">
              <a:avLst/>
            </a:prstGeom>
            <a:solidFill>
              <a:srgbClr val="F2D4CF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124575" y="4972050"/>
              <a:ext cx="6067425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353175" y="3800475"/>
              <a:ext cx="247650" cy="247650"/>
            </a:xfrm>
            <a:prstGeom prst="rect">
              <a:avLst/>
            </a:prstGeom>
            <a:solidFill>
              <a:srgbClr val="E5EDD6"/>
            </a:solidFill>
            <a:ln w="28575">
              <a:solidFill>
                <a:srgbClr val="0A0A0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44843" y="380682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驗證者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17173" y="3698875"/>
              <a:ext cx="7614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3000" spc="-6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25%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353175" y="4162425"/>
              <a:ext cx="3971925" cy="1714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381750" y="4191000"/>
              <a:ext cx="981075" cy="114300"/>
            </a:xfrm>
            <a:prstGeom prst="rect">
              <a:avLst/>
            </a:prstGeom>
            <a:solidFill>
              <a:srgbClr val="E5EDD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72047" y="5207000"/>
              <a:ext cx="400502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DOUGHNUT(KEY, CX, CY, DATA) + LEGEND_ROWS(...)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9380" y="5594350"/>
              <a:ext cx="2562549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PowerPoint 裡是真的圖表：</a:t>
              </a:r>
              <a:b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右鍵 → 編輯資料 就能改數字。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33627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文字效果 TEXT EFFECTS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83689" y="320675"/>
              <a:ext cx="265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KIT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54" name="fx"/>
          <p:cNvGrpSpPr/>
          <p:nvPr/>
        </p:nvGrpSpPr>
        <p:grpSpPr>
          <a:xfrm>
            <a:off x="323850" y="1230630"/>
            <a:ext cx="9367837" cy="4930013"/>
            <a:chOff x="323850" y="1230630"/>
            <a:chExt cx="9367837" cy="4930013"/>
          </a:xfrm>
        </p:grpSpPr>
        <p:sp>
          <p:nvSpPr>
            <p:cNvPr id="25" name="Polygon 25"/>
            <p:cNvSpPr/>
            <p:nvPr/>
          </p:nvSpPr>
          <p:spPr>
            <a:xfrm>
              <a:off x="323850" y="1402080"/>
              <a:ext cx="2114550" cy="511493"/>
            </a:xfrm>
            <a:custGeom>
              <a:avLst/>
              <a:gdLst/>
              <a:ahLst/>
              <a:cxnLst/>
              <a:rect l="l" t="t" r="r" b="b"/>
              <a:pathLst>
                <a:path w="2114550" h="511493">
                  <a:moveTo>
                    <a:pt x="0" y="0"/>
                  </a:moveTo>
                  <a:lnTo>
                    <a:pt x="2095500" y="40958"/>
                  </a:lnTo>
                  <a:lnTo>
                    <a:pt x="2114550" y="511493"/>
                  </a:lnTo>
                  <a:lnTo>
                    <a:pt x="19050" y="482918"/>
                  </a:lnTo>
                  <a:close/>
                </a:path>
              </a:pathLst>
            </a:custGeom>
            <a:solidFill>
              <a:srgbClr val="F2D4C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1950" y="1339850"/>
              <a:ext cx="21381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9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重點標記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6047" y="2063750"/>
              <a:ext cx="11087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FX_HIGHLIGHT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71950" y="1339850"/>
              <a:ext cx="213817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9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手繪底線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4193858" y="1906905"/>
              <a:ext cx="2032635" cy="19050"/>
            </a:xfrm>
            <a:custGeom>
              <a:avLst/>
              <a:gdLst/>
              <a:ahLst/>
              <a:cxnLst/>
              <a:rect l="l" t="t" r="r" b="b"/>
              <a:pathLst>
                <a:path w="2032635" h="19050">
                  <a:moveTo>
                    <a:pt x="0" y="19050"/>
                  </a:moveTo>
                  <a:lnTo>
                    <a:pt x="966787" y="6668"/>
                  </a:lnTo>
                  <a:lnTo>
                    <a:pt x="2032635" y="0"/>
                  </a:lnTo>
                </a:path>
              </a:pathLst>
            </a:custGeom>
            <a:noFill/>
            <a:ln w="38100" cap="rnd">
              <a:solidFill>
                <a:srgbClr val="0A0A0A"/>
              </a:solidFill>
              <a:round/>
            </a:ln>
          </p:spPr>
        </p:sp>
        <p:sp>
          <p:nvSpPr>
            <p:cNvPr id="30" name="Freeform 30"/>
            <p:cNvSpPr/>
            <p:nvPr/>
          </p:nvSpPr>
          <p:spPr>
            <a:xfrm>
              <a:off x="4179570" y="1879282"/>
              <a:ext cx="2034540" cy="59055"/>
            </a:xfrm>
            <a:custGeom>
              <a:avLst/>
              <a:gdLst/>
              <a:ahLst/>
              <a:cxnLst/>
              <a:rect l="l" t="t" r="r" b="b"/>
              <a:pathLst>
                <a:path w="2034540" h="59055">
                  <a:moveTo>
                    <a:pt x="0" y="16192"/>
                  </a:moveTo>
                  <a:lnTo>
                    <a:pt x="1006792" y="59055"/>
                  </a:lnTo>
                  <a:lnTo>
                    <a:pt x="2034540" y="0"/>
                  </a:lnTo>
                </a:path>
              </a:pathLst>
            </a:custGeom>
            <a:noFill/>
            <a:ln w="38100" cap="rnd">
              <a:solidFill>
                <a:srgbClr val="0A0A0A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186047" y="2063750"/>
              <a:ext cx="11275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FX_UNDERLINE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81950" y="1339850"/>
              <a:ext cx="161315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9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圈起來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7819072" y="1230630"/>
              <a:ext cx="1872615" cy="811530"/>
            </a:xfrm>
            <a:custGeom>
              <a:avLst/>
              <a:gdLst/>
              <a:ahLst/>
              <a:cxnLst/>
              <a:rect l="l" t="t" r="r" b="b"/>
              <a:pathLst>
                <a:path w="1872615" h="811530">
                  <a:moveTo>
                    <a:pt x="1848803" y="409575"/>
                  </a:moveTo>
                  <a:lnTo>
                    <a:pt x="1852612" y="501015"/>
                  </a:lnTo>
                  <a:lnTo>
                    <a:pt x="1803083" y="564833"/>
                  </a:lnTo>
                  <a:lnTo>
                    <a:pt x="1662112" y="669608"/>
                  </a:lnTo>
                  <a:lnTo>
                    <a:pt x="1507808" y="710565"/>
                  </a:lnTo>
                  <a:lnTo>
                    <a:pt x="1344930" y="766762"/>
                  </a:lnTo>
                  <a:lnTo>
                    <a:pt x="1139190" y="797243"/>
                  </a:lnTo>
                  <a:lnTo>
                    <a:pt x="930593" y="794385"/>
                  </a:lnTo>
                  <a:lnTo>
                    <a:pt x="728662" y="811530"/>
                  </a:lnTo>
                  <a:lnTo>
                    <a:pt x="524828" y="777240"/>
                  </a:lnTo>
                  <a:lnTo>
                    <a:pt x="339090" y="703898"/>
                  </a:lnTo>
                  <a:lnTo>
                    <a:pt x="179070" y="661035"/>
                  </a:lnTo>
                  <a:lnTo>
                    <a:pt x="43815" y="562928"/>
                  </a:lnTo>
                  <a:lnTo>
                    <a:pt x="5715" y="495300"/>
                  </a:lnTo>
                  <a:lnTo>
                    <a:pt x="0" y="421958"/>
                  </a:lnTo>
                  <a:lnTo>
                    <a:pt x="45720" y="334328"/>
                  </a:lnTo>
                  <a:lnTo>
                    <a:pt x="112395" y="245745"/>
                  </a:lnTo>
                  <a:lnTo>
                    <a:pt x="219075" y="175260"/>
                  </a:lnTo>
                  <a:lnTo>
                    <a:pt x="367665" y="80010"/>
                  </a:lnTo>
                  <a:lnTo>
                    <a:pt x="501968" y="36195"/>
                  </a:lnTo>
                  <a:lnTo>
                    <a:pt x="728662" y="15240"/>
                  </a:lnTo>
                  <a:lnTo>
                    <a:pt x="929640" y="0"/>
                  </a:lnTo>
                  <a:lnTo>
                    <a:pt x="1139190" y="13335"/>
                  </a:lnTo>
                  <a:lnTo>
                    <a:pt x="1327785" y="50483"/>
                  </a:lnTo>
                  <a:lnTo>
                    <a:pt x="1500188" y="110490"/>
                  </a:lnTo>
                  <a:lnTo>
                    <a:pt x="1635443" y="174308"/>
                  </a:lnTo>
                  <a:lnTo>
                    <a:pt x="1746885" y="252412"/>
                  </a:lnTo>
                  <a:lnTo>
                    <a:pt x="1818322" y="305753"/>
                  </a:lnTo>
                  <a:lnTo>
                    <a:pt x="1871662" y="425768"/>
                  </a:lnTo>
                  <a:lnTo>
                    <a:pt x="1872615" y="499110"/>
                  </a:lnTo>
                  <a:lnTo>
                    <a:pt x="1806893" y="570548"/>
                  </a:lnTo>
                </a:path>
              </a:pathLst>
            </a:custGeom>
            <a:noFill/>
            <a:ln w="28575" cap="rnd">
              <a:solidFill>
                <a:srgbClr val="0A0A0A"/>
              </a:solidFill>
              <a:round/>
            </a:ln>
          </p:spPr>
        </p:sp>
        <p:sp>
          <p:nvSpPr>
            <p:cNvPr id="34" name="Freeform 34"/>
            <p:cNvSpPr/>
            <p:nvPr/>
          </p:nvSpPr>
          <p:spPr>
            <a:xfrm>
              <a:off x="7800022" y="1238250"/>
              <a:ext cx="1889760" cy="783908"/>
            </a:xfrm>
            <a:custGeom>
              <a:avLst/>
              <a:gdLst/>
              <a:ahLst/>
              <a:cxnLst/>
              <a:rect l="l" t="t" r="r" b="b"/>
              <a:pathLst>
                <a:path w="1889760" h="783908">
                  <a:moveTo>
                    <a:pt x="1889760" y="402908"/>
                  </a:moveTo>
                  <a:lnTo>
                    <a:pt x="1868805" y="472440"/>
                  </a:lnTo>
                  <a:lnTo>
                    <a:pt x="1831658" y="592455"/>
                  </a:lnTo>
                  <a:lnTo>
                    <a:pt x="1684020" y="661035"/>
                  </a:lnTo>
                  <a:lnTo>
                    <a:pt x="1532572" y="699135"/>
                  </a:lnTo>
                  <a:lnTo>
                    <a:pt x="1337310" y="770572"/>
                  </a:lnTo>
                  <a:lnTo>
                    <a:pt x="1159193" y="772478"/>
                  </a:lnTo>
                  <a:lnTo>
                    <a:pt x="948690" y="782955"/>
                  </a:lnTo>
                  <a:lnTo>
                    <a:pt x="750570" y="783908"/>
                  </a:lnTo>
                  <a:lnTo>
                    <a:pt x="557212" y="779145"/>
                  </a:lnTo>
                  <a:lnTo>
                    <a:pt x="352425" y="731520"/>
                  </a:lnTo>
                  <a:lnTo>
                    <a:pt x="180975" y="633412"/>
                  </a:lnTo>
                  <a:lnTo>
                    <a:pt x="74295" y="555308"/>
                  </a:lnTo>
                  <a:lnTo>
                    <a:pt x="0" y="485775"/>
                  </a:lnTo>
                  <a:lnTo>
                    <a:pt x="14288" y="386715"/>
                  </a:lnTo>
                  <a:lnTo>
                    <a:pt x="39053" y="324802"/>
                  </a:lnTo>
                  <a:lnTo>
                    <a:pt x="128588" y="243840"/>
                  </a:lnTo>
                  <a:lnTo>
                    <a:pt x="255270" y="145733"/>
                  </a:lnTo>
                  <a:lnTo>
                    <a:pt x="370522" y="87630"/>
                  </a:lnTo>
                  <a:lnTo>
                    <a:pt x="541020" y="42862"/>
                  </a:lnTo>
                  <a:lnTo>
                    <a:pt x="731520" y="14288"/>
                  </a:lnTo>
                  <a:lnTo>
                    <a:pt x="961072" y="0"/>
                  </a:lnTo>
                  <a:lnTo>
                    <a:pt x="1155383" y="18098"/>
                  </a:lnTo>
                  <a:lnTo>
                    <a:pt x="1342072" y="32385"/>
                  </a:lnTo>
                  <a:lnTo>
                    <a:pt x="1534478" y="87630"/>
                  </a:lnTo>
                  <a:lnTo>
                    <a:pt x="1649730" y="132398"/>
                  </a:lnTo>
                  <a:lnTo>
                    <a:pt x="1748790" y="229552"/>
                  </a:lnTo>
                  <a:lnTo>
                    <a:pt x="1812608" y="315277"/>
                  </a:lnTo>
                  <a:lnTo>
                    <a:pt x="1882140" y="382905"/>
                  </a:lnTo>
                  <a:lnTo>
                    <a:pt x="1881188" y="487680"/>
                  </a:lnTo>
                  <a:lnTo>
                    <a:pt x="1824990" y="567690"/>
                  </a:lnTo>
                </a:path>
              </a:pathLst>
            </a:custGeom>
            <a:noFill/>
            <a:ln w="28575" cap="rnd">
              <a:solidFill>
                <a:srgbClr val="0A0A0A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96047" y="2063750"/>
              <a:ext cx="77151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FX_CIRCLE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1950" y="2959100"/>
              <a:ext cx="161315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9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刪除線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348615" y="3272790"/>
              <a:ext cx="1570672" cy="28575"/>
            </a:xfrm>
            <a:custGeom>
              <a:avLst/>
              <a:gdLst/>
              <a:ahLst/>
              <a:cxnLst/>
              <a:rect l="l" t="t" r="r" b="b"/>
              <a:pathLst>
                <a:path w="1570672" h="28575">
                  <a:moveTo>
                    <a:pt x="0" y="28575"/>
                  </a:moveTo>
                  <a:lnTo>
                    <a:pt x="1570672" y="0"/>
                  </a:lnTo>
                </a:path>
              </a:pathLst>
            </a:custGeom>
            <a:noFill/>
            <a:ln w="38100" cap="rnd">
              <a:solidFill>
                <a:srgbClr val="0A0A0A"/>
              </a:solidFill>
              <a:round/>
            </a:ln>
          </p:spPr>
        </p:sp>
        <p:sp>
          <p:nvSpPr>
            <p:cNvPr id="38" name="Freeform 38"/>
            <p:cNvSpPr/>
            <p:nvPr/>
          </p:nvSpPr>
          <p:spPr>
            <a:xfrm>
              <a:off x="354330" y="3249930"/>
              <a:ext cx="1527810" cy="60008"/>
            </a:xfrm>
            <a:custGeom>
              <a:avLst/>
              <a:gdLst/>
              <a:ahLst/>
              <a:cxnLst/>
              <a:rect l="l" t="t" r="r" b="b"/>
              <a:pathLst>
                <a:path w="1527810" h="60008">
                  <a:moveTo>
                    <a:pt x="0" y="60008"/>
                  </a:moveTo>
                  <a:lnTo>
                    <a:pt x="1527810" y="0"/>
                  </a:lnTo>
                </a:path>
              </a:pathLst>
            </a:custGeom>
            <a:noFill/>
            <a:ln w="38100" cap="rnd">
              <a:solidFill>
                <a:srgbClr val="0A0A0A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76047" y="3683000"/>
              <a:ext cx="776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FX_STRIKE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4083368" y="2838450"/>
              <a:ext cx="2198370" cy="795338"/>
            </a:xfrm>
            <a:custGeom>
              <a:avLst/>
              <a:gdLst/>
              <a:ahLst/>
              <a:cxnLst/>
              <a:rect l="l" t="t" r="r" b="b"/>
              <a:pathLst>
                <a:path w="2198370" h="795338">
                  <a:moveTo>
                    <a:pt x="0" y="0"/>
                  </a:moveTo>
                  <a:lnTo>
                    <a:pt x="2198370" y="2858"/>
                  </a:lnTo>
                  <a:lnTo>
                    <a:pt x="2182177" y="776288"/>
                  </a:lnTo>
                  <a:lnTo>
                    <a:pt x="32385" y="795338"/>
                  </a:lnTo>
                  <a:lnTo>
                    <a:pt x="24765" y="5715"/>
                  </a:lnTo>
                </a:path>
              </a:pathLst>
            </a:custGeom>
            <a:noFill/>
            <a:ln w="28575" cap="rnd">
              <a:solidFill>
                <a:srgbClr val="0A0A0A"/>
              </a:solidFill>
              <a:round/>
            </a:ln>
          </p:spPr>
        </p:sp>
        <p:sp>
          <p:nvSpPr>
            <p:cNvPr id="41" name="Freeform 41"/>
            <p:cNvSpPr/>
            <p:nvPr/>
          </p:nvSpPr>
          <p:spPr>
            <a:xfrm>
              <a:off x="4097655" y="2838450"/>
              <a:ext cx="2175510" cy="801053"/>
            </a:xfrm>
            <a:custGeom>
              <a:avLst/>
              <a:gdLst/>
              <a:ahLst/>
              <a:cxnLst/>
              <a:rect l="l" t="t" r="r" b="b"/>
              <a:pathLst>
                <a:path w="2175510" h="801053">
                  <a:moveTo>
                    <a:pt x="0" y="8572"/>
                  </a:moveTo>
                  <a:lnTo>
                    <a:pt x="2173605" y="0"/>
                  </a:lnTo>
                  <a:lnTo>
                    <a:pt x="2175510" y="801053"/>
                  </a:lnTo>
                  <a:lnTo>
                    <a:pt x="13335" y="795338"/>
                  </a:lnTo>
                  <a:lnTo>
                    <a:pt x="12383" y="4762"/>
                  </a:lnTo>
                </a:path>
              </a:pathLst>
            </a:custGeom>
            <a:noFill/>
            <a:ln w="28575" cap="rnd">
              <a:solidFill>
                <a:srgbClr val="0A0A0A"/>
              </a:solidFill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67200" y="2959100"/>
              <a:ext cx="161315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9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框起來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186047" y="3683000"/>
              <a:ext cx="57134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FX_BOX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7786688" y="2846070"/>
              <a:ext cx="171450" cy="785812"/>
            </a:xfrm>
            <a:custGeom>
              <a:avLst/>
              <a:gdLst/>
              <a:ahLst/>
              <a:cxnLst/>
              <a:rect l="l" t="t" r="r" b="b"/>
              <a:pathLst>
                <a:path w="171450" h="785812">
                  <a:moveTo>
                    <a:pt x="171450" y="26670"/>
                  </a:moveTo>
                  <a:lnTo>
                    <a:pt x="22860" y="0"/>
                  </a:lnTo>
                  <a:lnTo>
                    <a:pt x="0" y="781050"/>
                  </a:lnTo>
                  <a:lnTo>
                    <a:pt x="156210" y="785812"/>
                  </a:lnTo>
                </a:path>
              </a:pathLst>
            </a:custGeom>
            <a:noFill/>
            <a:ln w="38100" cap="rnd">
              <a:solidFill>
                <a:srgbClr val="0A0A0A"/>
              </a:solidFill>
              <a:round/>
            </a:ln>
          </p:spPr>
        </p:sp>
        <p:sp>
          <p:nvSpPr>
            <p:cNvPr id="45" name="Freeform 45"/>
            <p:cNvSpPr/>
            <p:nvPr/>
          </p:nvSpPr>
          <p:spPr>
            <a:xfrm>
              <a:off x="7800022" y="2870835"/>
              <a:ext cx="145733" cy="757238"/>
            </a:xfrm>
            <a:custGeom>
              <a:avLst/>
              <a:gdLst/>
              <a:ahLst/>
              <a:cxnLst/>
              <a:rect l="l" t="t" r="r" b="b"/>
              <a:pathLst>
                <a:path w="145733" h="757238">
                  <a:moveTo>
                    <a:pt x="138112" y="0"/>
                  </a:moveTo>
                  <a:lnTo>
                    <a:pt x="0" y="953"/>
                  </a:lnTo>
                  <a:lnTo>
                    <a:pt x="20955" y="744855"/>
                  </a:lnTo>
                  <a:lnTo>
                    <a:pt x="145733" y="757238"/>
                  </a:lnTo>
                </a:path>
              </a:pathLst>
            </a:custGeom>
            <a:noFill/>
            <a:ln w="38100" cap="rnd">
              <a:solidFill>
                <a:srgbClr val="0A0A0A"/>
              </a:solidFill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077200" y="2959100"/>
              <a:ext cx="108813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90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括號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96047" y="3683000"/>
              <a:ext cx="9392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FX_BRACKET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61950" y="4483100"/>
              <a:ext cx="375056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spc="-105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Trustless.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2242" y="5397500"/>
              <a:ext cx="32122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 xml:space="preserve">sha256 → </a:t>
              </a:r>
              <a:r>
                <a:rPr lang="en-US" sz="1350" b="1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0x1b321bd289…b231bb69f8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76047" y="5969000"/>
              <a:ext cx="6853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FX_HASH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80760" y="4978400"/>
              <a:ext cx="22517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verify tx3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458200" y="5029200"/>
              <a:ext cx="190500" cy="3619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91047" y="5969000"/>
              <a:ext cx="62168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FX_TYPE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40850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圖示 ICONS · FSC-LINE (49)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83689" y="320675"/>
              <a:ext cx="265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KIT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275" name="icons"/>
          <p:cNvGrpSpPr/>
          <p:nvPr/>
        </p:nvGrpSpPr>
        <p:grpSpPr>
          <a:xfrm>
            <a:off x="581158" y="990600"/>
            <a:ext cx="11172520" cy="5389562"/>
            <a:chOff x="581158" y="990600"/>
            <a:chExt cx="11172520" cy="5389562"/>
          </a:xfrm>
        </p:grpSpPr>
        <p:grpSp>
          <p:nvGrpSpPr>
            <p:cNvPr id="28" name="Group 28"/>
            <p:cNvGrpSpPr/>
            <p:nvPr/>
          </p:nvGrpSpPr>
          <p:grpSpPr>
            <a:xfrm>
              <a:off x="647700" y="1019175"/>
              <a:ext cx="342900" cy="314325"/>
              <a:chOff x="647700" y="1019175"/>
              <a:chExt cx="342900" cy="3143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47700" y="1019175"/>
                <a:ext cx="3429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04775">
                    <a:moveTo>
                      <a:pt x="0" y="104775"/>
                    </a:moveTo>
                    <a:lnTo>
                      <a:pt x="171450" y="0"/>
                    </a:lnTo>
                    <a:lnTo>
                      <a:pt x="342900" y="104775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7700" y="1162050"/>
                <a:ext cx="342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71450">
                    <a:moveTo>
                      <a:pt x="47625" y="0"/>
                    </a:moveTo>
                    <a:lnTo>
                      <a:pt x="47625" y="123825"/>
                    </a:lnTo>
                    <a:moveTo>
                      <a:pt x="123825" y="0"/>
                    </a:moveTo>
                    <a:lnTo>
                      <a:pt x="123825" y="123825"/>
                    </a:lnTo>
                    <a:moveTo>
                      <a:pt x="219075" y="0"/>
                    </a:moveTo>
                    <a:lnTo>
                      <a:pt x="219075" y="123825"/>
                    </a:lnTo>
                    <a:moveTo>
                      <a:pt x="295275" y="0"/>
                    </a:moveTo>
                    <a:lnTo>
                      <a:pt x="295275" y="123825"/>
                    </a:lnTo>
                    <a:moveTo>
                      <a:pt x="19050" y="123825"/>
                    </a:moveTo>
                    <a:lnTo>
                      <a:pt x="323850" y="123825"/>
                    </a:lnTo>
                    <a:moveTo>
                      <a:pt x="0" y="171450"/>
                    </a:moveTo>
                    <a:lnTo>
                      <a:pt x="342900" y="1714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796290" y="1062990"/>
                <a:ext cx="45720" cy="4572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81114" y="155575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bank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1847850" y="1009650"/>
              <a:ext cx="304800" cy="342900"/>
              <a:chOff x="1847850" y="1009650"/>
              <a:chExt cx="304800" cy="3429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847850" y="1009650"/>
                <a:ext cx="3048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42900">
                    <a:moveTo>
                      <a:pt x="152400" y="0"/>
                    </a:moveTo>
                    <a:lnTo>
                      <a:pt x="304800" y="85725"/>
                    </a:lnTo>
                    <a:lnTo>
                      <a:pt x="304800" y="257175"/>
                    </a:lnTo>
                    <a:lnTo>
                      <a:pt x="152400" y="342900"/>
                    </a:lnTo>
                    <a:lnTo>
                      <a:pt x="0" y="257175"/>
                    </a:lnTo>
                    <a:lnTo>
                      <a:pt x="0" y="85725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847850" y="1095375"/>
                <a:ext cx="3048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57175">
                    <a:moveTo>
                      <a:pt x="0" y="0"/>
                    </a:moveTo>
                    <a:lnTo>
                      <a:pt x="152400" y="85725"/>
                    </a:lnTo>
                    <a:lnTo>
                      <a:pt x="304800" y="0"/>
                    </a:lnTo>
                    <a:moveTo>
                      <a:pt x="152400" y="85725"/>
                    </a:moveTo>
                    <a:lnTo>
                      <a:pt x="152400" y="25717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847850" y="100965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152400" y="0"/>
                    </a:moveTo>
                    <a:lnTo>
                      <a:pt x="304800" y="85725"/>
                    </a:lnTo>
                    <a:lnTo>
                      <a:pt x="152400" y="171450"/>
                    </a:lnTo>
                    <a:lnTo>
                      <a:pt x="0" y="85725"/>
                    </a:lnTo>
                    <a:close/>
                  </a:path>
                </a:pathLst>
              </a:custGeom>
              <a:noFill/>
              <a:ln w="19050">
                <a:solidFill>
                  <a:srgbClr val="0A0A0A">
                    <a:alpha val="90000"/>
                  </a:srgbClr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828895" y="155575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block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3000375" y="1028700"/>
              <a:ext cx="361950" cy="304800"/>
              <a:chOff x="3000375" y="1028700"/>
              <a:chExt cx="361950" cy="3048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3000375" y="1085850"/>
                <a:ext cx="361950" cy="247650"/>
              </a:xfrm>
              <a:prstGeom prst="roundRect">
                <a:avLst>
                  <a:gd name="adj" fmla="val 11538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000375" y="1028700"/>
                <a:ext cx="3619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61925">
                    <a:moveTo>
                      <a:pt x="114300" y="57150"/>
                    </a:moveTo>
                    <a:lnTo>
                      <a:pt x="114300" y="19050"/>
                    </a:lnTo>
                    <a:cubicBezTo>
                      <a:pt x="114300" y="8529"/>
                      <a:pt x="122829" y="0"/>
                      <a:pt x="133350" y="0"/>
                    </a:cubicBezTo>
                    <a:lnTo>
                      <a:pt x="228600" y="0"/>
                    </a:lnTo>
                    <a:cubicBezTo>
                      <a:pt x="239121" y="0"/>
                      <a:pt x="247650" y="8529"/>
                      <a:pt x="247650" y="19050"/>
                    </a:cubicBezTo>
                    <a:lnTo>
                      <a:pt x="247650" y="57150"/>
                    </a:lnTo>
                    <a:moveTo>
                      <a:pt x="0" y="161925"/>
                    </a:moveTo>
                    <a:lnTo>
                      <a:pt x="361950" y="16192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3152775" y="1162050"/>
                <a:ext cx="57150" cy="5715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2876721" y="1555750"/>
              <a:ext cx="609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briefcase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4219575" y="1000125"/>
              <a:ext cx="285750" cy="371475"/>
              <a:chOff x="4219575" y="1000125"/>
              <a:chExt cx="285750" cy="371475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4219575" y="1000125"/>
                <a:ext cx="285750" cy="323850"/>
              </a:xfrm>
              <a:prstGeom prst="roundRect">
                <a:avLst>
                  <a:gd name="adj" fmla="val 13333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257675" y="1047750"/>
                <a:ext cx="2095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90500">
                    <a:moveTo>
                      <a:pt x="0" y="0"/>
                    </a:moveTo>
                    <a:lnTo>
                      <a:pt x="209550" y="0"/>
                    </a:lnTo>
                    <a:lnTo>
                      <a:pt x="209550" y="76200"/>
                    </a:lnTo>
                    <a:lnTo>
                      <a:pt x="0" y="76200"/>
                    </a:lnTo>
                    <a:close/>
                    <a:moveTo>
                      <a:pt x="0" y="123825"/>
                    </a:moveTo>
                    <a:lnTo>
                      <a:pt x="209550" y="123825"/>
                    </a:lnTo>
                    <a:lnTo>
                      <a:pt x="209550" y="190500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4257675" y="1314450"/>
                <a:ext cx="57150" cy="5715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4410075" y="1314450"/>
                <a:ext cx="57150" cy="5715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219575" y="1262062"/>
                <a:ext cx="285750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3812">
                    <a:moveTo>
                      <a:pt x="0" y="0"/>
                    </a:moveTo>
                    <a:lnTo>
                      <a:pt x="285750" y="0"/>
                    </a:lnTo>
                    <a:lnTo>
                      <a:pt x="285750" y="23812"/>
                    </a:lnTo>
                    <a:lnTo>
                      <a:pt x="0" y="23812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4257732" y="155575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bus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5362575" y="1057275"/>
              <a:ext cx="361950" cy="247650"/>
              <a:chOff x="5362575" y="1057275"/>
              <a:chExt cx="361950" cy="24765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5362575" y="1057275"/>
                <a:ext cx="361950" cy="247650"/>
              </a:xfrm>
              <a:prstGeom prst="roundRect">
                <a:avLst>
                  <a:gd name="adj" fmla="val 11538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5362575" y="1123950"/>
                <a:ext cx="3619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23825">
                    <a:moveTo>
                      <a:pt x="0" y="0"/>
                    </a:moveTo>
                    <a:lnTo>
                      <a:pt x="361950" y="0"/>
                    </a:lnTo>
                    <a:moveTo>
                      <a:pt x="190500" y="123825"/>
                    </a:moveTo>
                    <a:lnTo>
                      <a:pt x="304800" y="12382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5410200" y="1181100"/>
                <a:ext cx="76200" cy="5715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5405514" y="155575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card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6562725" y="1019175"/>
              <a:ext cx="323850" cy="323850"/>
              <a:chOff x="6562725" y="1019175"/>
              <a:chExt cx="323850" cy="323850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6562725" y="1019175"/>
                <a:ext cx="323850" cy="32385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6615112" y="1071562"/>
                <a:ext cx="219075" cy="219075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667500" y="1104900"/>
                <a:ext cx="1143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2400">
                    <a:moveTo>
                      <a:pt x="57150" y="0"/>
                    </a:moveTo>
                    <a:lnTo>
                      <a:pt x="114300" y="76200"/>
                    </a:lnTo>
                    <a:lnTo>
                      <a:pt x="57150" y="152400"/>
                    </a:lnTo>
                    <a:lnTo>
                      <a:pt x="0" y="76200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586614" y="155575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coin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7762875" y="990600"/>
              <a:ext cx="285750" cy="361950"/>
              <a:chOff x="7762875" y="990600"/>
              <a:chExt cx="285750" cy="3619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7762875" y="1009650"/>
                <a:ext cx="285750" cy="342900"/>
              </a:xfrm>
              <a:prstGeom prst="roundRect">
                <a:avLst>
                  <a:gd name="adj" fmla="val 10000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820025" y="990600"/>
                <a:ext cx="19050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76225">
                    <a:moveTo>
                      <a:pt x="19050" y="19050"/>
                    </a:moveTo>
                    <a:lnTo>
                      <a:pt x="19050" y="0"/>
                    </a:lnTo>
                    <a:lnTo>
                      <a:pt x="152400" y="0"/>
                    </a:lnTo>
                    <a:lnTo>
                      <a:pt x="152400" y="19050"/>
                    </a:lnTo>
                    <a:moveTo>
                      <a:pt x="0" y="133350"/>
                    </a:moveTo>
                    <a:lnTo>
                      <a:pt x="28575" y="161925"/>
                    </a:lnTo>
                    <a:lnTo>
                      <a:pt x="76200" y="104775"/>
                    </a:lnTo>
                    <a:moveTo>
                      <a:pt x="114300" y="133350"/>
                    </a:moveTo>
                    <a:lnTo>
                      <a:pt x="190500" y="133350"/>
                    </a:lnTo>
                    <a:moveTo>
                      <a:pt x="0" y="247650"/>
                    </a:moveTo>
                    <a:lnTo>
                      <a:pt x="28575" y="276225"/>
                    </a:lnTo>
                    <a:lnTo>
                      <a:pt x="76200" y="219075"/>
                    </a:lnTo>
                    <a:moveTo>
                      <a:pt x="114300" y="247650"/>
                    </a:moveTo>
                    <a:lnTo>
                      <a:pt x="190500" y="2476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7991475" y="1285875"/>
                <a:ext cx="57150" cy="5715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567803" y="1555750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compliance</a:t>
              </a:r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8972550" y="1000125"/>
              <a:ext cx="247650" cy="361950"/>
              <a:chOff x="8972550" y="1000125"/>
              <a:chExt cx="247650" cy="36195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972550" y="1000125"/>
                <a:ext cx="2476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361950">
                    <a:moveTo>
                      <a:pt x="0" y="0"/>
                    </a:moveTo>
                    <a:lnTo>
                      <a:pt x="161925" y="0"/>
                    </a:lnTo>
                    <a:lnTo>
                      <a:pt x="247650" y="85725"/>
                    </a:lnTo>
                    <a:lnTo>
                      <a:pt x="247650" y="361950"/>
                    </a:lnTo>
                    <a:lnTo>
                      <a:pt x="0" y="361950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9020175" y="1000125"/>
                <a:ext cx="2000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66700">
                    <a:moveTo>
                      <a:pt x="114300" y="0"/>
                    </a:moveTo>
                    <a:lnTo>
                      <a:pt x="114300" y="85725"/>
                    </a:lnTo>
                    <a:lnTo>
                      <a:pt x="200025" y="85725"/>
                    </a:lnTo>
                    <a:moveTo>
                      <a:pt x="0" y="152400"/>
                    </a:moveTo>
                    <a:lnTo>
                      <a:pt x="133350" y="152400"/>
                    </a:lnTo>
                    <a:moveTo>
                      <a:pt x="0" y="209550"/>
                    </a:moveTo>
                    <a:lnTo>
                      <a:pt x="133350" y="209550"/>
                    </a:lnTo>
                    <a:moveTo>
                      <a:pt x="0" y="266700"/>
                    </a:moveTo>
                    <a:lnTo>
                      <a:pt x="66675" y="26670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64" name="Ellipse 64"/>
              <p:cNvSpPr/>
              <p:nvPr/>
            </p:nvSpPr>
            <p:spPr>
              <a:xfrm>
                <a:off x="9128760" y="1261110"/>
                <a:ext cx="68580" cy="6858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8815540" y="1555750"/>
              <a:ext cx="54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contract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10134600" y="990600"/>
              <a:ext cx="247650" cy="381000"/>
              <a:chOff x="10134600" y="990600"/>
              <a:chExt cx="247650" cy="3810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10134600" y="990600"/>
                <a:ext cx="2476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381000">
                    <a:moveTo>
                      <a:pt x="0" y="0"/>
                    </a:moveTo>
                    <a:lnTo>
                      <a:pt x="171450" y="0"/>
                    </a:lnTo>
                    <a:lnTo>
                      <a:pt x="247650" y="76200"/>
                    </a:lnTo>
                    <a:lnTo>
                      <a:pt x="247650" y="381000"/>
                    </a:lnTo>
                    <a:lnTo>
                      <a:pt x="0" y="381000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0182225" y="990600"/>
                <a:ext cx="2000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9550">
                    <a:moveTo>
                      <a:pt x="123825" y="0"/>
                    </a:moveTo>
                    <a:lnTo>
                      <a:pt x="123825" y="76200"/>
                    </a:lnTo>
                    <a:lnTo>
                      <a:pt x="200025" y="76200"/>
                    </a:lnTo>
                    <a:moveTo>
                      <a:pt x="0" y="114300"/>
                    </a:moveTo>
                    <a:lnTo>
                      <a:pt x="133350" y="114300"/>
                    </a:lnTo>
                    <a:moveTo>
                      <a:pt x="0" y="161925"/>
                    </a:moveTo>
                    <a:lnTo>
                      <a:pt x="152400" y="161925"/>
                    </a:lnTo>
                    <a:moveTo>
                      <a:pt x="0" y="209550"/>
                    </a:moveTo>
                    <a:lnTo>
                      <a:pt x="114300" y="2095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10182225" y="1257300"/>
                <a:ext cx="1619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7625">
                    <a:moveTo>
                      <a:pt x="0" y="38100"/>
                    </a:moveTo>
                    <a:cubicBezTo>
                      <a:pt x="28575" y="0"/>
                      <a:pt x="47625" y="47625"/>
                      <a:pt x="76200" y="28575"/>
                    </a:cubicBezTo>
                    <a:cubicBezTo>
                      <a:pt x="104775" y="9525"/>
                      <a:pt x="104775" y="0"/>
                      <a:pt x="123825" y="19050"/>
                    </a:cubicBezTo>
                    <a:cubicBezTo>
                      <a:pt x="142875" y="38100"/>
                      <a:pt x="152400" y="28575"/>
                      <a:pt x="161925" y="19050"/>
                    </a:cubicBez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9863366" y="1555750"/>
              <a:ext cx="8091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contractsign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11287125" y="1019175"/>
              <a:ext cx="323850" cy="323850"/>
              <a:chOff x="11287125" y="1019175"/>
              <a:chExt cx="323850" cy="323850"/>
            </a:xfrm>
          </p:grpSpPr>
          <p:sp>
            <p:nvSpPr>
              <p:cNvPr id="72" name="Ellipse 72"/>
              <p:cNvSpPr/>
              <p:nvPr/>
            </p:nvSpPr>
            <p:spPr>
              <a:xfrm>
                <a:off x="11287125" y="1019175"/>
                <a:ext cx="323850" cy="32385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1372530" y="1096933"/>
                <a:ext cx="133670" cy="168334"/>
              </a:xfrm>
              <a:custGeom>
                <a:avLst/>
                <a:gdLst/>
                <a:ahLst/>
                <a:cxnLst/>
                <a:rect l="l" t="t" r="r" b="b"/>
                <a:pathLst>
                  <a:path w="133670" h="168334">
                    <a:moveTo>
                      <a:pt x="133670" y="27017"/>
                    </a:moveTo>
                    <a:cubicBezTo>
                      <a:pt x="103035" y="0"/>
                      <a:pt x="56546" y="1943"/>
                      <a:pt x="28273" y="31423"/>
                    </a:cubicBezTo>
                    <a:cubicBezTo>
                      <a:pt x="0" y="60902"/>
                      <a:pt x="0" y="107432"/>
                      <a:pt x="28273" y="136912"/>
                    </a:cubicBezTo>
                    <a:cubicBezTo>
                      <a:pt x="56546" y="166391"/>
                      <a:pt x="103035" y="168334"/>
                      <a:pt x="133670" y="141317"/>
                    </a:cubicBez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11553825" y="1019175"/>
                <a:ext cx="57150" cy="5715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1144421" y="1555750"/>
              <a:ext cx="609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copyright</a:t>
              </a:r>
            </a:p>
          </p:txBody>
        </p:sp>
        <p:grpSp>
          <p:nvGrpSpPr>
            <p:cNvPr id="80" name="Group 80"/>
            <p:cNvGrpSpPr/>
            <p:nvPr/>
          </p:nvGrpSpPr>
          <p:grpSpPr>
            <a:xfrm>
              <a:off x="628650" y="2171700"/>
              <a:ext cx="381000" cy="361950"/>
              <a:chOff x="628650" y="2171700"/>
              <a:chExt cx="381000" cy="36195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38175" y="2171700"/>
                <a:ext cx="3619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04775">
                    <a:moveTo>
                      <a:pt x="0" y="104775"/>
                    </a:moveTo>
                    <a:lnTo>
                      <a:pt x="180975" y="0"/>
                    </a:lnTo>
                    <a:lnTo>
                      <a:pt x="361950" y="104775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28650" y="2276475"/>
                <a:ext cx="3810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57175">
                    <a:moveTo>
                      <a:pt x="47625" y="38100"/>
                    </a:moveTo>
                    <a:lnTo>
                      <a:pt x="47625" y="180975"/>
                    </a:lnTo>
                    <a:moveTo>
                      <a:pt x="123825" y="38100"/>
                    </a:moveTo>
                    <a:lnTo>
                      <a:pt x="123825" y="180975"/>
                    </a:lnTo>
                    <a:moveTo>
                      <a:pt x="257175" y="38100"/>
                    </a:moveTo>
                    <a:lnTo>
                      <a:pt x="257175" y="180975"/>
                    </a:lnTo>
                    <a:moveTo>
                      <a:pt x="333375" y="38100"/>
                    </a:moveTo>
                    <a:lnTo>
                      <a:pt x="333375" y="180975"/>
                    </a:lnTo>
                    <a:moveTo>
                      <a:pt x="19050" y="0"/>
                    </a:moveTo>
                    <a:lnTo>
                      <a:pt x="361950" y="0"/>
                    </a:lnTo>
                    <a:moveTo>
                      <a:pt x="19050" y="219075"/>
                    </a:moveTo>
                    <a:lnTo>
                      <a:pt x="361950" y="219075"/>
                    </a:lnTo>
                    <a:moveTo>
                      <a:pt x="0" y="257175"/>
                    </a:moveTo>
                    <a:lnTo>
                      <a:pt x="381000" y="25717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796290" y="2210752"/>
                <a:ext cx="45720" cy="4572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647795" y="271780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court</a:t>
              </a:r>
            </a:p>
          </p:txBody>
        </p:sp>
        <p:grpSp>
          <p:nvGrpSpPr>
            <p:cNvPr id="85" name="Group 85"/>
            <p:cNvGrpSpPr/>
            <p:nvPr/>
          </p:nvGrpSpPr>
          <p:grpSpPr>
            <a:xfrm>
              <a:off x="1838325" y="2238375"/>
              <a:ext cx="323850" cy="257175"/>
              <a:chOff x="1838325" y="2238375"/>
              <a:chExt cx="323850" cy="257175"/>
            </a:xfrm>
          </p:grpSpPr>
          <p:sp>
            <p:nvSpPr>
              <p:cNvPr id="82" name="Ellipse 82"/>
              <p:cNvSpPr/>
              <p:nvPr/>
            </p:nvSpPr>
            <p:spPr>
              <a:xfrm>
                <a:off x="1885950" y="2305050"/>
                <a:ext cx="228600" cy="15240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1885950" y="2305050"/>
                <a:ext cx="228600" cy="15240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1838325" y="2238375"/>
                <a:ext cx="32385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57175">
                    <a:moveTo>
                      <a:pt x="57150" y="114300"/>
                    </a:moveTo>
                    <a:lnTo>
                      <a:pt x="0" y="57150"/>
                    </a:lnTo>
                    <a:lnTo>
                      <a:pt x="28575" y="0"/>
                    </a:lnTo>
                    <a:moveTo>
                      <a:pt x="266700" y="114300"/>
                    </a:moveTo>
                    <a:lnTo>
                      <a:pt x="323850" y="57150"/>
                    </a:lnTo>
                    <a:lnTo>
                      <a:pt x="295275" y="0"/>
                    </a:lnTo>
                    <a:moveTo>
                      <a:pt x="66675" y="190500"/>
                    </a:moveTo>
                    <a:lnTo>
                      <a:pt x="19050" y="228600"/>
                    </a:lnTo>
                    <a:moveTo>
                      <a:pt x="257175" y="190500"/>
                    </a:moveTo>
                    <a:lnTo>
                      <a:pt x="304800" y="228600"/>
                    </a:lnTo>
                    <a:moveTo>
                      <a:pt x="95250" y="209550"/>
                    </a:moveTo>
                    <a:lnTo>
                      <a:pt x="66675" y="257175"/>
                    </a:lnTo>
                    <a:moveTo>
                      <a:pt x="228600" y="209550"/>
                    </a:moveTo>
                    <a:lnTo>
                      <a:pt x="257175" y="257175"/>
                    </a:lnTo>
                    <a:moveTo>
                      <a:pt x="133350" y="66675"/>
                    </a:moveTo>
                    <a:lnTo>
                      <a:pt x="133350" y="38100"/>
                    </a:lnTo>
                    <a:moveTo>
                      <a:pt x="190500" y="66675"/>
                    </a:moveTo>
                    <a:lnTo>
                      <a:pt x="190500" y="3810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862214" y="271780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crab</a:t>
              </a:r>
            </a:p>
          </p:txBody>
        </p:sp>
        <p:grpSp>
          <p:nvGrpSpPr>
            <p:cNvPr id="90" name="Group 90"/>
            <p:cNvGrpSpPr/>
            <p:nvPr/>
          </p:nvGrpSpPr>
          <p:grpSpPr>
            <a:xfrm>
              <a:off x="3028950" y="2143125"/>
              <a:ext cx="304800" cy="371475"/>
              <a:chOff x="3028950" y="2143125"/>
              <a:chExt cx="304800" cy="371475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3028950" y="2190750"/>
                <a:ext cx="3048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23850">
                    <a:moveTo>
                      <a:pt x="152400" y="0"/>
                    </a:moveTo>
                    <a:lnTo>
                      <a:pt x="190500" y="47625"/>
                    </a:lnTo>
                    <a:lnTo>
                      <a:pt x="247650" y="28575"/>
                    </a:lnTo>
                    <a:lnTo>
                      <a:pt x="247650" y="85725"/>
                    </a:lnTo>
                    <a:lnTo>
                      <a:pt x="304800" y="114300"/>
                    </a:lnTo>
                    <a:lnTo>
                      <a:pt x="266700" y="161925"/>
                    </a:lnTo>
                    <a:lnTo>
                      <a:pt x="304800" y="209550"/>
                    </a:lnTo>
                    <a:lnTo>
                      <a:pt x="247650" y="238125"/>
                    </a:lnTo>
                    <a:lnTo>
                      <a:pt x="247650" y="295275"/>
                    </a:lnTo>
                    <a:lnTo>
                      <a:pt x="190500" y="276225"/>
                    </a:lnTo>
                    <a:lnTo>
                      <a:pt x="152400" y="323850"/>
                    </a:lnTo>
                    <a:lnTo>
                      <a:pt x="114300" y="276225"/>
                    </a:lnTo>
                    <a:lnTo>
                      <a:pt x="57150" y="295275"/>
                    </a:lnTo>
                    <a:lnTo>
                      <a:pt x="57150" y="238125"/>
                    </a:lnTo>
                    <a:lnTo>
                      <a:pt x="0" y="209550"/>
                    </a:lnTo>
                    <a:lnTo>
                      <a:pt x="38100" y="161925"/>
                    </a:lnTo>
                    <a:lnTo>
                      <a:pt x="0" y="114300"/>
                    </a:lnTo>
                    <a:lnTo>
                      <a:pt x="57150" y="85725"/>
                    </a:lnTo>
                    <a:lnTo>
                      <a:pt x="57150" y="28575"/>
                    </a:lnTo>
                    <a:lnTo>
                      <a:pt x="114300" y="47625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3181350" y="21431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476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3152775" y="2324100"/>
                <a:ext cx="57150" cy="5715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2976677" y="2717800"/>
              <a:ext cx="409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durian</a:t>
              </a:r>
            </a:p>
          </p:txBody>
        </p:sp>
        <p:grpSp>
          <p:nvGrpSpPr>
            <p:cNvPr id="96" name="Group 96"/>
            <p:cNvGrpSpPr/>
            <p:nvPr/>
          </p:nvGrpSpPr>
          <p:grpSpPr>
            <a:xfrm>
              <a:off x="4210050" y="2190750"/>
              <a:ext cx="323850" cy="323850"/>
              <a:chOff x="4210050" y="2190750"/>
              <a:chExt cx="323850" cy="323850"/>
            </a:xfrm>
          </p:grpSpPr>
          <p:sp>
            <p:nvSpPr>
              <p:cNvPr id="92" name="Ellipse 92"/>
              <p:cNvSpPr/>
              <p:nvPr/>
            </p:nvSpPr>
            <p:spPr>
              <a:xfrm>
                <a:off x="4210050" y="2190750"/>
                <a:ext cx="228600" cy="22860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4410075" y="2390775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0" y="0"/>
                    </a:moveTo>
                    <a:lnTo>
                      <a:pt x="123825" y="12382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4267200" y="22479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lnTo>
                      <a:pt x="114300" y="57150"/>
                    </a:lnTo>
                    <a:moveTo>
                      <a:pt x="57150" y="0"/>
                    </a:moveTo>
                    <a:lnTo>
                      <a:pt x="57150" y="11430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4301490" y="2282190"/>
                <a:ext cx="45720" cy="4572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4091140" y="2717800"/>
              <a:ext cx="54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evidence</a:t>
              </a:r>
            </a:p>
          </p:txBody>
        </p:sp>
        <p:sp>
          <p:nvSpPr>
            <p:cNvPr id="98" name="Freeform 98"/>
            <p:cNvSpPr/>
            <p:nvPr/>
          </p:nvSpPr>
          <p:spPr>
            <a:xfrm>
              <a:off x="5391150" y="2209800"/>
              <a:ext cx="304800" cy="266700"/>
            </a:xfrm>
            <a:custGeom>
              <a:avLst/>
              <a:gdLst/>
              <a:ahLst/>
              <a:cxnLst/>
              <a:rect l="l" t="t" r="r" b="b"/>
              <a:pathLst>
                <a:path w="304800" h="266700">
                  <a:moveTo>
                    <a:pt x="0" y="66675"/>
                  </a:moveTo>
                  <a:lnTo>
                    <a:pt x="285750" y="66675"/>
                  </a:lnTo>
                  <a:moveTo>
                    <a:pt x="219075" y="0"/>
                  </a:moveTo>
                  <a:lnTo>
                    <a:pt x="285750" y="66675"/>
                  </a:lnTo>
                  <a:lnTo>
                    <a:pt x="219075" y="133350"/>
                  </a:lnTo>
                  <a:moveTo>
                    <a:pt x="304800" y="200025"/>
                  </a:moveTo>
                  <a:lnTo>
                    <a:pt x="19050" y="200025"/>
                  </a:lnTo>
                  <a:moveTo>
                    <a:pt x="85725" y="133350"/>
                  </a:moveTo>
                  <a:lnTo>
                    <a:pt x="19050" y="200025"/>
                  </a:lnTo>
                  <a:lnTo>
                    <a:pt x="85725" y="266700"/>
                  </a:lnTo>
                </a:path>
              </a:pathLst>
            </a:custGeom>
            <a:noFill/>
            <a:ln w="19050">
              <a:solidFill>
                <a:srgbClr val="0A0A0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272240" y="2717800"/>
              <a:ext cx="54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exchange</a:t>
              </a:r>
            </a:p>
          </p:txBody>
        </p:sp>
        <p:grpSp>
          <p:nvGrpSpPr>
            <p:cNvPr id="102" name="Group 102"/>
            <p:cNvGrpSpPr/>
            <p:nvPr/>
          </p:nvGrpSpPr>
          <p:grpSpPr>
            <a:xfrm>
              <a:off x="6591300" y="2209800"/>
              <a:ext cx="266700" cy="314325"/>
              <a:chOff x="6591300" y="2209800"/>
              <a:chExt cx="266700" cy="314325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6591300" y="2209800"/>
                <a:ext cx="2667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04800">
                    <a:moveTo>
                      <a:pt x="19050" y="76200"/>
                    </a:moveTo>
                    <a:cubicBezTo>
                      <a:pt x="38276" y="30057"/>
                      <a:pt x="83362" y="0"/>
                      <a:pt x="133350" y="0"/>
                    </a:cubicBezTo>
                    <a:cubicBezTo>
                      <a:pt x="183338" y="0"/>
                      <a:pt x="228424" y="30057"/>
                      <a:pt x="247650" y="76200"/>
                    </a:cubicBezTo>
                    <a:moveTo>
                      <a:pt x="0" y="152400"/>
                    </a:moveTo>
                    <a:cubicBezTo>
                      <a:pt x="0" y="76200"/>
                      <a:pt x="57150" y="19050"/>
                      <a:pt x="133350" y="19050"/>
                    </a:cubicBezTo>
                    <a:cubicBezTo>
                      <a:pt x="209550" y="19050"/>
                      <a:pt x="266700" y="76200"/>
                      <a:pt x="266700" y="152400"/>
                    </a:cubicBezTo>
                    <a:lnTo>
                      <a:pt x="266700" y="180975"/>
                    </a:lnTo>
                    <a:moveTo>
                      <a:pt x="57150" y="285750"/>
                    </a:moveTo>
                    <a:cubicBezTo>
                      <a:pt x="38100" y="247650"/>
                      <a:pt x="38100" y="200025"/>
                      <a:pt x="38100" y="161925"/>
                    </a:cubicBezTo>
                    <a:cubicBezTo>
                      <a:pt x="38100" y="109320"/>
                      <a:pt x="80745" y="66675"/>
                      <a:pt x="133350" y="66675"/>
                    </a:cubicBezTo>
                    <a:cubicBezTo>
                      <a:pt x="185955" y="66675"/>
                      <a:pt x="228600" y="109320"/>
                      <a:pt x="228600" y="161925"/>
                    </a:cubicBezTo>
                    <a:lnTo>
                      <a:pt x="228600" y="200025"/>
                    </a:lnTo>
                    <a:moveTo>
                      <a:pt x="114300" y="304800"/>
                    </a:moveTo>
                    <a:cubicBezTo>
                      <a:pt x="95250" y="257175"/>
                      <a:pt x="85725" y="209550"/>
                      <a:pt x="85725" y="161925"/>
                    </a:cubicBezTo>
                    <a:cubicBezTo>
                      <a:pt x="85725" y="135622"/>
                      <a:pt x="107047" y="114300"/>
                      <a:pt x="133350" y="114300"/>
                    </a:cubicBezTo>
                    <a:cubicBezTo>
                      <a:pt x="159653" y="114300"/>
                      <a:pt x="180975" y="135622"/>
                      <a:pt x="180975" y="161925"/>
                    </a:cubicBezTo>
                    <a:cubicBezTo>
                      <a:pt x="180975" y="209550"/>
                      <a:pt x="190500" y="247650"/>
                      <a:pt x="209550" y="285750"/>
                    </a:cubicBez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6724650" y="2371725"/>
                <a:ext cx="381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52400">
                    <a:moveTo>
                      <a:pt x="0" y="0"/>
                    </a:moveTo>
                    <a:cubicBezTo>
                      <a:pt x="0" y="57150"/>
                      <a:pt x="9525" y="104775"/>
                      <a:pt x="38100" y="152400"/>
                    </a:cubicBez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6353385" y="2717800"/>
              <a:ext cx="7425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fingerprint</a:t>
              </a:r>
            </a:p>
          </p:txBody>
        </p:sp>
        <p:grpSp>
          <p:nvGrpSpPr>
            <p:cNvPr id="109" name="Group 109"/>
            <p:cNvGrpSpPr/>
            <p:nvPr/>
          </p:nvGrpSpPr>
          <p:grpSpPr>
            <a:xfrm>
              <a:off x="7734300" y="2169868"/>
              <a:ext cx="342900" cy="344732"/>
              <a:chOff x="7734300" y="2169868"/>
              <a:chExt cx="342900" cy="344732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7781925" y="2190750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57150" y="0"/>
                    </a:moveTo>
                    <a:lnTo>
                      <a:pt x="161925" y="104775"/>
                    </a:lnTo>
                    <a:moveTo>
                      <a:pt x="0" y="57150"/>
                    </a:moveTo>
                    <a:lnTo>
                      <a:pt x="104775" y="161925"/>
                    </a:lnTo>
                    <a:moveTo>
                      <a:pt x="28575" y="28575"/>
                    </a:moveTo>
                    <a:lnTo>
                      <a:pt x="133350" y="1333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05" name="Rectangle 105"/>
              <p:cNvSpPr/>
              <p:nvPr/>
            </p:nvSpPr>
            <p:spPr>
              <a:xfrm rot="-2700000">
                <a:off x="7800975" y="2171700"/>
                <a:ext cx="76200" cy="171450"/>
              </a:xfrm>
              <a:prstGeom prst="roundRect">
                <a:avLst>
                  <a:gd name="adj" fmla="val 25000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7896225" y="231457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0"/>
                    </a:moveTo>
                    <a:lnTo>
                      <a:pt x="133350" y="1333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7734300" y="2476500"/>
                <a:ext cx="1714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38100">
                    <a:moveTo>
                      <a:pt x="0" y="38100"/>
                    </a:moveTo>
                    <a:lnTo>
                      <a:pt x="171450" y="38100"/>
                    </a:lnTo>
                    <a:moveTo>
                      <a:pt x="28575" y="38100"/>
                    </a:moveTo>
                    <a:lnTo>
                      <a:pt x="28575" y="0"/>
                    </a:lnTo>
                    <a:lnTo>
                      <a:pt x="142875" y="0"/>
                    </a:lnTo>
                    <a:lnTo>
                      <a:pt x="142875" y="3810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7962900" y="24955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10" name="TextBox 110"/>
            <p:cNvSpPr txBox="1"/>
            <p:nvPr/>
          </p:nvSpPr>
          <p:spPr>
            <a:xfrm>
              <a:off x="7734395" y="271780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gavel</a:t>
              </a:r>
            </a:p>
          </p:txBody>
        </p:sp>
        <p:grpSp>
          <p:nvGrpSpPr>
            <p:cNvPr id="114" name="Group 114"/>
            <p:cNvGrpSpPr/>
            <p:nvPr/>
          </p:nvGrpSpPr>
          <p:grpSpPr>
            <a:xfrm>
              <a:off x="8924925" y="2181225"/>
              <a:ext cx="323850" cy="323850"/>
              <a:chOff x="8924925" y="2181225"/>
              <a:chExt cx="323850" cy="323850"/>
            </a:xfrm>
          </p:grpSpPr>
          <p:sp>
            <p:nvSpPr>
              <p:cNvPr id="111" name="Ellipse 111"/>
              <p:cNvSpPr/>
              <p:nvPr/>
            </p:nvSpPr>
            <p:spPr>
              <a:xfrm>
                <a:off x="8924925" y="2181225"/>
                <a:ext cx="323850" cy="32385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9020175" y="2181225"/>
                <a:ext cx="133350" cy="32385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8924925" y="2257425"/>
                <a:ext cx="3238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171450">
                    <a:moveTo>
                      <a:pt x="0" y="85725"/>
                    </a:moveTo>
                    <a:lnTo>
                      <a:pt x="323850" y="85725"/>
                    </a:lnTo>
                    <a:moveTo>
                      <a:pt x="28575" y="0"/>
                    </a:moveTo>
                    <a:lnTo>
                      <a:pt x="295275" y="0"/>
                    </a:lnTo>
                    <a:moveTo>
                      <a:pt x="28575" y="171450"/>
                    </a:moveTo>
                    <a:lnTo>
                      <a:pt x="295275" y="1714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8915495" y="271780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globe</a:t>
              </a:r>
            </a:p>
          </p:txBody>
        </p:sp>
        <p:grpSp>
          <p:nvGrpSpPr>
            <p:cNvPr id="118" name="Group 118"/>
            <p:cNvGrpSpPr/>
            <p:nvPr/>
          </p:nvGrpSpPr>
          <p:grpSpPr>
            <a:xfrm>
              <a:off x="10106025" y="2181225"/>
              <a:ext cx="323850" cy="323850"/>
              <a:chOff x="10106025" y="2181225"/>
              <a:chExt cx="323850" cy="32385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10106025" y="2181225"/>
                <a:ext cx="32385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23850">
                    <a:moveTo>
                      <a:pt x="0" y="0"/>
                    </a:moveTo>
                    <a:lnTo>
                      <a:pt x="0" y="323850"/>
                    </a:lnTo>
                    <a:lnTo>
                      <a:pt x="323850" y="3238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10153650" y="2257425"/>
                <a:ext cx="2667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71450">
                    <a:moveTo>
                      <a:pt x="0" y="171450"/>
                    </a:moveTo>
                    <a:lnTo>
                      <a:pt x="85725" y="76200"/>
                    </a:lnTo>
                    <a:lnTo>
                      <a:pt x="152400" y="133350"/>
                    </a:lnTo>
                    <a:lnTo>
                      <a:pt x="266700" y="0"/>
                    </a:lnTo>
                    <a:moveTo>
                      <a:pt x="209550" y="0"/>
                    </a:moveTo>
                    <a:lnTo>
                      <a:pt x="266700" y="0"/>
                    </a:lnTo>
                    <a:lnTo>
                      <a:pt x="266700" y="571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10063277" y="2717800"/>
              <a:ext cx="409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growth</a:t>
              </a:r>
            </a:p>
          </p:txBody>
        </p:sp>
        <p:grpSp>
          <p:nvGrpSpPr>
            <p:cNvPr id="124" name="Group 124"/>
            <p:cNvGrpSpPr/>
            <p:nvPr/>
          </p:nvGrpSpPr>
          <p:grpSpPr>
            <a:xfrm>
              <a:off x="11268075" y="2247900"/>
              <a:ext cx="361950" cy="228600"/>
              <a:chOff x="11268075" y="2247900"/>
              <a:chExt cx="361950" cy="228600"/>
            </a:xfrm>
          </p:grpSpPr>
          <p:sp>
            <p:nvSpPr>
              <p:cNvPr id="120" name="Ellipse 120"/>
              <p:cNvSpPr/>
              <p:nvPr/>
            </p:nvSpPr>
            <p:spPr>
              <a:xfrm>
                <a:off x="11268075" y="232410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11477625" y="232410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11344275" y="2276475"/>
                <a:ext cx="2095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47625">
                    <a:moveTo>
                      <a:pt x="0" y="47625"/>
                    </a:moveTo>
                    <a:lnTo>
                      <a:pt x="0" y="0"/>
                    </a:lnTo>
                    <a:moveTo>
                      <a:pt x="209550" y="47625"/>
                    </a:moveTo>
                    <a:lnTo>
                      <a:pt x="209550" y="0"/>
                    </a:lnTo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11401425" y="2247900"/>
                <a:ext cx="952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57150">
                    <a:moveTo>
                      <a:pt x="0" y="0"/>
                    </a:moveTo>
                    <a:lnTo>
                      <a:pt x="19050" y="28575"/>
                    </a:lnTo>
                    <a:lnTo>
                      <a:pt x="0" y="57150"/>
                    </a:lnTo>
                    <a:moveTo>
                      <a:pt x="95250" y="0"/>
                    </a:moveTo>
                    <a:lnTo>
                      <a:pt x="76200" y="28575"/>
                    </a:lnTo>
                    <a:lnTo>
                      <a:pt x="95250" y="571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25" name="TextBox 125"/>
            <p:cNvSpPr txBox="1"/>
            <p:nvPr/>
          </p:nvSpPr>
          <p:spPr>
            <a:xfrm>
              <a:off x="11144421" y="2717800"/>
              <a:ext cx="609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handcuffs</a:t>
              </a:r>
            </a:p>
          </p:txBody>
        </p:sp>
        <p:grpSp>
          <p:nvGrpSpPr>
            <p:cNvPr id="129" name="Group 129"/>
            <p:cNvGrpSpPr/>
            <p:nvPr/>
          </p:nvGrpSpPr>
          <p:grpSpPr>
            <a:xfrm>
              <a:off x="647700" y="3343275"/>
              <a:ext cx="361950" cy="323850"/>
              <a:chOff x="647700" y="3343275"/>
              <a:chExt cx="361950" cy="323850"/>
            </a:xfrm>
          </p:grpSpPr>
          <p:sp>
            <p:nvSpPr>
              <p:cNvPr id="126" name="Freeform 126"/>
              <p:cNvSpPr/>
              <p:nvPr/>
            </p:nvSpPr>
            <p:spPr>
              <a:xfrm>
                <a:off x="647700" y="3514725"/>
                <a:ext cx="3429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52400">
                    <a:moveTo>
                      <a:pt x="0" y="0"/>
                    </a:moveTo>
                    <a:lnTo>
                      <a:pt x="342900" y="0"/>
                    </a:lnTo>
                    <a:cubicBezTo>
                      <a:pt x="342900" y="90488"/>
                      <a:pt x="266700" y="152400"/>
                      <a:pt x="171450" y="152400"/>
                    </a:cubicBezTo>
                    <a:cubicBezTo>
                      <a:pt x="76200" y="152400"/>
                      <a:pt x="0" y="90488"/>
                      <a:pt x="0" y="0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714375" y="3343275"/>
                <a:ext cx="2952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95275" h="142875">
                    <a:moveTo>
                      <a:pt x="142875" y="133350"/>
                    </a:moveTo>
                    <a:lnTo>
                      <a:pt x="257175" y="0"/>
                    </a:lnTo>
                    <a:moveTo>
                      <a:pt x="180975" y="142875"/>
                    </a:moveTo>
                    <a:lnTo>
                      <a:pt x="295275" y="28575"/>
                    </a:lnTo>
                    <a:moveTo>
                      <a:pt x="19050" y="104775"/>
                    </a:moveTo>
                    <a:cubicBezTo>
                      <a:pt x="0" y="76200"/>
                      <a:pt x="38100" y="57150"/>
                      <a:pt x="19050" y="28575"/>
                    </a:cubicBezTo>
                    <a:moveTo>
                      <a:pt x="76200" y="104775"/>
                    </a:moveTo>
                    <a:cubicBezTo>
                      <a:pt x="57150" y="76200"/>
                      <a:pt x="95250" y="57150"/>
                      <a:pt x="76200" y="28575"/>
                    </a:cubicBez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28" name="Freeform 128"/>
              <p:cNvSpPr/>
              <p:nvPr/>
            </p:nvSpPr>
            <p:spPr>
              <a:xfrm>
                <a:off x="704850" y="3452812"/>
                <a:ext cx="228600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61912">
                    <a:moveTo>
                      <a:pt x="0" y="61912"/>
                    </a:moveTo>
                    <a:cubicBezTo>
                      <a:pt x="19050" y="19050"/>
                      <a:pt x="66675" y="0"/>
                      <a:pt x="114300" y="0"/>
                    </a:cubicBezTo>
                    <a:cubicBezTo>
                      <a:pt x="161925" y="0"/>
                      <a:pt x="209550" y="19050"/>
                      <a:pt x="228600" y="61912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30" name="TextBox 130"/>
            <p:cNvSpPr txBox="1"/>
            <p:nvPr/>
          </p:nvSpPr>
          <p:spPr>
            <a:xfrm>
              <a:off x="614477" y="3879850"/>
              <a:ext cx="409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hawker</a:t>
              </a:r>
            </a:p>
          </p:txBody>
        </p:sp>
        <p:grpSp>
          <p:nvGrpSpPr>
            <p:cNvPr id="133" name="Group 133"/>
            <p:cNvGrpSpPr/>
            <p:nvPr/>
          </p:nvGrpSpPr>
          <p:grpSpPr>
            <a:xfrm>
              <a:off x="1819275" y="3352800"/>
              <a:ext cx="361950" cy="323850"/>
              <a:chOff x="1819275" y="3352800"/>
              <a:chExt cx="361950" cy="32385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1819275" y="3352800"/>
                <a:ext cx="36195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323850">
                    <a:moveTo>
                      <a:pt x="47625" y="323850"/>
                    </a:moveTo>
                    <a:lnTo>
                      <a:pt x="47625" y="0"/>
                    </a:lnTo>
                    <a:lnTo>
                      <a:pt x="200025" y="0"/>
                    </a:lnTo>
                    <a:lnTo>
                      <a:pt x="200025" y="323850"/>
                    </a:lnTo>
                    <a:moveTo>
                      <a:pt x="200025" y="323850"/>
                    </a:moveTo>
                    <a:lnTo>
                      <a:pt x="200025" y="95250"/>
                    </a:lnTo>
                    <a:lnTo>
                      <a:pt x="314325" y="95250"/>
                    </a:lnTo>
                    <a:lnTo>
                      <a:pt x="314325" y="323850"/>
                    </a:lnTo>
                    <a:moveTo>
                      <a:pt x="0" y="323850"/>
                    </a:moveTo>
                    <a:lnTo>
                      <a:pt x="361950" y="323850"/>
                    </a:lnTo>
                    <a:moveTo>
                      <a:pt x="85725" y="47625"/>
                    </a:moveTo>
                    <a:lnTo>
                      <a:pt x="114300" y="47625"/>
                    </a:lnTo>
                    <a:moveTo>
                      <a:pt x="142875" y="47625"/>
                    </a:moveTo>
                    <a:lnTo>
                      <a:pt x="171450" y="47625"/>
                    </a:lnTo>
                    <a:moveTo>
                      <a:pt x="85725" y="104775"/>
                    </a:moveTo>
                    <a:lnTo>
                      <a:pt x="114300" y="104775"/>
                    </a:lnTo>
                    <a:moveTo>
                      <a:pt x="142875" y="104775"/>
                    </a:moveTo>
                    <a:lnTo>
                      <a:pt x="171450" y="104775"/>
                    </a:lnTo>
                    <a:moveTo>
                      <a:pt x="85725" y="161925"/>
                    </a:moveTo>
                    <a:lnTo>
                      <a:pt x="114300" y="161925"/>
                    </a:lnTo>
                    <a:moveTo>
                      <a:pt x="85725" y="219075"/>
                    </a:moveTo>
                    <a:lnTo>
                      <a:pt x="114300" y="219075"/>
                    </a:lnTo>
                    <a:moveTo>
                      <a:pt x="142875" y="219075"/>
                    </a:moveTo>
                    <a:lnTo>
                      <a:pt x="171450" y="219075"/>
                    </a:lnTo>
                    <a:moveTo>
                      <a:pt x="85725" y="276225"/>
                    </a:moveTo>
                    <a:lnTo>
                      <a:pt x="114300" y="276225"/>
                    </a:lnTo>
                    <a:moveTo>
                      <a:pt x="142875" y="276225"/>
                    </a:moveTo>
                    <a:lnTo>
                      <a:pt x="171450" y="276225"/>
                    </a:lnTo>
                    <a:moveTo>
                      <a:pt x="238125" y="142875"/>
                    </a:moveTo>
                    <a:lnTo>
                      <a:pt x="276225" y="142875"/>
                    </a:lnTo>
                    <a:moveTo>
                      <a:pt x="238125" y="200025"/>
                    </a:moveTo>
                    <a:lnTo>
                      <a:pt x="276225" y="200025"/>
                    </a:lnTo>
                    <a:moveTo>
                      <a:pt x="238125" y="257175"/>
                    </a:moveTo>
                    <a:lnTo>
                      <a:pt x="276225" y="25717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32" name="Rectangle 132"/>
              <p:cNvSpPr/>
              <p:nvPr/>
            </p:nvSpPr>
            <p:spPr>
              <a:xfrm>
                <a:off x="1957388" y="3500438"/>
                <a:ext cx="38100" cy="38100"/>
              </a:xfrm>
              <a:prstGeom prst="rect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34" name="TextBox 134"/>
            <p:cNvSpPr txBox="1"/>
            <p:nvPr/>
          </p:nvSpPr>
          <p:spPr>
            <a:xfrm>
              <a:off x="1895532" y="387985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hdb</a:t>
              </a:r>
            </a:p>
          </p:txBody>
        </p:sp>
        <p:grpSp>
          <p:nvGrpSpPr>
            <p:cNvPr id="138" name="Group 138"/>
            <p:cNvGrpSpPr/>
            <p:nvPr/>
          </p:nvGrpSpPr>
          <p:grpSpPr>
            <a:xfrm>
              <a:off x="3009900" y="3324225"/>
              <a:ext cx="342900" cy="352425"/>
              <a:chOff x="3009900" y="3324225"/>
              <a:chExt cx="342900" cy="352425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3143250" y="3343275"/>
                <a:ext cx="6667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75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333375"/>
                    </a:lnTo>
                    <a:lnTo>
                      <a:pt x="0" y="333375"/>
                    </a:lnTo>
                    <a:close/>
                    <a:moveTo>
                      <a:pt x="33338" y="0"/>
                    </a:moveTo>
                    <a:lnTo>
                      <a:pt x="33338" y="33337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36" name="Freeform 136"/>
              <p:cNvSpPr/>
              <p:nvPr/>
            </p:nvSpPr>
            <p:spPr>
              <a:xfrm>
                <a:off x="3009900" y="3324225"/>
                <a:ext cx="3429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23850">
                    <a:moveTo>
                      <a:pt x="0" y="104775"/>
                    </a:moveTo>
                    <a:cubicBezTo>
                      <a:pt x="0" y="85725"/>
                      <a:pt x="114300" y="85725"/>
                      <a:pt x="114300" y="104775"/>
                    </a:cubicBezTo>
                    <a:lnTo>
                      <a:pt x="114300" y="152400"/>
                    </a:lnTo>
                    <a:cubicBezTo>
                      <a:pt x="114300" y="171450"/>
                      <a:pt x="0" y="171450"/>
                      <a:pt x="0" y="152400"/>
                    </a:cubicBezTo>
                    <a:close/>
                    <a:moveTo>
                      <a:pt x="4762" y="180975"/>
                    </a:moveTo>
                    <a:cubicBezTo>
                      <a:pt x="4762" y="161925"/>
                      <a:pt x="109538" y="161925"/>
                      <a:pt x="109538" y="180975"/>
                    </a:cubicBezTo>
                    <a:lnTo>
                      <a:pt x="109538" y="228600"/>
                    </a:lnTo>
                    <a:cubicBezTo>
                      <a:pt x="109538" y="247650"/>
                      <a:pt x="4762" y="247650"/>
                      <a:pt x="4762" y="228600"/>
                    </a:cubicBezTo>
                    <a:close/>
                    <a:moveTo>
                      <a:pt x="14288" y="257175"/>
                    </a:moveTo>
                    <a:cubicBezTo>
                      <a:pt x="14288" y="238125"/>
                      <a:pt x="100012" y="238125"/>
                      <a:pt x="100012" y="257175"/>
                    </a:cubicBezTo>
                    <a:lnTo>
                      <a:pt x="100012" y="304800"/>
                    </a:lnTo>
                    <a:cubicBezTo>
                      <a:pt x="100012" y="323850"/>
                      <a:pt x="14288" y="323850"/>
                      <a:pt x="14288" y="304800"/>
                    </a:cubicBezTo>
                    <a:close/>
                    <a:moveTo>
                      <a:pt x="219075" y="47625"/>
                    </a:moveTo>
                    <a:cubicBezTo>
                      <a:pt x="219075" y="0"/>
                      <a:pt x="342900" y="0"/>
                      <a:pt x="342900" y="47625"/>
                    </a:cubicBezTo>
                    <a:lnTo>
                      <a:pt x="342900" y="104775"/>
                    </a:lnTo>
                    <a:cubicBezTo>
                      <a:pt x="342900" y="123825"/>
                      <a:pt x="219075" y="123825"/>
                      <a:pt x="219075" y="104775"/>
                    </a:cubicBezTo>
                    <a:close/>
                    <a:moveTo>
                      <a:pt x="219075" y="142875"/>
                    </a:moveTo>
                    <a:cubicBezTo>
                      <a:pt x="219075" y="123825"/>
                      <a:pt x="342900" y="123825"/>
                      <a:pt x="342900" y="142875"/>
                    </a:cubicBezTo>
                    <a:lnTo>
                      <a:pt x="342900" y="200025"/>
                    </a:lnTo>
                    <a:cubicBezTo>
                      <a:pt x="342900" y="219075"/>
                      <a:pt x="219075" y="219075"/>
                      <a:pt x="219075" y="200025"/>
                    </a:cubicBezTo>
                    <a:close/>
                    <a:moveTo>
                      <a:pt x="228600" y="238125"/>
                    </a:moveTo>
                    <a:cubicBezTo>
                      <a:pt x="228600" y="219075"/>
                      <a:pt x="333375" y="219075"/>
                      <a:pt x="333375" y="238125"/>
                    </a:cubicBezTo>
                    <a:lnTo>
                      <a:pt x="333375" y="295275"/>
                    </a:lnTo>
                    <a:cubicBezTo>
                      <a:pt x="333375" y="314325"/>
                      <a:pt x="228600" y="314325"/>
                      <a:pt x="228600" y="295275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37" name="Freeform 137"/>
              <p:cNvSpPr/>
              <p:nvPr/>
            </p:nvSpPr>
            <p:spPr>
              <a:xfrm>
                <a:off x="3019425" y="3362325"/>
                <a:ext cx="10477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38100">
                    <a:moveTo>
                      <a:pt x="0" y="38100"/>
                    </a:moveTo>
                    <a:cubicBezTo>
                      <a:pt x="19050" y="9525"/>
                      <a:pt x="38100" y="9525"/>
                      <a:pt x="47625" y="28575"/>
                    </a:cubicBezTo>
                    <a:cubicBezTo>
                      <a:pt x="57150" y="0"/>
                      <a:pt x="85725" y="0"/>
                      <a:pt x="104775" y="28575"/>
                    </a:cubicBez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39" name="TextBox 139"/>
            <p:cNvSpPr txBox="1"/>
            <p:nvPr/>
          </p:nvSpPr>
          <p:spPr>
            <a:xfrm>
              <a:off x="3043314" y="387985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hive</a:t>
              </a:r>
            </a:p>
          </p:txBody>
        </p:sp>
        <p:grpSp>
          <p:nvGrpSpPr>
            <p:cNvPr id="144" name="Group 144"/>
            <p:cNvGrpSpPr/>
            <p:nvPr/>
          </p:nvGrpSpPr>
          <p:grpSpPr>
            <a:xfrm>
              <a:off x="4162425" y="3328035"/>
              <a:ext cx="400050" cy="348615"/>
              <a:chOff x="4162425" y="3328035"/>
              <a:chExt cx="400050" cy="348615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4229100" y="333375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133350" y="0"/>
                    </a:moveTo>
                    <a:lnTo>
                      <a:pt x="133350" y="323850"/>
                    </a:lnTo>
                    <a:moveTo>
                      <a:pt x="57150" y="342900"/>
                    </a:moveTo>
                    <a:lnTo>
                      <a:pt x="209550" y="342900"/>
                    </a:lnTo>
                    <a:moveTo>
                      <a:pt x="0" y="57150"/>
                    </a:moveTo>
                    <a:lnTo>
                      <a:pt x="266700" y="571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4171950" y="3390900"/>
                <a:ext cx="3810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33350">
                    <a:moveTo>
                      <a:pt x="57150" y="0"/>
                    </a:moveTo>
                    <a:lnTo>
                      <a:pt x="0" y="133350"/>
                    </a:lnTo>
                    <a:moveTo>
                      <a:pt x="57150" y="0"/>
                    </a:moveTo>
                    <a:lnTo>
                      <a:pt x="114300" y="133350"/>
                    </a:lnTo>
                    <a:moveTo>
                      <a:pt x="323850" y="0"/>
                    </a:moveTo>
                    <a:lnTo>
                      <a:pt x="266700" y="133350"/>
                    </a:lnTo>
                    <a:moveTo>
                      <a:pt x="323850" y="0"/>
                    </a:moveTo>
                    <a:lnTo>
                      <a:pt x="381000" y="1333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42" name="Freeform 142"/>
              <p:cNvSpPr/>
              <p:nvPr/>
            </p:nvSpPr>
            <p:spPr>
              <a:xfrm>
                <a:off x="4162425" y="3524250"/>
                <a:ext cx="4000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8100">
                    <a:moveTo>
                      <a:pt x="0" y="0"/>
                    </a:moveTo>
                    <a:cubicBezTo>
                      <a:pt x="0" y="21042"/>
                      <a:pt x="29851" y="38100"/>
                      <a:pt x="66675" y="38100"/>
                    </a:cubicBezTo>
                    <a:cubicBezTo>
                      <a:pt x="103499" y="38100"/>
                      <a:pt x="133350" y="21042"/>
                      <a:pt x="133350" y="0"/>
                    </a:cubicBezTo>
                    <a:close/>
                    <a:moveTo>
                      <a:pt x="266700" y="0"/>
                    </a:moveTo>
                    <a:cubicBezTo>
                      <a:pt x="266700" y="21042"/>
                      <a:pt x="296551" y="38100"/>
                      <a:pt x="333375" y="38100"/>
                    </a:cubicBezTo>
                    <a:cubicBezTo>
                      <a:pt x="370199" y="38100"/>
                      <a:pt x="400050" y="21042"/>
                      <a:pt x="400050" y="0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4337685" y="3328035"/>
                <a:ext cx="49530" cy="4953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45" name="TextBox 145"/>
            <p:cNvSpPr txBox="1"/>
            <p:nvPr/>
          </p:nvSpPr>
          <p:spPr>
            <a:xfrm>
              <a:off x="4124458" y="3879850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justice</a:t>
              </a:r>
            </a:p>
          </p:txBody>
        </p:sp>
        <p:grpSp>
          <p:nvGrpSpPr>
            <p:cNvPr id="149" name="Group 149"/>
            <p:cNvGrpSpPr/>
            <p:nvPr/>
          </p:nvGrpSpPr>
          <p:grpSpPr>
            <a:xfrm>
              <a:off x="5386388" y="3433762"/>
              <a:ext cx="328612" cy="142876"/>
              <a:chOff x="5386388" y="3433762"/>
              <a:chExt cx="328612" cy="142876"/>
            </a:xfrm>
          </p:grpSpPr>
          <p:sp>
            <p:nvSpPr>
              <p:cNvPr id="146" name="Ellipse 146"/>
              <p:cNvSpPr/>
              <p:nvPr/>
            </p:nvSpPr>
            <p:spPr>
              <a:xfrm>
                <a:off x="5386388" y="3433762"/>
                <a:ext cx="142875" cy="142875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5529262" y="3505200"/>
                <a:ext cx="185738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57150">
                    <a:moveTo>
                      <a:pt x="0" y="0"/>
                    </a:moveTo>
                    <a:lnTo>
                      <a:pt x="185738" y="0"/>
                    </a:lnTo>
                    <a:moveTo>
                      <a:pt x="128588" y="0"/>
                    </a:moveTo>
                    <a:lnTo>
                      <a:pt x="128588" y="57150"/>
                    </a:lnTo>
                    <a:moveTo>
                      <a:pt x="176212" y="0"/>
                    </a:moveTo>
                    <a:lnTo>
                      <a:pt x="176212" y="4762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48" name="Ellipse 148"/>
              <p:cNvSpPr/>
              <p:nvPr/>
            </p:nvSpPr>
            <p:spPr>
              <a:xfrm>
                <a:off x="5434965" y="3482340"/>
                <a:ext cx="45720" cy="4572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50" name="TextBox 150"/>
            <p:cNvSpPr txBox="1"/>
            <p:nvPr/>
          </p:nvSpPr>
          <p:spPr>
            <a:xfrm>
              <a:off x="5438832" y="387985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key</a:t>
              </a:r>
            </a:p>
          </p:txBody>
        </p:sp>
        <p:grpSp>
          <p:nvGrpSpPr>
            <p:cNvPr id="154" name="Group 154"/>
            <p:cNvGrpSpPr/>
            <p:nvPr/>
          </p:nvGrpSpPr>
          <p:grpSpPr>
            <a:xfrm>
              <a:off x="6553200" y="3333750"/>
              <a:ext cx="342900" cy="352425"/>
              <a:chOff x="6553200" y="3333750"/>
              <a:chExt cx="342900" cy="352425"/>
            </a:xfrm>
          </p:grpSpPr>
          <p:sp>
            <p:nvSpPr>
              <p:cNvPr id="151" name="Freeform 151"/>
              <p:cNvSpPr/>
              <p:nvPr/>
            </p:nvSpPr>
            <p:spPr>
              <a:xfrm>
                <a:off x="6591300" y="3448050"/>
                <a:ext cx="2286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0955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114300"/>
                    </a:lnTo>
                    <a:cubicBezTo>
                      <a:pt x="228600" y="166905"/>
                      <a:pt x="185955" y="209550"/>
                      <a:pt x="133350" y="209550"/>
                    </a:cubicBezTo>
                    <a:lnTo>
                      <a:pt x="95250" y="209550"/>
                    </a:lnTo>
                    <a:cubicBezTo>
                      <a:pt x="42645" y="209550"/>
                      <a:pt x="0" y="166905"/>
                      <a:pt x="0" y="114300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52" name="Freeform 152"/>
              <p:cNvSpPr/>
              <p:nvPr/>
            </p:nvSpPr>
            <p:spPr>
              <a:xfrm>
                <a:off x="6553200" y="3333750"/>
                <a:ext cx="342900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52425">
                    <a:moveTo>
                      <a:pt x="266700" y="142875"/>
                    </a:moveTo>
                    <a:lnTo>
                      <a:pt x="295275" y="142875"/>
                    </a:lnTo>
                    <a:cubicBezTo>
                      <a:pt x="321578" y="142875"/>
                      <a:pt x="342900" y="164197"/>
                      <a:pt x="342900" y="190500"/>
                    </a:cubicBezTo>
                    <a:cubicBezTo>
                      <a:pt x="342900" y="216803"/>
                      <a:pt x="321578" y="238125"/>
                      <a:pt x="295275" y="238125"/>
                    </a:cubicBezTo>
                    <a:lnTo>
                      <a:pt x="266700" y="238125"/>
                    </a:lnTo>
                    <a:moveTo>
                      <a:pt x="0" y="352425"/>
                    </a:moveTo>
                    <a:lnTo>
                      <a:pt x="304800" y="352425"/>
                    </a:lnTo>
                    <a:moveTo>
                      <a:pt x="114300" y="66675"/>
                    </a:moveTo>
                    <a:cubicBezTo>
                      <a:pt x="95250" y="47625"/>
                      <a:pt x="133350" y="28575"/>
                      <a:pt x="114300" y="0"/>
                    </a:cubicBezTo>
                    <a:moveTo>
                      <a:pt x="190500" y="66675"/>
                    </a:moveTo>
                    <a:cubicBezTo>
                      <a:pt x="171450" y="47625"/>
                      <a:pt x="209550" y="28575"/>
                      <a:pt x="190500" y="0"/>
                    </a:cubicBez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53" name="Freeform 153"/>
              <p:cNvSpPr/>
              <p:nvPr/>
            </p:nvSpPr>
            <p:spPr>
              <a:xfrm>
                <a:off x="6619875" y="3486150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55" name="TextBox 155"/>
            <p:cNvSpPr txBox="1"/>
            <p:nvPr/>
          </p:nvSpPr>
          <p:spPr>
            <a:xfrm>
              <a:off x="6586614" y="387985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kopi</a:t>
              </a:r>
            </a:p>
          </p:txBody>
        </p:sp>
        <p:grpSp>
          <p:nvGrpSpPr>
            <p:cNvPr id="160" name="Group 160"/>
            <p:cNvGrpSpPr/>
            <p:nvPr/>
          </p:nvGrpSpPr>
          <p:grpSpPr>
            <a:xfrm>
              <a:off x="7734300" y="3371850"/>
              <a:ext cx="342900" cy="266700"/>
              <a:chOff x="7734300" y="3371850"/>
              <a:chExt cx="342900" cy="266700"/>
            </a:xfrm>
          </p:grpSpPr>
          <p:sp>
            <p:nvSpPr>
              <p:cNvPr id="156" name="Rectangle 156"/>
              <p:cNvSpPr/>
              <p:nvPr/>
            </p:nvSpPr>
            <p:spPr>
              <a:xfrm>
                <a:off x="7734300" y="3371850"/>
                <a:ext cx="342900" cy="266700"/>
              </a:xfrm>
              <a:prstGeom prst="roundRect">
                <a:avLst>
                  <a:gd name="adj" fmla="val 10714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57" name="Ellipse 157"/>
              <p:cNvSpPr/>
              <p:nvPr/>
            </p:nvSpPr>
            <p:spPr>
              <a:xfrm>
                <a:off x="7800975" y="3448050"/>
                <a:ext cx="76200" cy="7620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58" name="Freeform 158"/>
              <p:cNvSpPr/>
              <p:nvPr/>
            </p:nvSpPr>
            <p:spPr>
              <a:xfrm>
                <a:off x="7781925" y="3467100"/>
                <a:ext cx="2476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14300">
                    <a:moveTo>
                      <a:pt x="0" y="114300"/>
                    </a:moveTo>
                    <a:cubicBezTo>
                      <a:pt x="9525" y="71438"/>
                      <a:pt x="104775" y="71438"/>
                      <a:pt x="114300" y="114300"/>
                    </a:cubicBezTo>
                    <a:moveTo>
                      <a:pt x="152400" y="0"/>
                    </a:moveTo>
                    <a:lnTo>
                      <a:pt x="247650" y="0"/>
                    </a:lnTo>
                    <a:moveTo>
                      <a:pt x="152400" y="57150"/>
                    </a:moveTo>
                    <a:lnTo>
                      <a:pt x="247650" y="57150"/>
                    </a:lnTo>
                    <a:moveTo>
                      <a:pt x="152400" y="114300"/>
                    </a:moveTo>
                    <a:lnTo>
                      <a:pt x="209550" y="11430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59" name="Ellipse 159"/>
              <p:cNvSpPr/>
              <p:nvPr/>
            </p:nvSpPr>
            <p:spPr>
              <a:xfrm>
                <a:off x="8010525" y="3562350"/>
                <a:ext cx="38100" cy="3810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61" name="TextBox 161"/>
            <p:cNvSpPr txBox="1"/>
            <p:nvPr/>
          </p:nvSpPr>
          <p:spPr>
            <a:xfrm>
              <a:off x="7801032" y="387985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kyc</a:t>
              </a:r>
            </a:p>
          </p:txBody>
        </p:sp>
        <p:grpSp>
          <p:nvGrpSpPr>
            <p:cNvPr id="165" name="Group 165"/>
            <p:cNvGrpSpPr/>
            <p:nvPr/>
          </p:nvGrpSpPr>
          <p:grpSpPr>
            <a:xfrm>
              <a:off x="8896350" y="3381375"/>
              <a:ext cx="381000" cy="276225"/>
              <a:chOff x="8896350" y="3381375"/>
              <a:chExt cx="381000" cy="276225"/>
            </a:xfrm>
          </p:grpSpPr>
          <p:sp>
            <p:nvSpPr>
              <p:cNvPr id="162" name="Rectangle 162"/>
              <p:cNvSpPr/>
              <p:nvPr/>
            </p:nvSpPr>
            <p:spPr>
              <a:xfrm>
                <a:off x="8953500" y="3381375"/>
                <a:ext cx="266700" cy="190500"/>
              </a:xfrm>
              <a:prstGeom prst="roundRect">
                <a:avLst>
                  <a:gd name="adj" fmla="val 7500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63" name="Freeform 163"/>
              <p:cNvSpPr/>
              <p:nvPr/>
            </p:nvSpPr>
            <p:spPr>
              <a:xfrm>
                <a:off x="8896350" y="3619500"/>
                <a:ext cx="3810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">
                    <a:moveTo>
                      <a:pt x="0" y="0"/>
                    </a:moveTo>
                    <a:lnTo>
                      <a:pt x="381000" y="0"/>
                    </a:lnTo>
                    <a:lnTo>
                      <a:pt x="352425" y="38100"/>
                    </a:lnTo>
                    <a:lnTo>
                      <a:pt x="28575" y="38100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64" name="Freeform 164"/>
              <p:cNvSpPr/>
              <p:nvPr/>
            </p:nvSpPr>
            <p:spPr>
              <a:xfrm>
                <a:off x="9001125" y="3448050"/>
                <a:ext cx="1524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47625">
                    <a:moveTo>
                      <a:pt x="0" y="0"/>
                    </a:moveTo>
                    <a:lnTo>
                      <a:pt x="95250" y="0"/>
                    </a:lnTo>
                    <a:moveTo>
                      <a:pt x="0" y="47625"/>
                    </a:moveTo>
                    <a:lnTo>
                      <a:pt x="152400" y="4762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66" name="TextBox 166"/>
            <p:cNvSpPr txBox="1"/>
            <p:nvPr/>
          </p:nvSpPr>
          <p:spPr>
            <a:xfrm>
              <a:off x="8882177" y="3879850"/>
              <a:ext cx="409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laptop</a:t>
              </a:r>
            </a:p>
          </p:txBody>
        </p:sp>
        <p:grpSp>
          <p:nvGrpSpPr>
            <p:cNvPr id="172" name="Group 172"/>
            <p:cNvGrpSpPr/>
            <p:nvPr/>
          </p:nvGrpSpPr>
          <p:grpSpPr>
            <a:xfrm>
              <a:off x="10077450" y="3333750"/>
              <a:ext cx="381000" cy="371475"/>
              <a:chOff x="10077450" y="3333750"/>
              <a:chExt cx="381000" cy="371475"/>
            </a:xfrm>
          </p:grpSpPr>
          <p:sp>
            <p:nvSpPr>
              <p:cNvPr id="167" name="Rectangle 167"/>
              <p:cNvSpPr/>
              <p:nvPr/>
            </p:nvSpPr>
            <p:spPr>
              <a:xfrm>
                <a:off x="10096500" y="3371850"/>
                <a:ext cx="76200" cy="304800"/>
              </a:xfrm>
              <a:prstGeom prst="roundRect">
                <a:avLst>
                  <a:gd name="adj" fmla="val 12500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68" name="Rectangle 168"/>
              <p:cNvSpPr/>
              <p:nvPr/>
            </p:nvSpPr>
            <p:spPr>
              <a:xfrm>
                <a:off x="10191750" y="3333750"/>
                <a:ext cx="76200" cy="342900"/>
              </a:xfrm>
              <a:prstGeom prst="roundRect">
                <a:avLst>
                  <a:gd name="adj" fmla="val 12500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69" name="Freeform 169"/>
              <p:cNvSpPr/>
              <p:nvPr/>
            </p:nvSpPr>
            <p:spPr>
              <a:xfrm>
                <a:off x="10296525" y="3371850"/>
                <a:ext cx="14287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304800">
                    <a:moveTo>
                      <a:pt x="0" y="19050"/>
                    </a:moveTo>
                    <a:lnTo>
                      <a:pt x="66675" y="0"/>
                    </a:lnTo>
                    <a:lnTo>
                      <a:pt x="142875" y="285750"/>
                    </a:lnTo>
                    <a:lnTo>
                      <a:pt x="76200" y="304800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70" name="Freeform 170"/>
              <p:cNvSpPr/>
              <p:nvPr/>
            </p:nvSpPr>
            <p:spPr>
              <a:xfrm>
                <a:off x="10096500" y="339090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0" y="38100"/>
                    </a:moveTo>
                    <a:lnTo>
                      <a:pt x="76200" y="38100"/>
                    </a:lnTo>
                    <a:moveTo>
                      <a:pt x="0" y="228600"/>
                    </a:moveTo>
                    <a:lnTo>
                      <a:pt x="76200" y="228600"/>
                    </a:lnTo>
                    <a:moveTo>
                      <a:pt x="95250" y="0"/>
                    </a:moveTo>
                    <a:lnTo>
                      <a:pt x="171450" y="0"/>
                    </a:lnTo>
                    <a:moveTo>
                      <a:pt x="95250" y="228600"/>
                    </a:moveTo>
                    <a:lnTo>
                      <a:pt x="171450" y="22860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71" name="Freeform 171"/>
              <p:cNvSpPr/>
              <p:nvPr/>
            </p:nvSpPr>
            <p:spPr>
              <a:xfrm>
                <a:off x="10077450" y="36957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73" name="TextBox 173"/>
            <p:cNvSpPr txBox="1"/>
            <p:nvPr/>
          </p:nvSpPr>
          <p:spPr>
            <a:xfrm>
              <a:off x="9996640" y="3879850"/>
              <a:ext cx="54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lawbooks</a:t>
              </a:r>
            </a:p>
          </p:txBody>
        </p:sp>
        <p:grpSp>
          <p:nvGrpSpPr>
            <p:cNvPr id="177" name="Group 177"/>
            <p:cNvGrpSpPr/>
            <p:nvPr/>
          </p:nvGrpSpPr>
          <p:grpSpPr>
            <a:xfrm>
              <a:off x="11315700" y="3343275"/>
              <a:ext cx="266700" cy="333375"/>
              <a:chOff x="11315700" y="3343275"/>
              <a:chExt cx="266700" cy="333375"/>
            </a:xfrm>
          </p:grpSpPr>
          <p:sp>
            <p:nvSpPr>
              <p:cNvPr id="174" name="Rectangle 174"/>
              <p:cNvSpPr/>
              <p:nvPr/>
            </p:nvSpPr>
            <p:spPr>
              <a:xfrm>
                <a:off x="11315700" y="3476625"/>
                <a:ext cx="266700" cy="200025"/>
              </a:xfrm>
              <a:prstGeom prst="roundRect">
                <a:avLst>
                  <a:gd name="adj" fmla="val 14286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75" name="Freeform 175"/>
              <p:cNvSpPr/>
              <p:nvPr/>
            </p:nvSpPr>
            <p:spPr>
              <a:xfrm>
                <a:off x="11372850" y="3343275"/>
                <a:ext cx="1524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85750">
                    <a:moveTo>
                      <a:pt x="0" y="13335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ubicBezTo>
                      <a:pt x="118284" y="0"/>
                      <a:pt x="152400" y="34116"/>
                      <a:pt x="152400" y="76200"/>
                    </a:cubicBezTo>
                    <a:lnTo>
                      <a:pt x="152400" y="133350"/>
                    </a:lnTo>
                    <a:moveTo>
                      <a:pt x="76200" y="247650"/>
                    </a:moveTo>
                    <a:lnTo>
                      <a:pt x="76200" y="2857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76" name="Ellipse 176"/>
              <p:cNvSpPr/>
              <p:nvPr/>
            </p:nvSpPr>
            <p:spPr>
              <a:xfrm>
                <a:off x="11424285" y="3547110"/>
                <a:ext cx="49530" cy="4953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78" name="TextBox 178"/>
            <p:cNvSpPr txBox="1"/>
            <p:nvPr/>
          </p:nvSpPr>
          <p:spPr>
            <a:xfrm>
              <a:off x="11311014" y="387985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lock</a:t>
              </a:r>
            </a:p>
          </p:txBody>
        </p:sp>
        <p:grpSp>
          <p:nvGrpSpPr>
            <p:cNvPr id="181" name="Group 181"/>
            <p:cNvGrpSpPr/>
            <p:nvPr/>
          </p:nvGrpSpPr>
          <p:grpSpPr>
            <a:xfrm>
              <a:off x="628650" y="4543425"/>
              <a:ext cx="381000" cy="314325"/>
              <a:chOff x="628650" y="4543425"/>
              <a:chExt cx="381000" cy="314325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628650" y="4600575"/>
                <a:ext cx="3810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57175">
                    <a:moveTo>
                      <a:pt x="66675" y="238125"/>
                    </a:moveTo>
                    <a:lnTo>
                      <a:pt x="66675" y="0"/>
                    </a:lnTo>
                    <a:lnTo>
                      <a:pt x="123825" y="0"/>
                    </a:lnTo>
                    <a:lnTo>
                      <a:pt x="123825" y="238125"/>
                    </a:lnTo>
                    <a:moveTo>
                      <a:pt x="161925" y="238125"/>
                    </a:moveTo>
                    <a:lnTo>
                      <a:pt x="161925" y="0"/>
                    </a:lnTo>
                    <a:lnTo>
                      <a:pt x="219075" y="0"/>
                    </a:lnTo>
                    <a:lnTo>
                      <a:pt x="219075" y="238125"/>
                    </a:lnTo>
                    <a:moveTo>
                      <a:pt x="257175" y="238125"/>
                    </a:moveTo>
                    <a:lnTo>
                      <a:pt x="257175" y="0"/>
                    </a:lnTo>
                    <a:lnTo>
                      <a:pt x="314325" y="0"/>
                    </a:lnTo>
                    <a:lnTo>
                      <a:pt x="314325" y="238125"/>
                    </a:lnTo>
                    <a:moveTo>
                      <a:pt x="0" y="238125"/>
                    </a:moveTo>
                    <a:lnTo>
                      <a:pt x="381000" y="238125"/>
                    </a:lnTo>
                    <a:moveTo>
                      <a:pt x="19050" y="257175"/>
                    </a:moveTo>
                    <a:lnTo>
                      <a:pt x="361950" y="25717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80" name="Freeform 180"/>
              <p:cNvSpPr/>
              <p:nvPr/>
            </p:nvSpPr>
            <p:spPr>
              <a:xfrm>
                <a:off x="638175" y="4543425"/>
                <a:ext cx="3619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28575">
                    <a:moveTo>
                      <a:pt x="0" y="28575"/>
                    </a:moveTo>
                    <a:cubicBezTo>
                      <a:pt x="57150" y="0"/>
                      <a:pt x="304800" y="0"/>
                      <a:pt x="361950" y="28575"/>
                    </a:cubicBez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82" name="TextBox 182"/>
            <p:cNvSpPr txBox="1"/>
            <p:nvPr/>
          </p:nvSpPr>
          <p:spPr>
            <a:xfrm>
              <a:off x="714432" y="504190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mbs</a:t>
              </a:r>
            </a:p>
          </p:txBody>
        </p:sp>
        <p:grpSp>
          <p:nvGrpSpPr>
            <p:cNvPr id="187" name="Group 187"/>
            <p:cNvGrpSpPr/>
            <p:nvPr/>
          </p:nvGrpSpPr>
          <p:grpSpPr>
            <a:xfrm>
              <a:off x="1847850" y="4495800"/>
              <a:ext cx="304800" cy="361950"/>
              <a:chOff x="1847850" y="4495800"/>
              <a:chExt cx="304800" cy="361950"/>
            </a:xfrm>
          </p:grpSpPr>
          <p:sp>
            <p:nvSpPr>
              <p:cNvPr id="183" name="Freeform 183"/>
              <p:cNvSpPr/>
              <p:nvPr/>
            </p:nvSpPr>
            <p:spPr>
              <a:xfrm>
                <a:off x="1847850" y="449580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38100" y="0"/>
                    </a:moveTo>
                    <a:lnTo>
                      <a:pt x="266700" y="0"/>
                    </a:lnTo>
                    <a:cubicBezTo>
                      <a:pt x="287742" y="0"/>
                      <a:pt x="304800" y="17058"/>
                      <a:pt x="304800" y="38100"/>
                    </a:cubicBezTo>
                    <a:lnTo>
                      <a:pt x="304800" y="247650"/>
                    </a:lnTo>
                    <a:cubicBezTo>
                      <a:pt x="304800" y="279213"/>
                      <a:pt x="279213" y="304800"/>
                      <a:pt x="247650" y="304800"/>
                    </a:cubicBezTo>
                    <a:lnTo>
                      <a:pt x="57150" y="304800"/>
                    </a:lnTo>
                    <a:cubicBezTo>
                      <a:pt x="25587" y="304800"/>
                      <a:pt x="0" y="279213"/>
                      <a:pt x="0" y="24765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84" name="Freeform 184"/>
              <p:cNvSpPr/>
              <p:nvPr/>
            </p:nvSpPr>
            <p:spPr>
              <a:xfrm>
                <a:off x="1866900" y="4552950"/>
                <a:ext cx="2667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04800">
                    <a:moveTo>
                      <a:pt x="19050" y="0"/>
                    </a:moveTo>
                    <a:lnTo>
                      <a:pt x="247650" y="0"/>
                    </a:lnTo>
                    <a:lnTo>
                      <a:pt x="247650" y="95250"/>
                    </a:lnTo>
                    <a:lnTo>
                      <a:pt x="19050" y="95250"/>
                    </a:lnTo>
                    <a:close/>
                    <a:moveTo>
                      <a:pt x="38100" y="247650"/>
                    </a:moveTo>
                    <a:lnTo>
                      <a:pt x="0" y="304800"/>
                    </a:lnTo>
                    <a:moveTo>
                      <a:pt x="228600" y="247650"/>
                    </a:moveTo>
                    <a:lnTo>
                      <a:pt x="266700" y="304800"/>
                    </a:lnTo>
                    <a:moveTo>
                      <a:pt x="19050" y="285750"/>
                    </a:moveTo>
                    <a:lnTo>
                      <a:pt x="247650" y="2857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85" name="Ellipse 185"/>
              <p:cNvSpPr/>
              <p:nvPr/>
            </p:nvSpPr>
            <p:spPr>
              <a:xfrm>
                <a:off x="1893570" y="4703445"/>
                <a:ext cx="41910" cy="4191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86" name="Ellipse 186"/>
              <p:cNvSpPr/>
              <p:nvPr/>
            </p:nvSpPr>
            <p:spPr>
              <a:xfrm>
                <a:off x="2065020" y="4703445"/>
                <a:ext cx="41910" cy="4191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88" name="TextBox 188"/>
            <p:cNvSpPr txBox="1"/>
            <p:nvPr/>
          </p:nvSpPr>
          <p:spPr>
            <a:xfrm>
              <a:off x="1895532" y="504190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mrt</a:t>
              </a:r>
            </a:p>
          </p:txBody>
        </p:sp>
        <p:grpSp>
          <p:nvGrpSpPr>
            <p:cNvPr id="193" name="Group 193"/>
            <p:cNvGrpSpPr/>
            <p:nvPr/>
          </p:nvGrpSpPr>
          <p:grpSpPr>
            <a:xfrm>
              <a:off x="3086100" y="4486275"/>
              <a:ext cx="190500" cy="361950"/>
              <a:chOff x="3086100" y="4486275"/>
              <a:chExt cx="190500" cy="361950"/>
            </a:xfrm>
          </p:grpSpPr>
          <p:sp>
            <p:nvSpPr>
              <p:cNvPr id="189" name="Rectangle 189"/>
              <p:cNvSpPr/>
              <p:nvPr/>
            </p:nvSpPr>
            <p:spPr>
              <a:xfrm>
                <a:off x="3086100" y="4486275"/>
                <a:ext cx="190500" cy="361950"/>
              </a:xfrm>
              <a:prstGeom prst="roundRect">
                <a:avLst>
                  <a:gd name="adj" fmla="val 15000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90" name="Freeform 190"/>
              <p:cNvSpPr/>
              <p:nvPr/>
            </p:nvSpPr>
            <p:spPr>
              <a:xfrm>
                <a:off x="3152775" y="45243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91" name="Rectangle 191"/>
              <p:cNvSpPr/>
              <p:nvPr/>
            </p:nvSpPr>
            <p:spPr>
              <a:xfrm>
                <a:off x="3124200" y="4572000"/>
                <a:ext cx="47625" cy="47625"/>
              </a:xfrm>
              <a:prstGeom prst="roundRect">
                <a:avLst>
                  <a:gd name="adj" fmla="val 20000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92" name="Freeform 192"/>
              <p:cNvSpPr/>
              <p:nvPr/>
            </p:nvSpPr>
            <p:spPr>
              <a:xfrm>
                <a:off x="3124200" y="4572000"/>
                <a:ext cx="1143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23825">
                    <a:moveTo>
                      <a:pt x="76200" y="0"/>
                    </a:moveTo>
                    <a:lnTo>
                      <a:pt x="114300" y="0"/>
                    </a:lnTo>
                    <a:lnTo>
                      <a:pt x="114300" y="47625"/>
                    </a:lnTo>
                    <a:lnTo>
                      <a:pt x="76200" y="47625"/>
                    </a:lnTo>
                    <a:close/>
                    <a:moveTo>
                      <a:pt x="0" y="76200"/>
                    </a:moveTo>
                    <a:lnTo>
                      <a:pt x="47625" y="76200"/>
                    </a:lnTo>
                    <a:lnTo>
                      <a:pt x="47625" y="123825"/>
                    </a:lnTo>
                    <a:lnTo>
                      <a:pt x="0" y="123825"/>
                    </a:lnTo>
                    <a:close/>
                    <a:moveTo>
                      <a:pt x="76200" y="76200"/>
                    </a:moveTo>
                    <a:lnTo>
                      <a:pt x="114300" y="76200"/>
                    </a:lnTo>
                    <a:lnTo>
                      <a:pt x="114300" y="123825"/>
                    </a:lnTo>
                    <a:lnTo>
                      <a:pt x="76200" y="123825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94" name="TextBox 194"/>
            <p:cNvSpPr txBox="1"/>
            <p:nvPr/>
          </p:nvSpPr>
          <p:spPr>
            <a:xfrm>
              <a:off x="3009995" y="504190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phone</a:t>
              </a:r>
            </a:p>
          </p:txBody>
        </p:sp>
        <p:grpSp>
          <p:nvGrpSpPr>
            <p:cNvPr id="197" name="Group 197"/>
            <p:cNvGrpSpPr/>
            <p:nvPr/>
          </p:nvGrpSpPr>
          <p:grpSpPr>
            <a:xfrm>
              <a:off x="4191000" y="4476750"/>
              <a:ext cx="342900" cy="361950"/>
              <a:chOff x="4191000" y="4476750"/>
              <a:chExt cx="342900" cy="361950"/>
            </a:xfrm>
          </p:grpSpPr>
          <p:sp>
            <p:nvSpPr>
              <p:cNvPr id="195" name="Freeform 195"/>
              <p:cNvSpPr/>
              <p:nvPr/>
            </p:nvSpPr>
            <p:spPr>
              <a:xfrm>
                <a:off x="4191000" y="4476750"/>
                <a:ext cx="34290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61950">
                    <a:moveTo>
                      <a:pt x="142875" y="19050"/>
                    </a:moveTo>
                    <a:cubicBezTo>
                      <a:pt x="142875" y="0"/>
                      <a:pt x="200025" y="0"/>
                      <a:pt x="200025" y="19050"/>
                    </a:cubicBezTo>
                    <a:lnTo>
                      <a:pt x="200025" y="133350"/>
                    </a:lnTo>
                    <a:lnTo>
                      <a:pt x="342900" y="209550"/>
                    </a:lnTo>
                    <a:lnTo>
                      <a:pt x="342900" y="247650"/>
                    </a:lnTo>
                    <a:lnTo>
                      <a:pt x="200025" y="209550"/>
                    </a:lnTo>
                    <a:lnTo>
                      <a:pt x="200025" y="295275"/>
                    </a:lnTo>
                    <a:lnTo>
                      <a:pt x="247650" y="333375"/>
                    </a:lnTo>
                    <a:lnTo>
                      <a:pt x="247650" y="361950"/>
                    </a:lnTo>
                    <a:lnTo>
                      <a:pt x="171450" y="342900"/>
                    </a:lnTo>
                    <a:lnTo>
                      <a:pt x="95250" y="361950"/>
                    </a:lnTo>
                    <a:lnTo>
                      <a:pt x="95250" y="333375"/>
                    </a:lnTo>
                    <a:lnTo>
                      <a:pt x="142875" y="295275"/>
                    </a:lnTo>
                    <a:lnTo>
                      <a:pt x="142875" y="209550"/>
                    </a:lnTo>
                    <a:lnTo>
                      <a:pt x="0" y="247650"/>
                    </a:lnTo>
                    <a:lnTo>
                      <a:pt x="0" y="209550"/>
                    </a:lnTo>
                    <a:lnTo>
                      <a:pt x="142875" y="133350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196" name="Freeform 196"/>
              <p:cNvSpPr/>
              <p:nvPr/>
            </p:nvSpPr>
            <p:spPr>
              <a:xfrm>
                <a:off x="4333875" y="4610100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198" name="TextBox 198"/>
            <p:cNvSpPr txBox="1"/>
            <p:nvPr/>
          </p:nvSpPr>
          <p:spPr>
            <a:xfrm>
              <a:off x="4191095" y="504190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plane</a:t>
              </a:r>
            </a:p>
          </p:txBody>
        </p:sp>
        <p:grpSp>
          <p:nvGrpSpPr>
            <p:cNvPr id="202" name="Group 202"/>
            <p:cNvGrpSpPr/>
            <p:nvPr/>
          </p:nvGrpSpPr>
          <p:grpSpPr>
            <a:xfrm>
              <a:off x="5353050" y="4514850"/>
              <a:ext cx="381000" cy="304800"/>
              <a:chOff x="5353050" y="4514850"/>
              <a:chExt cx="381000" cy="304800"/>
            </a:xfrm>
          </p:grpSpPr>
          <p:sp>
            <p:nvSpPr>
              <p:cNvPr id="199" name="Freeform 199"/>
              <p:cNvSpPr/>
              <p:nvPr/>
            </p:nvSpPr>
            <p:spPr>
              <a:xfrm>
                <a:off x="5353050" y="4552950"/>
                <a:ext cx="3810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28600">
                    <a:moveTo>
                      <a:pt x="0" y="114300"/>
                    </a:moveTo>
                    <a:cubicBezTo>
                      <a:pt x="0" y="114300"/>
                      <a:pt x="66675" y="0"/>
                      <a:pt x="190500" y="0"/>
                    </a:cubicBezTo>
                    <a:cubicBezTo>
                      <a:pt x="314325" y="0"/>
                      <a:pt x="381000" y="114300"/>
                      <a:pt x="381000" y="114300"/>
                    </a:cubicBezTo>
                    <a:cubicBezTo>
                      <a:pt x="381000" y="114300"/>
                      <a:pt x="314325" y="228600"/>
                      <a:pt x="190500" y="228600"/>
                    </a:cubicBezTo>
                    <a:cubicBezTo>
                      <a:pt x="66675" y="228600"/>
                      <a:pt x="0" y="114300"/>
                      <a:pt x="0" y="114300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00" name="Ellipse 200"/>
              <p:cNvSpPr/>
              <p:nvPr/>
            </p:nvSpPr>
            <p:spPr>
              <a:xfrm>
                <a:off x="5486400" y="4610100"/>
                <a:ext cx="114300" cy="11430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01" name="Freeform 201"/>
              <p:cNvSpPr/>
              <p:nvPr/>
            </p:nvSpPr>
            <p:spPr>
              <a:xfrm>
                <a:off x="5391150" y="451485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0" y="30480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03" name="TextBox 203"/>
            <p:cNvSpPr txBox="1"/>
            <p:nvPr/>
          </p:nvSpPr>
          <p:spPr>
            <a:xfrm>
              <a:off x="5305558" y="5041900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privacy</a:t>
              </a:r>
            </a:p>
          </p:txBody>
        </p:sp>
        <p:grpSp>
          <p:nvGrpSpPr>
            <p:cNvPr id="209" name="Group 209"/>
            <p:cNvGrpSpPr/>
            <p:nvPr/>
          </p:nvGrpSpPr>
          <p:grpSpPr>
            <a:xfrm>
              <a:off x="6562725" y="4505325"/>
              <a:ext cx="323850" cy="323850"/>
              <a:chOff x="6562725" y="4505325"/>
              <a:chExt cx="323850" cy="323850"/>
            </a:xfrm>
          </p:grpSpPr>
          <p:sp>
            <p:nvSpPr>
              <p:cNvPr id="204" name="Rectangle 204"/>
              <p:cNvSpPr/>
              <p:nvPr/>
            </p:nvSpPr>
            <p:spPr>
              <a:xfrm>
                <a:off x="6562725" y="4505325"/>
                <a:ext cx="123825" cy="123825"/>
              </a:xfrm>
              <a:prstGeom prst="rect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05" name="Rectangle 205"/>
              <p:cNvSpPr/>
              <p:nvPr/>
            </p:nvSpPr>
            <p:spPr>
              <a:xfrm>
                <a:off x="6762750" y="4505325"/>
                <a:ext cx="123825" cy="123825"/>
              </a:xfrm>
              <a:prstGeom prst="rect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06" name="Rectangle 206"/>
              <p:cNvSpPr/>
              <p:nvPr/>
            </p:nvSpPr>
            <p:spPr>
              <a:xfrm>
                <a:off x="6562725" y="4705350"/>
                <a:ext cx="123825" cy="123825"/>
              </a:xfrm>
              <a:prstGeom prst="rect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07" name="Freeform 207"/>
              <p:cNvSpPr/>
              <p:nvPr/>
            </p:nvSpPr>
            <p:spPr>
              <a:xfrm>
                <a:off x="6762750" y="4705350"/>
                <a:ext cx="1238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23825">
                    <a:moveTo>
                      <a:pt x="0" y="0"/>
                    </a:moveTo>
                    <a:lnTo>
                      <a:pt x="47625" y="0"/>
                    </a:lnTo>
                    <a:lnTo>
                      <a:pt x="47625" y="47625"/>
                    </a:lnTo>
                    <a:lnTo>
                      <a:pt x="0" y="47625"/>
                    </a:lnTo>
                    <a:close/>
                    <a:moveTo>
                      <a:pt x="76200" y="76200"/>
                    </a:moveTo>
                    <a:lnTo>
                      <a:pt x="123825" y="76200"/>
                    </a:lnTo>
                    <a:lnTo>
                      <a:pt x="123825" y="123825"/>
                    </a:lnTo>
                    <a:lnTo>
                      <a:pt x="76200" y="123825"/>
                    </a:lnTo>
                    <a:close/>
                    <a:moveTo>
                      <a:pt x="76200" y="0"/>
                    </a:moveTo>
                    <a:lnTo>
                      <a:pt x="123825" y="0"/>
                    </a:lnTo>
                    <a:moveTo>
                      <a:pt x="0" y="123825"/>
                    </a:moveTo>
                    <a:lnTo>
                      <a:pt x="28575" y="12382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08" name="Rectangle 208"/>
              <p:cNvSpPr/>
              <p:nvPr/>
            </p:nvSpPr>
            <p:spPr>
              <a:xfrm>
                <a:off x="6600825" y="4543425"/>
                <a:ext cx="47625" cy="47625"/>
              </a:xfrm>
              <a:prstGeom prst="rect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10" name="TextBox 210"/>
            <p:cNvSpPr txBox="1"/>
            <p:nvPr/>
          </p:nvSpPr>
          <p:spPr>
            <a:xfrm>
              <a:off x="6653251" y="504190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qr</a:t>
              </a:r>
            </a:p>
          </p:txBody>
        </p:sp>
        <p:grpSp>
          <p:nvGrpSpPr>
            <p:cNvPr id="214" name="Group 214"/>
            <p:cNvGrpSpPr/>
            <p:nvPr/>
          </p:nvGrpSpPr>
          <p:grpSpPr>
            <a:xfrm>
              <a:off x="7734300" y="4495800"/>
              <a:ext cx="342900" cy="352425"/>
              <a:chOff x="7734300" y="4495800"/>
              <a:chExt cx="342900" cy="352425"/>
            </a:xfrm>
          </p:grpSpPr>
          <p:sp>
            <p:nvSpPr>
              <p:cNvPr id="211" name="Freeform 211"/>
              <p:cNvSpPr/>
              <p:nvPr/>
            </p:nvSpPr>
            <p:spPr>
              <a:xfrm>
                <a:off x="7800975" y="4495800"/>
                <a:ext cx="276225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276225">
                    <a:moveTo>
                      <a:pt x="257175" y="0"/>
                    </a:moveTo>
                    <a:cubicBezTo>
                      <a:pt x="123825" y="19050"/>
                      <a:pt x="28575" y="114300"/>
                      <a:pt x="0" y="247650"/>
                    </a:cubicBezTo>
                    <a:lnTo>
                      <a:pt x="28575" y="276225"/>
                    </a:lnTo>
                    <a:cubicBezTo>
                      <a:pt x="161925" y="247650"/>
                      <a:pt x="257175" y="152400"/>
                      <a:pt x="276225" y="19050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12" name="Freeform 212"/>
              <p:cNvSpPr/>
              <p:nvPr/>
            </p:nvSpPr>
            <p:spPr>
              <a:xfrm>
                <a:off x="7762875" y="4591050"/>
                <a:ext cx="219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247650">
                    <a:moveTo>
                      <a:pt x="38100" y="152400"/>
                    </a:moveTo>
                    <a:lnTo>
                      <a:pt x="0" y="247650"/>
                    </a:lnTo>
                    <a:moveTo>
                      <a:pt x="104775" y="114300"/>
                    </a:moveTo>
                    <a:lnTo>
                      <a:pt x="219075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13" name="Freeform 213"/>
              <p:cNvSpPr/>
              <p:nvPr/>
            </p:nvSpPr>
            <p:spPr>
              <a:xfrm>
                <a:off x="7734300" y="4791075"/>
                <a:ext cx="21907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57150">
                    <a:moveTo>
                      <a:pt x="0" y="47625"/>
                    </a:moveTo>
                    <a:cubicBezTo>
                      <a:pt x="38100" y="19050"/>
                      <a:pt x="66675" y="57150"/>
                      <a:pt x="95250" y="38100"/>
                    </a:cubicBezTo>
                    <a:cubicBezTo>
                      <a:pt x="123825" y="19050"/>
                      <a:pt x="133350" y="0"/>
                      <a:pt x="161925" y="19050"/>
                    </a:cubicBezTo>
                    <a:cubicBezTo>
                      <a:pt x="190500" y="38100"/>
                      <a:pt x="200025" y="38100"/>
                      <a:pt x="219075" y="28575"/>
                    </a:cubicBez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15" name="TextBox 215"/>
            <p:cNvSpPr txBox="1"/>
            <p:nvPr/>
          </p:nvSpPr>
          <p:spPr>
            <a:xfrm>
              <a:off x="7734395" y="504190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quill</a:t>
              </a:r>
            </a:p>
          </p:txBody>
        </p:sp>
        <p:grpSp>
          <p:nvGrpSpPr>
            <p:cNvPr id="219" name="Group 219"/>
            <p:cNvGrpSpPr/>
            <p:nvPr/>
          </p:nvGrpSpPr>
          <p:grpSpPr>
            <a:xfrm>
              <a:off x="8915400" y="4495800"/>
              <a:ext cx="342900" cy="342900"/>
              <a:chOff x="8915400" y="4495800"/>
              <a:chExt cx="342900" cy="342900"/>
            </a:xfrm>
          </p:grpSpPr>
          <p:sp>
            <p:nvSpPr>
              <p:cNvPr id="216" name="Freeform 216"/>
              <p:cNvSpPr/>
              <p:nvPr/>
            </p:nvSpPr>
            <p:spPr>
              <a:xfrm>
                <a:off x="8915400" y="4495800"/>
                <a:ext cx="342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71450">
                    <a:moveTo>
                      <a:pt x="0" y="171450"/>
                    </a:moveTo>
                    <a:cubicBezTo>
                      <a:pt x="0" y="76761"/>
                      <a:pt x="76761" y="0"/>
                      <a:pt x="171450" y="0"/>
                    </a:cubicBezTo>
                    <a:cubicBezTo>
                      <a:pt x="266139" y="0"/>
                      <a:pt x="342900" y="76761"/>
                      <a:pt x="342900" y="171450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17" name="Freeform 217"/>
              <p:cNvSpPr/>
              <p:nvPr/>
            </p:nvSpPr>
            <p:spPr>
              <a:xfrm>
                <a:off x="8934450" y="4667250"/>
                <a:ext cx="2857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71450">
                    <a:moveTo>
                      <a:pt x="152400" y="0"/>
                    </a:moveTo>
                    <a:lnTo>
                      <a:pt x="152400" y="133350"/>
                    </a:lnTo>
                    <a:cubicBezTo>
                      <a:pt x="152400" y="154392"/>
                      <a:pt x="135342" y="171450"/>
                      <a:pt x="114300" y="171450"/>
                    </a:cubicBezTo>
                    <a:cubicBezTo>
                      <a:pt x="93258" y="171450"/>
                      <a:pt x="76200" y="154392"/>
                      <a:pt x="76200" y="133350"/>
                    </a:cubicBezTo>
                    <a:moveTo>
                      <a:pt x="19050" y="76200"/>
                    </a:moveTo>
                    <a:lnTo>
                      <a:pt x="0" y="114300"/>
                    </a:lnTo>
                    <a:moveTo>
                      <a:pt x="285750" y="76200"/>
                    </a:moveTo>
                    <a:lnTo>
                      <a:pt x="266700" y="114300"/>
                    </a:lnTo>
                    <a:moveTo>
                      <a:pt x="219075" y="104775"/>
                    </a:moveTo>
                    <a:lnTo>
                      <a:pt x="200025" y="14287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18" name="Freeform 218"/>
              <p:cNvSpPr/>
              <p:nvPr/>
            </p:nvSpPr>
            <p:spPr>
              <a:xfrm>
                <a:off x="9086850" y="44958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0"/>
                    </a:moveTo>
                    <a:cubicBezTo>
                      <a:pt x="94689" y="0"/>
                      <a:pt x="171450" y="76761"/>
                      <a:pt x="171450" y="171450"/>
                    </a:cubicBezTo>
                    <a:lnTo>
                      <a:pt x="57150" y="171450"/>
                    </a:lnTo>
                    <a:cubicBezTo>
                      <a:pt x="57150" y="76200"/>
                      <a:pt x="28575" y="19050"/>
                      <a:pt x="0" y="0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>
                    <a:alpha val="90000"/>
                  </a:srgbClr>
                </a:solidFill>
              </a:ln>
            </p:spPr>
          </p:sp>
        </p:grpSp>
        <p:sp>
          <p:nvSpPr>
            <p:cNvPr id="220" name="TextBox 220"/>
            <p:cNvSpPr txBox="1"/>
            <p:nvPr/>
          </p:nvSpPr>
          <p:spPr>
            <a:xfrm>
              <a:off x="8948814" y="504190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rain</a:t>
              </a:r>
            </a:p>
          </p:txBody>
        </p:sp>
        <p:grpSp>
          <p:nvGrpSpPr>
            <p:cNvPr id="225" name="Group 225"/>
            <p:cNvGrpSpPr/>
            <p:nvPr/>
          </p:nvGrpSpPr>
          <p:grpSpPr>
            <a:xfrm>
              <a:off x="10086975" y="4495800"/>
              <a:ext cx="361950" cy="323850"/>
              <a:chOff x="10086975" y="4495800"/>
              <a:chExt cx="361950" cy="323850"/>
            </a:xfrm>
          </p:grpSpPr>
          <p:sp>
            <p:nvSpPr>
              <p:cNvPr id="221" name="Freeform 221"/>
              <p:cNvSpPr/>
              <p:nvPr/>
            </p:nvSpPr>
            <p:spPr>
              <a:xfrm>
                <a:off x="10134600" y="4495800"/>
                <a:ext cx="2667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23850">
                    <a:moveTo>
                      <a:pt x="133350" y="0"/>
                    </a:moveTo>
                    <a:lnTo>
                      <a:pt x="133350" y="323850"/>
                    </a:lnTo>
                    <a:moveTo>
                      <a:pt x="38100" y="323850"/>
                    </a:moveTo>
                    <a:lnTo>
                      <a:pt x="228600" y="323850"/>
                    </a:lnTo>
                    <a:moveTo>
                      <a:pt x="0" y="57150"/>
                    </a:moveTo>
                    <a:lnTo>
                      <a:pt x="266700" y="571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22" name="Freeform 222"/>
              <p:cNvSpPr/>
              <p:nvPr/>
            </p:nvSpPr>
            <p:spPr>
              <a:xfrm>
                <a:off x="10086975" y="4552950"/>
                <a:ext cx="3619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14300">
                    <a:moveTo>
                      <a:pt x="47625" y="0"/>
                    </a:moveTo>
                    <a:lnTo>
                      <a:pt x="0" y="114300"/>
                    </a:lnTo>
                    <a:lnTo>
                      <a:pt x="95250" y="114300"/>
                    </a:lnTo>
                    <a:close/>
                    <a:moveTo>
                      <a:pt x="314325" y="0"/>
                    </a:moveTo>
                    <a:lnTo>
                      <a:pt x="266700" y="114300"/>
                    </a:lnTo>
                    <a:lnTo>
                      <a:pt x="361950" y="114300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23" name="Freeform 223"/>
              <p:cNvSpPr/>
              <p:nvPr/>
            </p:nvSpPr>
            <p:spPr>
              <a:xfrm>
                <a:off x="10086975" y="4667250"/>
                <a:ext cx="3619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28575">
                    <a:moveTo>
                      <a:pt x="0" y="0"/>
                    </a:moveTo>
                    <a:cubicBezTo>
                      <a:pt x="0" y="15782"/>
                      <a:pt x="21322" y="28575"/>
                      <a:pt x="47625" y="28575"/>
                    </a:cubicBezTo>
                    <a:cubicBezTo>
                      <a:pt x="73928" y="28575"/>
                      <a:pt x="95250" y="15782"/>
                      <a:pt x="95250" y="0"/>
                    </a:cubicBezTo>
                    <a:close/>
                    <a:moveTo>
                      <a:pt x="266700" y="0"/>
                    </a:moveTo>
                    <a:cubicBezTo>
                      <a:pt x="266700" y="15782"/>
                      <a:pt x="288022" y="28575"/>
                      <a:pt x="314325" y="28575"/>
                    </a:cubicBezTo>
                    <a:cubicBezTo>
                      <a:pt x="340628" y="28575"/>
                      <a:pt x="361950" y="15782"/>
                      <a:pt x="361950" y="0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24" name="Ellipse 224"/>
              <p:cNvSpPr/>
              <p:nvPr/>
            </p:nvSpPr>
            <p:spPr>
              <a:xfrm>
                <a:off x="10248900" y="4495800"/>
                <a:ext cx="38100" cy="3810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26" name="TextBox 226"/>
            <p:cNvSpPr txBox="1"/>
            <p:nvPr/>
          </p:nvSpPr>
          <p:spPr>
            <a:xfrm>
              <a:off x="9963321" y="5041900"/>
              <a:ext cx="609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regulator</a:t>
              </a:r>
            </a:p>
          </p:txBody>
        </p:sp>
        <p:grpSp>
          <p:nvGrpSpPr>
            <p:cNvPr id="231" name="Group 231"/>
            <p:cNvGrpSpPr/>
            <p:nvPr/>
          </p:nvGrpSpPr>
          <p:grpSpPr>
            <a:xfrm>
              <a:off x="11306175" y="4495800"/>
              <a:ext cx="285750" cy="333375"/>
              <a:chOff x="11306175" y="4495800"/>
              <a:chExt cx="285750" cy="333375"/>
            </a:xfrm>
          </p:grpSpPr>
          <p:sp>
            <p:nvSpPr>
              <p:cNvPr id="227" name="Freeform 227"/>
              <p:cNvSpPr/>
              <p:nvPr/>
            </p:nvSpPr>
            <p:spPr>
              <a:xfrm>
                <a:off x="11391900" y="4495800"/>
                <a:ext cx="1143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3335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76200"/>
                    </a:lnTo>
                    <a:cubicBezTo>
                      <a:pt x="114300" y="107763"/>
                      <a:pt x="88713" y="133350"/>
                      <a:pt x="57150" y="133350"/>
                    </a:cubicBezTo>
                    <a:cubicBezTo>
                      <a:pt x="25587" y="133350"/>
                      <a:pt x="0" y="107763"/>
                      <a:pt x="0" y="76200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28" name="Freeform 228"/>
              <p:cNvSpPr/>
              <p:nvPr/>
            </p:nvSpPr>
            <p:spPr>
              <a:xfrm>
                <a:off x="11325225" y="4629150"/>
                <a:ext cx="2476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76200">
                    <a:moveTo>
                      <a:pt x="28575" y="0"/>
                    </a:moveTo>
                    <a:lnTo>
                      <a:pt x="219075" y="0"/>
                    </a:lnTo>
                    <a:lnTo>
                      <a:pt x="247650" y="76200"/>
                    </a:lnTo>
                    <a:lnTo>
                      <a:pt x="0" y="76200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29" name="Rectangle 229"/>
              <p:cNvSpPr/>
              <p:nvPr/>
            </p:nvSpPr>
            <p:spPr>
              <a:xfrm>
                <a:off x="11306175" y="4705350"/>
                <a:ext cx="285750" cy="47625"/>
              </a:xfrm>
              <a:prstGeom prst="roundRect">
                <a:avLst>
                  <a:gd name="adj" fmla="val 20000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30" name="Freeform 230"/>
              <p:cNvSpPr/>
              <p:nvPr/>
            </p:nvSpPr>
            <p:spPr>
              <a:xfrm>
                <a:off x="11315700" y="4819650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32" name="TextBox 232"/>
            <p:cNvSpPr txBox="1"/>
            <p:nvPr/>
          </p:nvSpPr>
          <p:spPr>
            <a:xfrm>
              <a:off x="11311014" y="5041900"/>
              <a:ext cx="2760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seal</a:t>
              </a:r>
            </a:p>
          </p:txBody>
        </p:sp>
        <p:sp>
          <p:nvSpPr>
            <p:cNvPr id="233" name="Freeform 233"/>
            <p:cNvSpPr/>
            <p:nvPr/>
          </p:nvSpPr>
          <p:spPr>
            <a:xfrm>
              <a:off x="723900" y="5657850"/>
              <a:ext cx="190500" cy="285750"/>
            </a:xfrm>
            <a:custGeom>
              <a:avLst/>
              <a:gdLst/>
              <a:ahLst/>
              <a:cxnLst/>
              <a:rect l="l" t="t" r="r" b="b"/>
              <a:pathLst>
                <a:path w="190500" h="285750">
                  <a:moveTo>
                    <a:pt x="152400" y="38100"/>
                  </a:moveTo>
                  <a:cubicBezTo>
                    <a:pt x="133350" y="0"/>
                    <a:pt x="38100" y="0"/>
                    <a:pt x="38100" y="57150"/>
                  </a:cubicBezTo>
                  <a:cubicBezTo>
                    <a:pt x="38100" y="114300"/>
                    <a:pt x="152400" y="95250"/>
                    <a:pt x="152400" y="161925"/>
                  </a:cubicBezTo>
                  <a:cubicBezTo>
                    <a:pt x="152400" y="228600"/>
                    <a:pt x="57150" y="228600"/>
                    <a:pt x="38100" y="190500"/>
                  </a:cubicBezTo>
                  <a:moveTo>
                    <a:pt x="38100" y="114300"/>
                  </a:moveTo>
                  <a:cubicBezTo>
                    <a:pt x="0" y="133350"/>
                    <a:pt x="0" y="180975"/>
                    <a:pt x="47625" y="200025"/>
                  </a:cubicBezTo>
                  <a:moveTo>
                    <a:pt x="152400" y="190500"/>
                  </a:moveTo>
                  <a:cubicBezTo>
                    <a:pt x="190500" y="209550"/>
                    <a:pt x="190500" y="257175"/>
                    <a:pt x="142875" y="276225"/>
                  </a:cubicBezTo>
                  <a:cubicBezTo>
                    <a:pt x="114300" y="285750"/>
                    <a:pt x="57150" y="285750"/>
                    <a:pt x="38100" y="247650"/>
                  </a:cubicBezTo>
                </a:path>
              </a:pathLst>
            </a:custGeom>
            <a:noFill/>
            <a:ln w="19050">
              <a:solidFill>
                <a:srgbClr val="0A0A0A"/>
              </a:solidFill>
            </a:ln>
          </p:spPr>
        </p:sp>
        <p:sp>
          <p:nvSpPr>
            <p:cNvPr id="234" name="TextBox 234"/>
            <p:cNvSpPr txBox="1"/>
            <p:nvPr/>
          </p:nvSpPr>
          <p:spPr>
            <a:xfrm>
              <a:off x="581158" y="6203950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section</a:t>
              </a:r>
            </a:p>
          </p:txBody>
        </p:sp>
        <p:grpSp>
          <p:nvGrpSpPr>
            <p:cNvPr id="237" name="Group 237"/>
            <p:cNvGrpSpPr/>
            <p:nvPr/>
          </p:nvGrpSpPr>
          <p:grpSpPr>
            <a:xfrm>
              <a:off x="1857375" y="5648325"/>
              <a:ext cx="285750" cy="361950"/>
              <a:chOff x="1857375" y="5648325"/>
              <a:chExt cx="285750" cy="361950"/>
            </a:xfrm>
          </p:grpSpPr>
          <p:sp>
            <p:nvSpPr>
              <p:cNvPr id="235" name="Freeform 235"/>
              <p:cNvSpPr/>
              <p:nvPr/>
            </p:nvSpPr>
            <p:spPr>
              <a:xfrm>
                <a:off x="1857375" y="5648325"/>
                <a:ext cx="285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61950">
                    <a:moveTo>
                      <a:pt x="142875" y="0"/>
                    </a:moveTo>
                    <a:lnTo>
                      <a:pt x="285750" y="57150"/>
                    </a:lnTo>
                    <a:lnTo>
                      <a:pt x="285750" y="171450"/>
                    </a:lnTo>
                    <a:cubicBezTo>
                      <a:pt x="285750" y="266700"/>
                      <a:pt x="219075" y="333375"/>
                      <a:pt x="142875" y="361950"/>
                    </a:cubicBezTo>
                    <a:cubicBezTo>
                      <a:pt x="66675" y="333375"/>
                      <a:pt x="0" y="266700"/>
                      <a:pt x="0" y="171450"/>
                    </a:cubicBezTo>
                    <a:lnTo>
                      <a:pt x="0" y="57150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36" name="Freeform 236"/>
              <p:cNvSpPr/>
              <p:nvPr/>
            </p:nvSpPr>
            <p:spPr>
              <a:xfrm>
                <a:off x="1933575" y="578167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38" name="TextBox 238"/>
            <p:cNvSpPr txBox="1"/>
            <p:nvPr/>
          </p:nvSpPr>
          <p:spPr>
            <a:xfrm>
              <a:off x="1795577" y="6203950"/>
              <a:ext cx="409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shield</a:t>
              </a:r>
            </a:p>
          </p:txBody>
        </p:sp>
        <p:grpSp>
          <p:nvGrpSpPr>
            <p:cNvPr id="242" name="Group 242"/>
            <p:cNvGrpSpPr/>
            <p:nvPr/>
          </p:nvGrpSpPr>
          <p:grpSpPr>
            <a:xfrm>
              <a:off x="3048000" y="5657850"/>
              <a:ext cx="266700" cy="342900"/>
              <a:chOff x="3048000" y="5657850"/>
              <a:chExt cx="266700" cy="342900"/>
            </a:xfrm>
          </p:grpSpPr>
          <p:sp>
            <p:nvSpPr>
              <p:cNvPr id="239" name="Freeform 239"/>
              <p:cNvSpPr/>
              <p:nvPr/>
            </p:nvSpPr>
            <p:spPr>
              <a:xfrm>
                <a:off x="3048000" y="565785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0" y="0"/>
                    </a:moveTo>
                    <a:lnTo>
                      <a:pt x="228600" y="0"/>
                    </a:lnTo>
                    <a:cubicBezTo>
                      <a:pt x="249642" y="0"/>
                      <a:pt x="266700" y="17058"/>
                      <a:pt x="266700" y="38100"/>
                    </a:cubicBezTo>
                    <a:lnTo>
                      <a:pt x="266700" y="342900"/>
                    </a:ln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40" name="Freeform 240"/>
              <p:cNvSpPr/>
              <p:nvPr/>
            </p:nvSpPr>
            <p:spPr>
              <a:xfrm>
                <a:off x="3048000" y="5924550"/>
                <a:ext cx="2667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81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41" name="Freeform 241"/>
              <p:cNvSpPr/>
              <p:nvPr/>
            </p:nvSpPr>
            <p:spPr>
              <a:xfrm>
                <a:off x="3133725" y="5705475"/>
                <a:ext cx="7620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4775">
                    <a:moveTo>
                      <a:pt x="76200" y="19050"/>
                    </a:moveTo>
                    <a:cubicBezTo>
                      <a:pt x="61912" y="0"/>
                      <a:pt x="19050" y="0"/>
                      <a:pt x="19050" y="28575"/>
                    </a:cubicBezTo>
                    <a:cubicBezTo>
                      <a:pt x="19050" y="57150"/>
                      <a:pt x="76200" y="47625"/>
                      <a:pt x="76200" y="76200"/>
                    </a:cubicBezTo>
                    <a:cubicBezTo>
                      <a:pt x="76200" y="104775"/>
                      <a:pt x="33338" y="104775"/>
                      <a:pt x="19050" y="85725"/>
                    </a:cubicBezTo>
                    <a:moveTo>
                      <a:pt x="19050" y="47625"/>
                    </a:moveTo>
                    <a:cubicBezTo>
                      <a:pt x="0" y="57150"/>
                      <a:pt x="0" y="76200"/>
                      <a:pt x="19050" y="85725"/>
                    </a:cubicBez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43" name="TextBox 243"/>
            <p:cNvSpPr txBox="1"/>
            <p:nvPr/>
          </p:nvSpPr>
          <p:spPr>
            <a:xfrm>
              <a:off x="2943358" y="6203950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statute</a:t>
              </a:r>
            </a:p>
          </p:txBody>
        </p:sp>
        <p:grpSp>
          <p:nvGrpSpPr>
            <p:cNvPr id="247" name="Group 247"/>
            <p:cNvGrpSpPr/>
            <p:nvPr/>
          </p:nvGrpSpPr>
          <p:grpSpPr>
            <a:xfrm>
              <a:off x="4171950" y="5686425"/>
              <a:ext cx="381000" cy="266700"/>
              <a:chOff x="4171950" y="5686425"/>
              <a:chExt cx="381000" cy="266700"/>
            </a:xfrm>
          </p:grpSpPr>
          <p:sp>
            <p:nvSpPr>
              <p:cNvPr id="244" name="Freeform 244"/>
              <p:cNvSpPr/>
              <p:nvPr/>
            </p:nvSpPr>
            <p:spPr>
              <a:xfrm>
                <a:off x="4171950" y="5686425"/>
                <a:ext cx="3810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71450">
                    <a:moveTo>
                      <a:pt x="0" y="85725"/>
                    </a:moveTo>
                    <a:lnTo>
                      <a:pt x="190500" y="0"/>
                    </a:lnTo>
                    <a:lnTo>
                      <a:pt x="381000" y="85725"/>
                    </a:lnTo>
                    <a:lnTo>
                      <a:pt x="190500" y="171450"/>
                    </a:lnTo>
                    <a:close/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45" name="Freeform 245"/>
              <p:cNvSpPr/>
              <p:nvPr/>
            </p:nvSpPr>
            <p:spPr>
              <a:xfrm>
                <a:off x="4248150" y="5791200"/>
                <a:ext cx="26670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61925">
                    <a:moveTo>
                      <a:pt x="0" y="19050"/>
                    </a:moveTo>
                    <a:lnTo>
                      <a:pt x="0" y="104775"/>
                    </a:lnTo>
                    <a:cubicBezTo>
                      <a:pt x="0" y="133350"/>
                      <a:pt x="57150" y="161925"/>
                      <a:pt x="114300" y="161925"/>
                    </a:cubicBezTo>
                    <a:cubicBezTo>
                      <a:pt x="171450" y="161925"/>
                      <a:pt x="228600" y="133350"/>
                      <a:pt x="228600" y="104775"/>
                    </a:cubicBezTo>
                    <a:lnTo>
                      <a:pt x="228600" y="19050"/>
                    </a:lnTo>
                    <a:moveTo>
                      <a:pt x="266700" y="0"/>
                    </a:moveTo>
                    <a:lnTo>
                      <a:pt x="266700" y="11430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46" name="Ellipse 246"/>
              <p:cNvSpPr/>
              <p:nvPr/>
            </p:nvSpPr>
            <p:spPr>
              <a:xfrm>
                <a:off x="4491990" y="5901690"/>
                <a:ext cx="45720" cy="4572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48" name="TextBox 248"/>
            <p:cNvSpPr txBox="1"/>
            <p:nvPr/>
          </p:nvSpPr>
          <p:spPr>
            <a:xfrm>
              <a:off x="4191095" y="620395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study</a:t>
              </a:r>
            </a:p>
          </p:txBody>
        </p:sp>
        <p:grpSp>
          <p:nvGrpSpPr>
            <p:cNvPr id="252" name="Group 252"/>
            <p:cNvGrpSpPr/>
            <p:nvPr/>
          </p:nvGrpSpPr>
          <p:grpSpPr>
            <a:xfrm>
              <a:off x="5362575" y="5648325"/>
              <a:ext cx="361950" cy="361950"/>
              <a:chOff x="5362575" y="5648325"/>
              <a:chExt cx="361950" cy="361950"/>
            </a:xfrm>
          </p:grpSpPr>
          <p:sp>
            <p:nvSpPr>
              <p:cNvPr id="249" name="Ellipse 249"/>
              <p:cNvSpPr/>
              <p:nvPr/>
            </p:nvSpPr>
            <p:spPr>
              <a:xfrm>
                <a:off x="5467350" y="575310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50" name="Ellipse 250"/>
              <p:cNvSpPr/>
              <p:nvPr/>
            </p:nvSpPr>
            <p:spPr>
              <a:xfrm>
                <a:off x="5467350" y="575310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51" name="Freeform 251"/>
              <p:cNvSpPr/>
              <p:nvPr/>
            </p:nvSpPr>
            <p:spPr>
              <a:xfrm>
                <a:off x="5362575" y="5648325"/>
                <a:ext cx="3619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361950">
                    <a:moveTo>
                      <a:pt x="180975" y="0"/>
                    </a:moveTo>
                    <a:lnTo>
                      <a:pt x="180975" y="57150"/>
                    </a:lnTo>
                    <a:moveTo>
                      <a:pt x="180975" y="304800"/>
                    </a:moveTo>
                    <a:lnTo>
                      <a:pt x="180975" y="361950"/>
                    </a:lnTo>
                    <a:moveTo>
                      <a:pt x="0" y="180975"/>
                    </a:moveTo>
                    <a:lnTo>
                      <a:pt x="57150" y="180975"/>
                    </a:lnTo>
                    <a:moveTo>
                      <a:pt x="304800" y="180975"/>
                    </a:moveTo>
                    <a:lnTo>
                      <a:pt x="361950" y="180975"/>
                    </a:lnTo>
                    <a:moveTo>
                      <a:pt x="52388" y="52388"/>
                    </a:moveTo>
                    <a:lnTo>
                      <a:pt x="90488" y="90488"/>
                    </a:lnTo>
                    <a:moveTo>
                      <a:pt x="271462" y="271462"/>
                    </a:moveTo>
                    <a:lnTo>
                      <a:pt x="309562" y="309562"/>
                    </a:lnTo>
                    <a:moveTo>
                      <a:pt x="309562" y="52388"/>
                    </a:moveTo>
                    <a:lnTo>
                      <a:pt x="271462" y="90488"/>
                    </a:lnTo>
                    <a:moveTo>
                      <a:pt x="90488" y="271462"/>
                    </a:moveTo>
                    <a:lnTo>
                      <a:pt x="52388" y="309562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53" name="TextBox 253"/>
            <p:cNvSpPr txBox="1"/>
            <p:nvPr/>
          </p:nvSpPr>
          <p:spPr>
            <a:xfrm>
              <a:off x="5438832" y="620395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sun</a:t>
              </a:r>
            </a:p>
          </p:txBody>
        </p:sp>
        <p:grpSp>
          <p:nvGrpSpPr>
            <p:cNvPr id="256" name="Group 256"/>
            <p:cNvGrpSpPr/>
            <p:nvPr/>
          </p:nvGrpSpPr>
          <p:grpSpPr>
            <a:xfrm>
              <a:off x="6572250" y="5686425"/>
              <a:ext cx="304800" cy="314325"/>
              <a:chOff x="6572250" y="5686425"/>
              <a:chExt cx="304800" cy="314325"/>
            </a:xfrm>
          </p:grpSpPr>
          <p:sp>
            <p:nvSpPr>
              <p:cNvPr id="254" name="Freeform 254"/>
              <p:cNvSpPr/>
              <p:nvPr/>
            </p:nvSpPr>
            <p:spPr>
              <a:xfrm>
                <a:off x="6581775" y="5686425"/>
                <a:ext cx="28575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314325">
                    <a:moveTo>
                      <a:pt x="142875" y="314325"/>
                    </a:moveTo>
                    <a:lnTo>
                      <a:pt x="142875" y="123825"/>
                    </a:lnTo>
                    <a:moveTo>
                      <a:pt x="104775" y="314325"/>
                    </a:moveTo>
                    <a:lnTo>
                      <a:pt x="180975" y="314325"/>
                    </a:lnTo>
                    <a:moveTo>
                      <a:pt x="0" y="0"/>
                    </a:moveTo>
                    <a:lnTo>
                      <a:pt x="142875" y="123825"/>
                    </a:lnTo>
                    <a:lnTo>
                      <a:pt x="285750" y="0"/>
                    </a:lnTo>
                    <a:moveTo>
                      <a:pt x="76200" y="0"/>
                    </a:moveTo>
                    <a:lnTo>
                      <a:pt x="142875" y="123825"/>
                    </a:lnTo>
                    <a:lnTo>
                      <a:pt x="20955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55" name="Freeform 255"/>
              <p:cNvSpPr/>
              <p:nvPr/>
            </p:nvSpPr>
            <p:spPr>
              <a:xfrm>
                <a:off x="6572250" y="5686425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">
                    <a:moveTo>
                      <a:pt x="0" y="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57" name="TextBox 257"/>
            <p:cNvSpPr txBox="1"/>
            <p:nvPr/>
          </p:nvSpPr>
          <p:spPr>
            <a:xfrm>
              <a:off x="6420021" y="6203950"/>
              <a:ext cx="609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supertree</a:t>
              </a:r>
            </a:p>
          </p:txBody>
        </p:sp>
        <p:grpSp>
          <p:nvGrpSpPr>
            <p:cNvPr id="261" name="Group 261"/>
            <p:cNvGrpSpPr/>
            <p:nvPr/>
          </p:nvGrpSpPr>
          <p:grpSpPr>
            <a:xfrm>
              <a:off x="7724775" y="5715000"/>
              <a:ext cx="400050" cy="209550"/>
              <a:chOff x="7724775" y="5715000"/>
              <a:chExt cx="400050" cy="209550"/>
            </a:xfrm>
          </p:grpSpPr>
          <p:sp>
            <p:nvSpPr>
              <p:cNvPr id="258" name="Rectangle 258"/>
              <p:cNvSpPr/>
              <p:nvPr/>
            </p:nvSpPr>
            <p:spPr>
              <a:xfrm>
                <a:off x="7724775" y="5715000"/>
                <a:ext cx="285750" cy="209550"/>
              </a:xfrm>
              <a:prstGeom prst="roundRect">
                <a:avLst>
                  <a:gd name="adj" fmla="val 13636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59" name="Freeform 259"/>
              <p:cNvSpPr/>
              <p:nvPr/>
            </p:nvSpPr>
            <p:spPr>
              <a:xfrm>
                <a:off x="7772400" y="5738812"/>
                <a:ext cx="352425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52425" h="180975">
                    <a:moveTo>
                      <a:pt x="0" y="128588"/>
                    </a:moveTo>
                    <a:lnTo>
                      <a:pt x="95250" y="128588"/>
                    </a:lnTo>
                    <a:moveTo>
                      <a:pt x="266700" y="33338"/>
                    </a:moveTo>
                    <a:cubicBezTo>
                      <a:pt x="295275" y="61912"/>
                      <a:pt x="295275" y="119062"/>
                      <a:pt x="266700" y="147638"/>
                    </a:cubicBezTo>
                    <a:moveTo>
                      <a:pt x="304800" y="0"/>
                    </a:moveTo>
                    <a:cubicBezTo>
                      <a:pt x="352425" y="47625"/>
                      <a:pt x="352425" y="133350"/>
                      <a:pt x="304800" y="180975"/>
                    </a:cubicBez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60" name="Rectangle 260"/>
              <p:cNvSpPr/>
              <p:nvPr/>
            </p:nvSpPr>
            <p:spPr>
              <a:xfrm>
                <a:off x="7772400" y="5762625"/>
                <a:ext cx="66675" cy="47625"/>
              </a:xfrm>
              <a:prstGeom prst="roundRect">
                <a:avLst>
                  <a:gd name="adj" fmla="val 20000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62" name="TextBox 262"/>
            <p:cNvSpPr txBox="1"/>
            <p:nvPr/>
          </p:nvSpPr>
          <p:spPr>
            <a:xfrm>
              <a:off x="7667758" y="6203950"/>
              <a:ext cx="4759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transit</a:t>
              </a:r>
            </a:p>
          </p:txBody>
        </p:sp>
        <p:grpSp>
          <p:nvGrpSpPr>
            <p:cNvPr id="267" name="Group 267"/>
            <p:cNvGrpSpPr/>
            <p:nvPr/>
          </p:nvGrpSpPr>
          <p:grpSpPr>
            <a:xfrm>
              <a:off x="8924925" y="5657850"/>
              <a:ext cx="323850" cy="352425"/>
              <a:chOff x="8924925" y="5657850"/>
              <a:chExt cx="323850" cy="352425"/>
            </a:xfrm>
          </p:grpSpPr>
          <p:sp>
            <p:nvSpPr>
              <p:cNvPr id="263" name="Rectangle 263"/>
              <p:cNvSpPr/>
              <p:nvPr/>
            </p:nvSpPr>
            <p:spPr>
              <a:xfrm>
                <a:off x="8924925" y="5657850"/>
                <a:ext cx="323850" cy="323850"/>
              </a:xfrm>
              <a:prstGeom prst="roundRect">
                <a:avLst>
                  <a:gd name="adj" fmla="val 8824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64" name="Ellipse 264"/>
              <p:cNvSpPr/>
              <p:nvPr/>
            </p:nvSpPr>
            <p:spPr>
              <a:xfrm>
                <a:off x="9001125" y="5734050"/>
                <a:ext cx="171450" cy="17145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65" name="Freeform 265"/>
              <p:cNvSpPr/>
              <p:nvPr/>
            </p:nvSpPr>
            <p:spPr>
              <a:xfrm>
                <a:off x="8972550" y="5734050"/>
                <a:ext cx="228600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76225">
                    <a:moveTo>
                      <a:pt x="114300" y="0"/>
                    </a:moveTo>
                    <a:lnTo>
                      <a:pt x="114300" y="38100"/>
                    </a:lnTo>
                    <a:moveTo>
                      <a:pt x="114300" y="133350"/>
                    </a:moveTo>
                    <a:lnTo>
                      <a:pt x="114300" y="171450"/>
                    </a:lnTo>
                    <a:moveTo>
                      <a:pt x="28575" y="85725"/>
                    </a:moveTo>
                    <a:lnTo>
                      <a:pt x="66675" y="85725"/>
                    </a:lnTo>
                    <a:moveTo>
                      <a:pt x="161925" y="85725"/>
                    </a:moveTo>
                    <a:lnTo>
                      <a:pt x="200025" y="85725"/>
                    </a:lnTo>
                    <a:moveTo>
                      <a:pt x="0" y="247650"/>
                    </a:moveTo>
                    <a:lnTo>
                      <a:pt x="0" y="276225"/>
                    </a:lnTo>
                    <a:moveTo>
                      <a:pt x="228600" y="247650"/>
                    </a:moveTo>
                    <a:lnTo>
                      <a:pt x="228600" y="27622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66" name="Ellipse 266"/>
              <p:cNvSpPr/>
              <p:nvPr/>
            </p:nvSpPr>
            <p:spPr>
              <a:xfrm>
                <a:off x="9062085" y="5795010"/>
                <a:ext cx="49530" cy="4953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68" name="TextBox 268"/>
            <p:cNvSpPr txBox="1"/>
            <p:nvPr/>
          </p:nvSpPr>
          <p:spPr>
            <a:xfrm>
              <a:off x="8915495" y="620395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vault</a:t>
              </a:r>
            </a:p>
          </p:txBody>
        </p:sp>
        <p:grpSp>
          <p:nvGrpSpPr>
            <p:cNvPr id="273" name="Group 273"/>
            <p:cNvGrpSpPr/>
            <p:nvPr/>
          </p:nvGrpSpPr>
          <p:grpSpPr>
            <a:xfrm>
              <a:off x="10096500" y="5657850"/>
              <a:ext cx="342900" cy="323850"/>
              <a:chOff x="10096500" y="5657850"/>
              <a:chExt cx="342900" cy="323850"/>
            </a:xfrm>
          </p:grpSpPr>
          <p:sp>
            <p:nvSpPr>
              <p:cNvPr id="269" name="Rectangle 269"/>
              <p:cNvSpPr/>
              <p:nvPr/>
            </p:nvSpPr>
            <p:spPr>
              <a:xfrm>
                <a:off x="10096500" y="5724525"/>
                <a:ext cx="342900" cy="257175"/>
              </a:xfrm>
              <a:prstGeom prst="roundRect">
                <a:avLst>
                  <a:gd name="adj" fmla="val 11111"/>
                </a:avLst>
              </a:pr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70" name="Freeform 270"/>
              <p:cNvSpPr/>
              <p:nvPr/>
            </p:nvSpPr>
            <p:spPr>
              <a:xfrm>
                <a:off x="10134600" y="5657850"/>
                <a:ext cx="2286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66675">
                    <a:moveTo>
                      <a:pt x="0" y="66675"/>
                    </a:moveTo>
                    <a:lnTo>
                      <a:pt x="200025" y="0"/>
                    </a:lnTo>
                    <a:lnTo>
                      <a:pt x="228600" y="66675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71" name="Freeform 271"/>
              <p:cNvSpPr/>
              <p:nvPr/>
            </p:nvSpPr>
            <p:spPr>
              <a:xfrm>
                <a:off x="10287000" y="5810250"/>
                <a:ext cx="1524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0">
                    <a:moveTo>
                      <a:pt x="152400" y="0"/>
                    </a:moveTo>
                    <a:lnTo>
                      <a:pt x="47625" y="0"/>
                    </a:lnTo>
                    <a:cubicBezTo>
                      <a:pt x="21322" y="0"/>
                      <a:pt x="0" y="21322"/>
                      <a:pt x="0" y="47625"/>
                    </a:cubicBezTo>
                    <a:cubicBezTo>
                      <a:pt x="0" y="73928"/>
                      <a:pt x="21322" y="95250"/>
                      <a:pt x="47625" y="95250"/>
                    </a:cubicBezTo>
                    <a:lnTo>
                      <a:pt x="152400" y="95250"/>
                    </a:lnTo>
                  </a:path>
                </a:pathLst>
              </a:custGeom>
              <a:noFill/>
              <a:ln w="19050">
                <a:solidFill>
                  <a:srgbClr val="0A0A0A"/>
                </a:solidFill>
              </a:ln>
            </p:spPr>
          </p:sp>
          <p:sp>
            <p:nvSpPr>
              <p:cNvPr id="272" name="Ellipse 272"/>
              <p:cNvSpPr/>
              <p:nvPr/>
            </p:nvSpPr>
            <p:spPr>
              <a:xfrm>
                <a:off x="10315575" y="5838825"/>
                <a:ext cx="38100" cy="38100"/>
              </a:xfrm>
              <a:prstGeom prst="ellipse">
                <a:avLst/>
              </a:prstGeom>
              <a:noFill/>
              <a:ln w="19050">
                <a:solidFill>
                  <a:srgbClr val="0A0A0A"/>
                </a:solidFill>
              </a:ln>
            </p:spPr>
          </p:sp>
        </p:grpSp>
        <p:sp>
          <p:nvSpPr>
            <p:cNvPr id="274" name="TextBox 274"/>
            <p:cNvSpPr txBox="1"/>
            <p:nvPr/>
          </p:nvSpPr>
          <p:spPr>
            <a:xfrm>
              <a:off x="10063277" y="6203950"/>
              <a:ext cx="40934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wallet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header"/>
          <p:cNvGrpSpPr/>
          <p:nvPr/>
        </p:nvGrpSpPr>
        <p:grpSpPr>
          <a:xfrm>
            <a:off x="0" y="196850"/>
            <a:ext cx="12192000" cy="517525"/>
            <a:chOff x="0" y="196850"/>
            <a:chExt cx="12192000" cy="517525"/>
          </a:xfrm>
        </p:grpSpPr>
        <p:sp>
          <p:nvSpPr>
            <p:cNvPr id="2" name="TextBox 2"/>
            <p:cNvSpPr txBox="1"/>
            <p:nvPr/>
          </p:nvSpPr>
          <p:spPr>
            <a:xfrm>
              <a:off x="369570" y="196850"/>
              <a:ext cx="42611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0A0A0A"/>
                  </a:solidFill>
                  <a:latin typeface="+mj-lt"/>
                  <a:ea typeface="+mj-ea"/>
                  <a:cs typeface="+mj-cs"/>
                </a:rPr>
                <a:t>角色 CHARACTERS · FSC-CHAR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1536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4" name="Rectangle 4"/>
            <p:cNvSpPr/>
            <p:nvPr/>
          </p:nvSpPr>
          <p:spPr>
            <a:xfrm>
              <a:off x="102679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103251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104394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04965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06108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6680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7823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8394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9537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109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111252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1823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2966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35380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46810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525250" y="285750"/>
              <a:ext cx="114300" cy="114300"/>
            </a:xfrm>
            <a:prstGeom prst="rect">
              <a:avLst/>
            </a:prstGeom>
            <a:solidFill>
              <a:srgbClr val="D6D6D2"/>
            </a:solidFill>
            <a:ln w="19050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639550" y="333375"/>
              <a:ext cx="57150" cy="190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696700" y="285750"/>
              <a:ext cx="114300" cy="114300"/>
            </a:xfrm>
            <a:prstGeom prst="rect">
              <a:avLst/>
            </a:prstGeom>
            <a:solidFill>
              <a:srgbClr val="0A0A0A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83689" y="320675"/>
              <a:ext cx="265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spc="82" dirty="0">
                  <a:solidFill>
                    <a:srgbClr val="6B6B6B"/>
                  </a:solidFill>
                  <a:latin typeface="+mn-lt"/>
                  <a:ea typeface="+mn-ea"/>
                  <a:cs typeface="+mn-cs"/>
                </a:rPr>
                <a:t>KIT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0" y="6858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38" name="ch-alice"/>
          <p:cNvGrpSpPr/>
          <p:nvPr/>
        </p:nvGrpSpPr>
        <p:grpSpPr>
          <a:xfrm>
            <a:off x="0" y="685800"/>
            <a:ext cx="2438400" cy="6172200"/>
            <a:chOff x="0" y="685800"/>
            <a:chExt cx="2438400" cy="6172200"/>
          </a:xfrm>
        </p:grpSpPr>
        <p:sp>
          <p:nvSpPr>
            <p:cNvPr id="25" name="Rectangle 25"/>
            <p:cNvSpPr/>
            <p:nvPr/>
          </p:nvSpPr>
          <p:spPr>
            <a:xfrm>
              <a:off x="0" y="714375"/>
              <a:ext cx="2438400" cy="6143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409825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19125" y="2076450"/>
              <a:ext cx="1200150" cy="1828800"/>
              <a:chOff x="619125" y="2076450"/>
              <a:chExt cx="1200150" cy="1828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90575" y="2076450"/>
                <a:ext cx="857250" cy="942975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942975">
                    <a:moveTo>
                      <a:pt x="0" y="942975"/>
                    </a:moveTo>
                    <a:lnTo>
                      <a:pt x="0" y="428625"/>
                    </a:lnTo>
                    <a:cubicBezTo>
                      <a:pt x="0" y="191902"/>
                      <a:pt x="191902" y="0"/>
                      <a:pt x="428625" y="0"/>
                    </a:cubicBezTo>
                    <a:cubicBezTo>
                      <a:pt x="665348" y="0"/>
                      <a:pt x="857250" y="191902"/>
                      <a:pt x="857250" y="428625"/>
                    </a:cubicBezTo>
                    <a:lnTo>
                      <a:pt x="857250" y="942975"/>
                    </a:lnTo>
                    <a:lnTo>
                      <a:pt x="685800" y="942975"/>
                    </a:lnTo>
                    <a:lnTo>
                      <a:pt x="685800" y="485775"/>
                    </a:lnTo>
                    <a:lnTo>
                      <a:pt x="171450" y="485775"/>
                    </a:lnTo>
                    <a:lnTo>
                      <a:pt x="171450" y="942975"/>
                    </a:lnTo>
                    <a:close/>
                  </a:path>
                </a:pathLst>
              </a:cu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19125" y="3162300"/>
                <a:ext cx="120015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742950">
                    <a:moveTo>
                      <a:pt x="0" y="742950"/>
                    </a:moveTo>
                    <a:lnTo>
                      <a:pt x="0" y="457200"/>
                    </a:lnTo>
                    <a:cubicBezTo>
                      <a:pt x="0" y="171450"/>
                      <a:pt x="257175" y="0"/>
                      <a:pt x="600075" y="0"/>
                    </a:cubicBezTo>
                    <a:cubicBezTo>
                      <a:pt x="942975" y="0"/>
                      <a:pt x="1200150" y="171450"/>
                      <a:pt x="1200150" y="457200"/>
                    </a:cubicBezTo>
                    <a:lnTo>
                      <a:pt x="1200150" y="742950"/>
                    </a:lnTo>
                    <a:close/>
                  </a:path>
                </a:pathLst>
              </a:custGeom>
              <a:solidFill>
                <a:srgbClr val="FFFFFF"/>
              </a:solidFill>
              <a:ln w="42862">
                <a:solidFill>
                  <a:srgbClr val="0A0A0A"/>
                </a:solidFill>
                <a:round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819150" y="21336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42862">
                <a:solidFill>
                  <a:srgbClr val="0A0A0A"/>
                </a:solidFill>
                <a:round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9150" y="2133600"/>
                <a:ext cx="8001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800100" h="342900">
                    <a:moveTo>
                      <a:pt x="0" y="342900"/>
                    </a:moveTo>
                    <a:cubicBezTo>
                      <a:pt x="57150" y="114300"/>
                      <a:pt x="228600" y="0"/>
                      <a:pt x="400050" y="0"/>
                    </a:cubicBezTo>
                    <a:cubicBezTo>
                      <a:pt x="571500" y="0"/>
                      <a:pt x="742950" y="114300"/>
                      <a:pt x="800100" y="342900"/>
                    </a:cubicBezTo>
                    <a:cubicBezTo>
                      <a:pt x="657225" y="314325"/>
                      <a:pt x="485775" y="228600"/>
                      <a:pt x="400050" y="114300"/>
                    </a:cubicBezTo>
                    <a:cubicBezTo>
                      <a:pt x="314325" y="228600"/>
                      <a:pt x="142875" y="314325"/>
                      <a:pt x="0" y="342900"/>
                    </a:cubicBezTo>
                    <a:close/>
                  </a:path>
                </a:pathLst>
              </a:cu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1033462" y="2519362"/>
                <a:ext cx="85725" cy="857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1319212" y="2519362"/>
                <a:ext cx="85725" cy="857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04900" y="2733675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0" y="0"/>
                    </a:moveTo>
                    <a:cubicBezTo>
                      <a:pt x="76200" y="57150"/>
                      <a:pt x="152400" y="57150"/>
                      <a:pt x="228600" y="0"/>
                    </a:cubicBezTo>
                  </a:path>
                </a:pathLst>
              </a:custGeom>
              <a:noFill/>
              <a:ln w="42862" cap="rnd">
                <a:solidFill>
                  <a:srgbClr val="0A0A0A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1147762" y="3290888"/>
                <a:ext cx="142875" cy="142875"/>
              </a:xfrm>
              <a:prstGeom prst="ellipse">
                <a:avLst/>
              </a:prstGeom>
              <a:solidFill>
                <a:srgbClr val="F2D4CF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80816" y="4318000"/>
              <a:ext cx="6767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Alice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6326" y="4838700"/>
              <a:ext cx="10257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fsc-char/alice</a:t>
              </a:r>
            </a:p>
          </p:txBody>
        </p:sp>
      </p:grpSp>
      <p:grpSp>
        <p:nvGrpSpPr>
          <p:cNvPr id="54" name="ch-bob"/>
          <p:cNvGrpSpPr/>
          <p:nvPr/>
        </p:nvGrpSpPr>
        <p:grpSpPr>
          <a:xfrm>
            <a:off x="2438400" y="685800"/>
            <a:ext cx="2438400" cy="6172200"/>
            <a:chOff x="2438400" y="685800"/>
            <a:chExt cx="2438400" cy="6172200"/>
          </a:xfrm>
        </p:grpSpPr>
        <p:sp>
          <p:nvSpPr>
            <p:cNvPr id="39" name="Rectangle 39"/>
            <p:cNvSpPr/>
            <p:nvPr/>
          </p:nvSpPr>
          <p:spPr>
            <a:xfrm>
              <a:off x="2438400" y="714375"/>
              <a:ext cx="2438400" cy="6143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848225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3057525" y="2062162"/>
              <a:ext cx="1200150" cy="1843088"/>
              <a:chOff x="3057525" y="2062162"/>
              <a:chExt cx="1200150" cy="184308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3057525" y="3162300"/>
                <a:ext cx="120015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742950">
                    <a:moveTo>
                      <a:pt x="0" y="742950"/>
                    </a:moveTo>
                    <a:lnTo>
                      <a:pt x="0" y="457200"/>
                    </a:lnTo>
                    <a:cubicBezTo>
                      <a:pt x="0" y="171450"/>
                      <a:pt x="257175" y="0"/>
                      <a:pt x="600075" y="0"/>
                    </a:cubicBezTo>
                    <a:cubicBezTo>
                      <a:pt x="942975" y="0"/>
                      <a:pt x="1200150" y="171450"/>
                      <a:pt x="1200150" y="457200"/>
                    </a:cubicBezTo>
                    <a:lnTo>
                      <a:pt x="1200150" y="742950"/>
                    </a:lnTo>
                    <a:close/>
                  </a:path>
                </a:pathLst>
              </a:custGeom>
              <a:solidFill>
                <a:srgbClr val="FFFFFF"/>
              </a:solidFill>
              <a:ln w="42862">
                <a:solidFill>
                  <a:srgbClr val="0A0A0A"/>
                </a:solidFill>
                <a:round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3257550" y="21336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42862">
                <a:solidFill>
                  <a:srgbClr val="0A0A0A"/>
                </a:solidFill>
                <a:round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3271838" y="2062162"/>
                <a:ext cx="771525" cy="385762"/>
              </a:xfrm>
              <a:custGeom>
                <a:avLst/>
                <a:gdLst/>
                <a:ahLst/>
                <a:cxnLst/>
                <a:rect l="l" t="t" r="r" b="b"/>
                <a:pathLst>
                  <a:path w="771525" h="385762">
                    <a:moveTo>
                      <a:pt x="0" y="385762"/>
                    </a:moveTo>
                    <a:cubicBezTo>
                      <a:pt x="0" y="172712"/>
                      <a:pt x="172712" y="0"/>
                      <a:pt x="385762" y="0"/>
                    </a:cubicBezTo>
                    <a:cubicBezTo>
                      <a:pt x="598813" y="0"/>
                      <a:pt x="771525" y="172712"/>
                      <a:pt x="771525" y="385762"/>
                    </a:cubicBezTo>
                    <a:cubicBezTo>
                      <a:pt x="671512" y="285750"/>
                      <a:pt x="557212" y="242888"/>
                      <a:pt x="385762" y="242888"/>
                    </a:cubicBezTo>
                    <a:cubicBezTo>
                      <a:pt x="214312" y="242888"/>
                      <a:pt x="100012" y="285750"/>
                      <a:pt x="0" y="385762"/>
                    </a:cubicBezTo>
                    <a:close/>
                  </a:path>
                </a:pathLst>
              </a:cu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3400425" y="2447925"/>
                <a:ext cx="228600" cy="228600"/>
              </a:xfrm>
              <a:prstGeom prst="ellipse">
                <a:avLst/>
              </a:prstGeom>
              <a:noFill/>
              <a:ln w="42862" cap="rnd">
                <a:solidFill>
                  <a:srgbClr val="0A0A0A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3686175" y="2447925"/>
                <a:ext cx="228600" cy="228600"/>
              </a:xfrm>
              <a:prstGeom prst="ellipse">
                <a:avLst/>
              </a:prstGeom>
              <a:noFill/>
              <a:ln w="42862" cap="rnd">
                <a:solidFill>
                  <a:srgbClr val="0A0A0A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3629025" y="256222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42862" cap="rnd">
                <a:solidFill>
                  <a:srgbClr val="0A0A0A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3479006" y="2526506"/>
                <a:ext cx="71438" cy="71438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3764756" y="2526506"/>
                <a:ext cx="71438" cy="71438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543300" y="2733675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0" y="0"/>
                    </a:moveTo>
                    <a:cubicBezTo>
                      <a:pt x="76200" y="57150"/>
                      <a:pt x="152400" y="57150"/>
                      <a:pt x="228600" y="0"/>
                    </a:cubicBezTo>
                  </a:path>
                </a:pathLst>
              </a:custGeom>
              <a:noFill/>
              <a:ln w="42862" cap="rnd">
                <a:solidFill>
                  <a:srgbClr val="0A0A0A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514725" y="3219450"/>
                <a:ext cx="2857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71450">
                    <a:moveTo>
                      <a:pt x="0" y="0"/>
                    </a:moveTo>
                    <a:lnTo>
                      <a:pt x="285750" y="0"/>
                    </a:lnTo>
                    <a:lnTo>
                      <a:pt x="142875" y="171450"/>
                    </a:lnTo>
                    <a:close/>
                  </a:path>
                </a:pathLst>
              </a:custGeom>
              <a:solidFill>
                <a:srgbClr val="F2D4CF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3377258" y="4318000"/>
              <a:ext cx="56068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Bob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217286" y="4838700"/>
              <a:ext cx="8806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fsc-char/bob</a:t>
              </a:r>
            </a:p>
          </p:txBody>
        </p:sp>
      </p:grpSp>
      <p:grpSp>
        <p:nvGrpSpPr>
          <p:cNvPr id="67" name="ch-eve"/>
          <p:cNvGrpSpPr/>
          <p:nvPr/>
        </p:nvGrpSpPr>
        <p:grpSpPr>
          <a:xfrm>
            <a:off x="4876800" y="685800"/>
            <a:ext cx="2438400" cy="6172200"/>
            <a:chOff x="4876800" y="685800"/>
            <a:chExt cx="2438400" cy="6172200"/>
          </a:xfrm>
        </p:grpSpPr>
        <p:sp>
          <p:nvSpPr>
            <p:cNvPr id="55" name="Rectangle 55"/>
            <p:cNvSpPr/>
            <p:nvPr/>
          </p:nvSpPr>
          <p:spPr>
            <a:xfrm>
              <a:off x="4876800" y="714375"/>
              <a:ext cx="2438400" cy="6143625"/>
            </a:xfrm>
            <a:prstGeom prst="rect">
              <a:avLst/>
            </a:prstGeom>
            <a:solidFill>
              <a:srgbClr val="F2D4CF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86625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5495925" y="1950879"/>
              <a:ext cx="1200150" cy="1954371"/>
              <a:chOff x="5495925" y="1950879"/>
              <a:chExt cx="1200150" cy="195437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5553075" y="2133600"/>
                <a:ext cx="1085850" cy="1771650"/>
              </a:xfrm>
              <a:custGeom>
                <a:avLst/>
                <a:gdLst/>
                <a:ahLst/>
                <a:cxnLst/>
                <a:rect l="l" t="t" r="r" b="b"/>
                <a:pathLst>
                  <a:path w="1085850" h="1771650">
                    <a:moveTo>
                      <a:pt x="0" y="1771650"/>
                    </a:moveTo>
                    <a:lnTo>
                      <a:pt x="0" y="914400"/>
                    </a:lnTo>
                    <a:cubicBezTo>
                      <a:pt x="0" y="342900"/>
                      <a:pt x="242888" y="0"/>
                      <a:pt x="542925" y="0"/>
                    </a:cubicBezTo>
                    <a:cubicBezTo>
                      <a:pt x="842962" y="0"/>
                      <a:pt x="1085850" y="342900"/>
                      <a:pt x="1085850" y="914400"/>
                    </a:cubicBezTo>
                    <a:lnTo>
                      <a:pt x="1085850" y="1771650"/>
                    </a:lnTo>
                    <a:close/>
                  </a:path>
                </a:pathLst>
              </a:cu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5495925" y="3162300"/>
                <a:ext cx="120015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742950">
                    <a:moveTo>
                      <a:pt x="0" y="742950"/>
                    </a:moveTo>
                    <a:lnTo>
                      <a:pt x="0" y="457200"/>
                    </a:lnTo>
                    <a:cubicBezTo>
                      <a:pt x="0" y="171450"/>
                      <a:pt x="257175" y="0"/>
                      <a:pt x="600075" y="0"/>
                    </a:cubicBezTo>
                    <a:cubicBezTo>
                      <a:pt x="942975" y="0"/>
                      <a:pt x="1200150" y="171450"/>
                      <a:pt x="1200150" y="457200"/>
                    </a:cubicBezTo>
                    <a:lnTo>
                      <a:pt x="1200150" y="742950"/>
                    </a:lnTo>
                    <a:close/>
                  </a:path>
                </a:pathLst>
              </a:cu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5695950" y="21336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42862">
                <a:solidFill>
                  <a:srgbClr val="0A0A0A"/>
                </a:solidFill>
                <a:round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5810250" y="2476500"/>
                <a:ext cx="242888" cy="142875"/>
              </a:xfrm>
              <a:prstGeom prst="roundRect">
                <a:avLst>
                  <a:gd name="adj" fmla="val 30000"/>
                </a:avLst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6138862" y="2476500"/>
                <a:ext cx="242888" cy="142875"/>
              </a:xfrm>
              <a:prstGeom prst="roundRect">
                <a:avLst>
                  <a:gd name="adj" fmla="val 30000"/>
                </a:avLst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010275" y="2533650"/>
                <a:ext cx="17145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28600">
                    <a:moveTo>
                      <a:pt x="42862" y="0"/>
                    </a:moveTo>
                    <a:lnTo>
                      <a:pt x="128588" y="0"/>
                    </a:lnTo>
                    <a:moveTo>
                      <a:pt x="0" y="228600"/>
                    </a:moveTo>
                    <a:lnTo>
                      <a:pt x="171450" y="228600"/>
                    </a:lnTo>
                  </a:path>
                </a:pathLst>
              </a:custGeom>
              <a:noFill/>
              <a:ln w="42862" cap="rnd">
                <a:solidFill>
                  <a:srgbClr val="0A0A0A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924550" y="1950879"/>
                <a:ext cx="342900" cy="182721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82721">
                    <a:moveTo>
                      <a:pt x="0" y="96996"/>
                    </a:moveTo>
                    <a:cubicBezTo>
                      <a:pt x="36165" y="36814"/>
                      <a:pt x="101237" y="0"/>
                      <a:pt x="171450" y="0"/>
                    </a:cubicBezTo>
                    <a:cubicBezTo>
                      <a:pt x="241663" y="0"/>
                      <a:pt x="306735" y="36814"/>
                      <a:pt x="342900" y="96996"/>
                    </a:cubicBezTo>
                    <a:lnTo>
                      <a:pt x="171450" y="182721"/>
                    </a:lnTo>
                    <a:close/>
                  </a:path>
                </a:pathLst>
              </a:custGeom>
              <a:solidFill>
                <a:srgbClr val="F2D4CF"/>
              </a:solidFill>
              <a:ln>
                <a:noFill/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5852714" y="4318000"/>
              <a:ext cx="4865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Eve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655686" y="4838700"/>
              <a:ext cx="88062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fsc-char/eve</a:t>
              </a:r>
            </a:p>
          </p:txBody>
        </p:sp>
      </p:grpSp>
      <p:grpSp>
        <p:nvGrpSpPr>
          <p:cNvPr id="81" name="ch-trent"/>
          <p:cNvGrpSpPr/>
          <p:nvPr/>
        </p:nvGrpSpPr>
        <p:grpSpPr>
          <a:xfrm>
            <a:off x="7315200" y="685800"/>
            <a:ext cx="2438400" cy="6172200"/>
            <a:chOff x="7315200" y="685800"/>
            <a:chExt cx="2438400" cy="6172200"/>
          </a:xfrm>
        </p:grpSpPr>
        <p:sp>
          <p:nvSpPr>
            <p:cNvPr id="68" name="Rectangle 68"/>
            <p:cNvSpPr/>
            <p:nvPr/>
          </p:nvSpPr>
          <p:spPr>
            <a:xfrm>
              <a:off x="7315200" y="714375"/>
              <a:ext cx="2438400" cy="6143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725025" y="685800"/>
              <a:ext cx="28575" cy="61722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934325" y="2133600"/>
              <a:ext cx="1200150" cy="1771650"/>
              <a:chOff x="7934325" y="2133600"/>
              <a:chExt cx="1200150" cy="177165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934325" y="3162300"/>
                <a:ext cx="120015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742950">
                    <a:moveTo>
                      <a:pt x="0" y="742950"/>
                    </a:moveTo>
                    <a:lnTo>
                      <a:pt x="0" y="457200"/>
                    </a:lnTo>
                    <a:cubicBezTo>
                      <a:pt x="0" y="171450"/>
                      <a:pt x="257175" y="0"/>
                      <a:pt x="600075" y="0"/>
                    </a:cubicBezTo>
                    <a:cubicBezTo>
                      <a:pt x="942975" y="0"/>
                      <a:pt x="1200150" y="171450"/>
                      <a:pt x="1200150" y="457200"/>
                    </a:cubicBezTo>
                    <a:lnTo>
                      <a:pt x="1200150" y="742950"/>
                    </a:lnTo>
                    <a:close/>
                  </a:path>
                </a:pathLst>
              </a:custGeom>
              <a:solidFill>
                <a:srgbClr val="FFFFFF"/>
              </a:solidFill>
              <a:ln w="42862">
                <a:solidFill>
                  <a:srgbClr val="0A0A0A"/>
                </a:solidFill>
                <a:round/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8134350" y="21336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42862">
                <a:solidFill>
                  <a:srgbClr val="0A0A0A"/>
                </a:solidFill>
                <a:round/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148638" y="2162175"/>
                <a:ext cx="77152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771525" h="342900">
                    <a:moveTo>
                      <a:pt x="0" y="342900"/>
                    </a:moveTo>
                    <a:cubicBezTo>
                      <a:pt x="0" y="171450"/>
                      <a:pt x="57150" y="57150"/>
                      <a:pt x="128588" y="0"/>
                    </a:cubicBezTo>
                    <a:moveTo>
                      <a:pt x="771525" y="342900"/>
                    </a:moveTo>
                    <a:cubicBezTo>
                      <a:pt x="771525" y="171450"/>
                      <a:pt x="714375" y="57150"/>
                      <a:pt x="642938" y="0"/>
                    </a:cubicBezTo>
                  </a:path>
                </a:pathLst>
              </a:custGeom>
              <a:noFill/>
              <a:ln w="42862" cap="rnd">
                <a:solidFill>
                  <a:srgbClr val="0A0A0A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8348662" y="2519362"/>
                <a:ext cx="85725" cy="857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8634412" y="2519362"/>
                <a:ext cx="85725" cy="857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420100" y="2733675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0" y="0"/>
                    </a:moveTo>
                    <a:cubicBezTo>
                      <a:pt x="76200" y="57150"/>
                      <a:pt x="152400" y="57150"/>
                      <a:pt x="228600" y="0"/>
                    </a:cubicBezTo>
                  </a:path>
                </a:pathLst>
              </a:custGeom>
              <a:noFill/>
              <a:ln w="42862" cap="rnd">
                <a:solidFill>
                  <a:srgbClr val="0A0A0A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305800" y="3190875"/>
                <a:ext cx="457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114300">
                    <a:moveTo>
                      <a:pt x="0" y="0"/>
                    </a:moveTo>
                    <a:lnTo>
                      <a:pt x="228600" y="114300"/>
                    </a:lnTo>
                    <a:lnTo>
                      <a:pt x="457200" y="0"/>
                    </a:lnTo>
                  </a:path>
                </a:pathLst>
              </a:custGeom>
              <a:noFill/>
              <a:ln w="42862" cap="rnd">
                <a:solidFill>
                  <a:srgbClr val="0A0A0A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448675" y="3305175"/>
                <a:ext cx="171450" cy="44291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442912">
                    <a:moveTo>
                      <a:pt x="85725" y="0"/>
                    </a:moveTo>
                    <a:lnTo>
                      <a:pt x="0" y="128588"/>
                    </a:lnTo>
                    <a:lnTo>
                      <a:pt x="85725" y="442912"/>
                    </a:lnTo>
                    <a:lnTo>
                      <a:pt x="171450" y="128588"/>
                    </a:lnTo>
                    <a:close/>
                  </a:path>
                </a:pathLst>
              </a:custGeom>
              <a:solidFill>
                <a:srgbClr val="F2D4CF"/>
              </a:solidFill>
              <a:ln>
                <a:noFill/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8163624" y="4318000"/>
              <a:ext cx="7415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Trent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021526" y="4838700"/>
              <a:ext cx="102574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fsc-char/trent</a:t>
              </a:r>
            </a:p>
          </p:txBody>
        </p:sp>
      </p:grpSp>
      <p:grpSp>
        <p:nvGrpSpPr>
          <p:cNvPr id="94" name="ch-mallory"/>
          <p:cNvGrpSpPr/>
          <p:nvPr/>
        </p:nvGrpSpPr>
        <p:grpSpPr>
          <a:xfrm>
            <a:off x="9753600" y="714375"/>
            <a:ext cx="2438400" cy="6143625"/>
            <a:chOff x="9753600" y="714375"/>
            <a:chExt cx="2438400" cy="6143625"/>
          </a:xfrm>
        </p:grpSpPr>
        <p:sp>
          <p:nvSpPr>
            <p:cNvPr id="82" name="Rectangle 82"/>
            <p:cNvSpPr/>
            <p:nvPr/>
          </p:nvSpPr>
          <p:spPr>
            <a:xfrm>
              <a:off x="9753600" y="714375"/>
              <a:ext cx="2438400" cy="6143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91" name="Group 91"/>
            <p:cNvGrpSpPr/>
            <p:nvPr/>
          </p:nvGrpSpPr>
          <p:grpSpPr>
            <a:xfrm>
              <a:off x="10372725" y="2019300"/>
              <a:ext cx="1200150" cy="1885950"/>
              <a:chOff x="10372725" y="2019300"/>
              <a:chExt cx="1200150" cy="188595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10372725" y="3162300"/>
                <a:ext cx="120015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742950">
                    <a:moveTo>
                      <a:pt x="0" y="742950"/>
                    </a:moveTo>
                    <a:lnTo>
                      <a:pt x="0" y="457200"/>
                    </a:lnTo>
                    <a:cubicBezTo>
                      <a:pt x="0" y="171450"/>
                      <a:pt x="257175" y="0"/>
                      <a:pt x="600075" y="0"/>
                    </a:cubicBezTo>
                    <a:cubicBezTo>
                      <a:pt x="942975" y="0"/>
                      <a:pt x="1200150" y="171450"/>
                      <a:pt x="1200150" y="457200"/>
                    </a:cubicBezTo>
                    <a:lnTo>
                      <a:pt x="1200150" y="742950"/>
                    </a:lnTo>
                    <a:close/>
                  </a:path>
                </a:pathLst>
              </a:custGeom>
              <a:solidFill>
                <a:srgbClr val="FFFFFF"/>
              </a:solidFill>
              <a:ln w="42862">
                <a:solidFill>
                  <a:srgbClr val="0A0A0A"/>
                </a:solidFill>
                <a:round/>
              </a:ln>
            </p:spPr>
          </p:sp>
          <p:sp>
            <p:nvSpPr>
              <p:cNvPr id="84" name="Ellipse 84"/>
              <p:cNvSpPr/>
              <p:nvPr/>
            </p:nvSpPr>
            <p:spPr>
              <a:xfrm>
                <a:off x="10572750" y="2133600"/>
                <a:ext cx="800100" cy="800100"/>
              </a:xfrm>
              <a:prstGeom prst="ellipse">
                <a:avLst/>
              </a:prstGeom>
              <a:solidFill>
                <a:srgbClr val="FFFFFF"/>
              </a:solidFill>
              <a:ln w="42862">
                <a:solidFill>
                  <a:srgbClr val="0A0A0A"/>
                </a:solidFill>
                <a:round/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10544175" y="2190750"/>
                <a:ext cx="8572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57250" h="171450">
                    <a:moveTo>
                      <a:pt x="0" y="171450"/>
                    </a:moveTo>
                    <a:lnTo>
                      <a:pt x="857250" y="171450"/>
                    </a:lnTo>
                    <a:lnTo>
                      <a:pt x="771525" y="0"/>
                    </a:lnTo>
                    <a:lnTo>
                      <a:pt x="85725" y="0"/>
                    </a:lnTo>
                    <a:close/>
                  </a:path>
                </a:pathLst>
              </a:cu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10744200" y="2019300"/>
                <a:ext cx="4572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171450">
                    <a:moveTo>
                      <a:pt x="0" y="171450"/>
                    </a:moveTo>
                    <a:lnTo>
                      <a:pt x="57150" y="0"/>
                    </a:lnTo>
                    <a:lnTo>
                      <a:pt x="400050" y="0"/>
                    </a:lnTo>
                    <a:lnTo>
                      <a:pt x="457200" y="171450"/>
                    </a:lnTo>
                    <a:close/>
                  </a:path>
                </a:pathLst>
              </a:cu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10787062" y="2519362"/>
                <a:ext cx="85725" cy="857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88" name="Ellipse 88"/>
              <p:cNvSpPr/>
              <p:nvPr/>
            </p:nvSpPr>
            <p:spPr>
              <a:xfrm>
                <a:off x="11072812" y="2519362"/>
                <a:ext cx="85725" cy="857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10744200" y="2447925"/>
                <a:ext cx="457200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314325">
                    <a:moveTo>
                      <a:pt x="114300" y="314325"/>
                    </a:moveTo>
                    <a:cubicBezTo>
                      <a:pt x="190500" y="266700"/>
                      <a:pt x="266700" y="266700"/>
                      <a:pt x="342900" y="314325"/>
                    </a:cubicBezTo>
                    <a:moveTo>
                      <a:pt x="0" y="0"/>
                    </a:moveTo>
                    <a:lnTo>
                      <a:pt x="171450" y="57150"/>
                    </a:lnTo>
                    <a:moveTo>
                      <a:pt x="457200" y="0"/>
                    </a:moveTo>
                    <a:lnTo>
                      <a:pt x="285750" y="57150"/>
                    </a:lnTo>
                  </a:path>
                </a:pathLst>
              </a:custGeom>
              <a:noFill/>
              <a:ln w="42862" cap="rnd">
                <a:solidFill>
                  <a:srgbClr val="0A0A0A"/>
                </a:solidFill>
              </a:ln>
            </p:spPr>
          </p:sp>
          <p:sp>
            <p:nvSpPr>
              <p:cNvPr id="90" name="Ellipse 90"/>
              <p:cNvSpPr/>
              <p:nvPr/>
            </p:nvSpPr>
            <p:spPr>
              <a:xfrm>
                <a:off x="10901362" y="3348038"/>
                <a:ext cx="142875" cy="142875"/>
              </a:xfrm>
              <a:prstGeom prst="ellipse">
                <a:avLst/>
              </a:prstGeom>
              <a:solidFill>
                <a:srgbClr val="F2D4CF"/>
              </a:solidFill>
              <a:ln>
                <a:noFill/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10447600" y="4318000"/>
              <a:ext cx="10503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Mallory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87366" y="4838700"/>
              <a:ext cx="11708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6B6B"/>
                  </a:solidFill>
                  <a:latin typeface="Consolas"/>
                  <a:ea typeface="Consolas"/>
                  <a:cs typeface="Consolas"/>
                </a:rPr>
                <a:t>fsc-char/mallory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rawgrid_kit">
  <a:themeElements>
    <a:clrScheme name="rawgrid_ki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awgrid_kit">
      <a:majorFont>
        <a:latin typeface="Segoe UI Black"/>
        <a:ea typeface="Noto Sans TC Black"/>
        <a:cs typeface="Segoe UI Black"/>
        <a:font script="Jpan" typeface="Noto Sans TC Black"/>
        <a:font script="Hang" typeface="Noto Sans TC Black"/>
        <a:font script="Hans" typeface="Noto Sans TC Black"/>
        <a:font script="Hant" typeface="Noto Sans TC Black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awgrid_ki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2026-10-21T16:51:12Z</dcterms:created>
  <dcterms:modified xsi:type="dcterms:W3CDTF">2026-10-21T16:51:12Z</dcterms:modified>
  <cp:category/>
  <cp:contentStatus/>
</cp:coreProperties>
</file>