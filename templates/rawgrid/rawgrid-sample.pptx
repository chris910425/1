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0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001.xlsx"/>
</Relationships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p10-node-mix</c:v>
                </c:pt>
              </c:strCache>
            </c:strRef>
          </c:tx>
          <c:dPt>
            <c:idx val="0"/>
            <c:spPr>
              <a:solidFill>
                <a:srgbClr val="0A0A0A"/>
              </a:solidFill>
              <a:ln>
                <a:solidFill>
                  <a:srgbClr val="0A0A0A"/>
                </a:solidFill>
              </a:ln>
            </c:spPr>
          </c:dPt>
          <c:dPt>
            <c:idx val="1"/>
            <c:spPr>
              <a:solidFill>
                <a:srgbClr val="F2D4CF"/>
              </a:solidFill>
              <a:ln>
                <a:solidFill>
                  <a:srgbClr val="F2D4CF"/>
                </a:solidFill>
              </a:ln>
            </c:spPr>
          </c:dPt>
          <c:dPt>
            <c:idx val="2"/>
            <c:spPr>
              <a:solidFill>
                <a:srgbClr val="E5EDD6"/>
              </a:solidFill>
              <a:ln>
                <a:solidFill>
                  <a:srgbClr val="E5EDD6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全節點</c:v>
                </c:pt>
                <c:pt idx="1">
                  <c:v>輕節點</c:v>
                </c:pt>
                <c:pt idx="2">
                  <c:v>驗證者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  <c:holeSize val="7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TW" sz="900">
          <a:solidFill>
            <a:srgbClr val="404040"/>
          </a:solidFill>
        </a:defRPr>
      </a:pPr>
      <a:endParaRPr lang="zh-TW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awgrid_samp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awgrid_samp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001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panel"/>
          <p:cNvGrpSpPr/>
          <p:nvPr/>
        </p:nvGrpSpPr>
        <p:grpSpPr>
          <a:xfrm>
            <a:off x="0" y="0"/>
            <a:ext cx="5362575" cy="6858000"/>
            <a:chOff x="0" y="0"/>
            <a:chExt cx="5362575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334000" cy="685800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334000" y="0"/>
              <a:ext cx="28575" cy="6858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2900362" y="5215890"/>
              <a:ext cx="621983" cy="385762"/>
            </a:xfrm>
            <a:custGeom>
              <a:avLst/>
              <a:gdLst/>
              <a:ahLst/>
              <a:cxnLst/>
              <a:rect l="l" t="t" r="r" b="b"/>
              <a:pathLst>
                <a:path w="621983" h="385762">
                  <a:moveTo>
                    <a:pt x="0" y="385762"/>
                  </a:moveTo>
                  <a:lnTo>
                    <a:pt x="621983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79332" y="5601652"/>
              <a:ext cx="621030" cy="338138"/>
            </a:xfrm>
            <a:custGeom>
              <a:avLst/>
              <a:gdLst/>
              <a:ahLst/>
              <a:cxnLst/>
              <a:rect l="l" t="t" r="r" b="b"/>
              <a:pathLst>
                <a:path w="621030" h="338138">
                  <a:moveTo>
                    <a:pt x="621030" y="0"/>
                  </a:moveTo>
                  <a:lnTo>
                    <a:pt x="0" y="338138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166938" y="4861560"/>
              <a:ext cx="733425" cy="740093"/>
            </a:xfrm>
            <a:custGeom>
              <a:avLst/>
              <a:gdLst/>
              <a:ahLst/>
              <a:cxnLst/>
              <a:rect l="l" t="t" r="r" b="b"/>
              <a:pathLst>
                <a:path w="733425" h="740093">
                  <a:moveTo>
                    <a:pt x="733425" y="74009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900362" y="4739640"/>
              <a:ext cx="599122" cy="862012"/>
            </a:xfrm>
            <a:custGeom>
              <a:avLst/>
              <a:gdLst/>
              <a:ahLst/>
              <a:cxnLst/>
              <a:rect l="l" t="t" r="r" b="b"/>
              <a:pathLst>
                <a:path w="599122" h="862012">
                  <a:moveTo>
                    <a:pt x="0" y="862012"/>
                  </a:moveTo>
                  <a:lnTo>
                    <a:pt x="599122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900362" y="5601652"/>
              <a:ext cx="156210" cy="653415"/>
            </a:xfrm>
            <a:custGeom>
              <a:avLst/>
              <a:gdLst/>
              <a:ahLst/>
              <a:cxnLst/>
              <a:rect l="l" t="t" r="r" b="b"/>
              <a:pathLst>
                <a:path w="156210" h="653415">
                  <a:moveTo>
                    <a:pt x="0" y="0"/>
                  </a:moveTo>
                  <a:lnTo>
                    <a:pt x="156210" y="653415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943100" y="5338762"/>
              <a:ext cx="336233" cy="601028"/>
            </a:xfrm>
            <a:custGeom>
              <a:avLst/>
              <a:gdLst/>
              <a:ahLst/>
              <a:cxnLst/>
              <a:rect l="l" t="t" r="r" b="b"/>
              <a:pathLst>
                <a:path w="336233" h="601028">
                  <a:moveTo>
                    <a:pt x="0" y="0"/>
                  </a:moveTo>
                  <a:lnTo>
                    <a:pt x="336233" y="601028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43100" y="4861560"/>
              <a:ext cx="223838" cy="477203"/>
            </a:xfrm>
            <a:custGeom>
              <a:avLst/>
              <a:gdLst/>
              <a:ahLst/>
              <a:cxnLst/>
              <a:rect l="l" t="t" r="r" b="b"/>
              <a:pathLst>
                <a:path w="223838" h="477203">
                  <a:moveTo>
                    <a:pt x="0" y="477203"/>
                  </a:moveTo>
                  <a:lnTo>
                    <a:pt x="223838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83005" y="5338762"/>
              <a:ext cx="760095" cy="315278"/>
            </a:xfrm>
            <a:custGeom>
              <a:avLst/>
              <a:gdLst/>
              <a:ahLst/>
              <a:cxnLst/>
              <a:rect l="l" t="t" r="r" b="b"/>
              <a:pathLst>
                <a:path w="760095" h="315278">
                  <a:moveTo>
                    <a:pt x="760095" y="0"/>
                  </a:moveTo>
                  <a:lnTo>
                    <a:pt x="0" y="315278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22045" y="4917758"/>
              <a:ext cx="821055" cy="421005"/>
            </a:xfrm>
            <a:custGeom>
              <a:avLst/>
              <a:gdLst/>
              <a:ahLst/>
              <a:cxnLst/>
              <a:rect l="l" t="t" r="r" b="b"/>
              <a:pathLst>
                <a:path w="821055" h="421005">
                  <a:moveTo>
                    <a:pt x="821055" y="42100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8262" y="5338762"/>
              <a:ext cx="604838" cy="845820"/>
            </a:xfrm>
            <a:custGeom>
              <a:avLst/>
              <a:gdLst/>
              <a:ahLst/>
              <a:cxnLst/>
              <a:rect l="l" t="t" r="r" b="b"/>
              <a:pathLst>
                <a:path w="604838" h="845820">
                  <a:moveTo>
                    <a:pt x="604838" y="0"/>
                  </a:moveTo>
                  <a:lnTo>
                    <a:pt x="0" y="84582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943100" y="4404360"/>
              <a:ext cx="625792" cy="934403"/>
            </a:xfrm>
            <a:custGeom>
              <a:avLst/>
              <a:gdLst/>
              <a:ahLst/>
              <a:cxnLst/>
              <a:rect l="l" t="t" r="r" b="b"/>
              <a:pathLst>
                <a:path w="625792" h="934403">
                  <a:moveTo>
                    <a:pt x="0" y="934403"/>
                  </a:moveTo>
                  <a:lnTo>
                    <a:pt x="625792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522345" y="5215890"/>
              <a:ext cx="444817" cy="499110"/>
            </a:xfrm>
            <a:custGeom>
              <a:avLst/>
              <a:gdLst/>
              <a:ahLst/>
              <a:cxnLst/>
              <a:rect l="l" t="t" r="r" b="b"/>
              <a:pathLst>
                <a:path w="444817" h="499110">
                  <a:moveTo>
                    <a:pt x="0" y="0"/>
                  </a:moveTo>
                  <a:lnTo>
                    <a:pt x="444817" y="49911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499485" y="4739640"/>
              <a:ext cx="22860" cy="476250"/>
            </a:xfrm>
            <a:custGeom>
              <a:avLst/>
              <a:gdLst/>
              <a:ahLst/>
              <a:cxnLst/>
              <a:rect l="l" t="t" r="r" b="b"/>
              <a:pathLst>
                <a:path w="22860" h="476250">
                  <a:moveTo>
                    <a:pt x="22860" y="476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522345" y="5215890"/>
              <a:ext cx="1106805" cy="88582"/>
            </a:xfrm>
            <a:custGeom>
              <a:avLst/>
              <a:gdLst/>
              <a:ahLst/>
              <a:cxnLst/>
              <a:rect l="l" t="t" r="r" b="b"/>
              <a:pathLst>
                <a:path w="1106805" h="88582">
                  <a:moveTo>
                    <a:pt x="0" y="0"/>
                  </a:moveTo>
                  <a:lnTo>
                    <a:pt x="1106805" y="88582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279332" y="5939790"/>
              <a:ext cx="777240" cy="315278"/>
            </a:xfrm>
            <a:custGeom>
              <a:avLst/>
              <a:gdLst/>
              <a:ahLst/>
              <a:cxnLst/>
              <a:rect l="l" t="t" r="r" b="b"/>
              <a:pathLst>
                <a:path w="777240" h="315278">
                  <a:moveTo>
                    <a:pt x="0" y="0"/>
                  </a:moveTo>
                  <a:lnTo>
                    <a:pt x="777240" y="315278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338262" y="5939790"/>
              <a:ext cx="941070" cy="244792"/>
            </a:xfrm>
            <a:custGeom>
              <a:avLst/>
              <a:gdLst/>
              <a:ahLst/>
              <a:cxnLst/>
              <a:rect l="l" t="t" r="r" b="b"/>
              <a:pathLst>
                <a:path w="941070" h="244792">
                  <a:moveTo>
                    <a:pt x="941070" y="0"/>
                  </a:moveTo>
                  <a:lnTo>
                    <a:pt x="0" y="244792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122045" y="4861560"/>
              <a:ext cx="1044892" cy="56197"/>
            </a:xfrm>
            <a:custGeom>
              <a:avLst/>
              <a:gdLst/>
              <a:ahLst/>
              <a:cxnLst/>
              <a:rect l="l" t="t" r="r" b="b"/>
              <a:pathLst>
                <a:path w="1044892" h="56197">
                  <a:moveTo>
                    <a:pt x="1044892" y="0"/>
                  </a:moveTo>
                  <a:lnTo>
                    <a:pt x="0" y="56197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166938" y="4404360"/>
              <a:ext cx="401955" cy="457200"/>
            </a:xfrm>
            <a:custGeom>
              <a:avLst/>
              <a:gdLst/>
              <a:ahLst/>
              <a:cxnLst/>
              <a:rect l="l" t="t" r="r" b="b"/>
              <a:pathLst>
                <a:path w="401955" h="457200">
                  <a:moveTo>
                    <a:pt x="0" y="457200"/>
                  </a:moveTo>
                  <a:lnTo>
                    <a:pt x="401955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056572" y="5715000"/>
              <a:ext cx="910590" cy="540068"/>
            </a:xfrm>
            <a:custGeom>
              <a:avLst/>
              <a:gdLst/>
              <a:ahLst/>
              <a:cxnLst/>
              <a:rect l="l" t="t" r="r" b="b"/>
              <a:pathLst>
                <a:path w="910590" h="540068">
                  <a:moveTo>
                    <a:pt x="910590" y="0"/>
                  </a:moveTo>
                  <a:lnTo>
                    <a:pt x="0" y="540068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3967162" y="5304472"/>
              <a:ext cx="661988" cy="410528"/>
            </a:xfrm>
            <a:custGeom>
              <a:avLst/>
              <a:gdLst/>
              <a:ahLst/>
              <a:cxnLst/>
              <a:rect l="l" t="t" r="r" b="b"/>
              <a:pathLst>
                <a:path w="661988" h="410528">
                  <a:moveTo>
                    <a:pt x="0" y="410528"/>
                  </a:moveTo>
                  <a:lnTo>
                    <a:pt x="661988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967162" y="5715000"/>
              <a:ext cx="289560" cy="466725"/>
            </a:xfrm>
            <a:custGeom>
              <a:avLst/>
              <a:gdLst/>
              <a:ahLst/>
              <a:cxnLst/>
              <a:rect l="l" t="t" r="r" b="b"/>
              <a:pathLst>
                <a:path w="289560" h="466725">
                  <a:moveTo>
                    <a:pt x="0" y="0"/>
                  </a:moveTo>
                  <a:lnTo>
                    <a:pt x="289560" y="466725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22045" y="4917758"/>
              <a:ext cx="60960" cy="736283"/>
            </a:xfrm>
            <a:custGeom>
              <a:avLst/>
              <a:gdLst/>
              <a:ahLst/>
              <a:cxnLst/>
              <a:rect l="l" t="t" r="r" b="b"/>
              <a:pathLst>
                <a:path w="60960" h="736283">
                  <a:moveTo>
                    <a:pt x="60960" y="73628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83005" y="5654040"/>
              <a:ext cx="155257" cy="530542"/>
            </a:xfrm>
            <a:custGeom>
              <a:avLst/>
              <a:gdLst/>
              <a:ahLst/>
              <a:cxnLst/>
              <a:rect l="l" t="t" r="r" b="b"/>
              <a:pathLst>
                <a:path w="155257" h="530542">
                  <a:moveTo>
                    <a:pt x="0" y="0"/>
                  </a:moveTo>
                  <a:lnTo>
                    <a:pt x="155257" y="530542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568892" y="4404360"/>
              <a:ext cx="930592" cy="335280"/>
            </a:xfrm>
            <a:custGeom>
              <a:avLst/>
              <a:gdLst/>
              <a:ahLst/>
              <a:cxnLst/>
              <a:rect l="l" t="t" r="r" b="b"/>
              <a:pathLst>
                <a:path w="930592" h="335280">
                  <a:moveTo>
                    <a:pt x="930592" y="33528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056572" y="6181725"/>
              <a:ext cx="1200150" cy="73343"/>
            </a:xfrm>
            <a:custGeom>
              <a:avLst/>
              <a:gdLst/>
              <a:ahLst/>
              <a:cxnLst/>
              <a:rect l="l" t="t" r="r" b="b"/>
              <a:pathLst>
                <a:path w="1200150" h="73343">
                  <a:moveTo>
                    <a:pt x="0" y="73343"/>
                  </a:moveTo>
                  <a:lnTo>
                    <a:pt x="1200150" y="0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256722" y="5304472"/>
              <a:ext cx="372428" cy="877253"/>
            </a:xfrm>
            <a:custGeom>
              <a:avLst/>
              <a:gdLst/>
              <a:ahLst/>
              <a:cxnLst/>
              <a:rect l="l" t="t" r="r" b="b"/>
              <a:pathLst>
                <a:path w="372428" h="877253">
                  <a:moveTo>
                    <a:pt x="372428" y="0"/>
                  </a:moveTo>
                  <a:lnTo>
                    <a:pt x="0" y="877253"/>
                  </a:lnTo>
                </a:path>
              </a:pathLst>
            </a:custGeom>
            <a:noFill/>
            <a:ln w="19050">
              <a:solidFill>
                <a:srgbClr val="E2B8B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805112" y="5506402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847850" y="5243512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427095" y="5120640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2184082" y="5844540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2071688" y="4766310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871912" y="5619750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87755" y="5558790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404235" y="4644390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2961322" y="6159818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26795" y="4822508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4533900" y="5209222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243012" y="6089332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2473642" y="4309110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161472" y="6086475"/>
              <a:ext cx="190500" cy="190500"/>
            </a:xfrm>
            <a:prstGeom prst="ellipse">
              <a:avLst/>
            </a:prstGeom>
            <a:noFill/>
            <a:ln w="19050">
              <a:solidFill>
                <a:srgbClr val="E2B8B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81000" y="381000"/>
              <a:ext cx="102870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09016" y="425450"/>
              <a:ext cx="898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8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MSBT 6001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1950" y="1409700"/>
              <a:ext cx="34305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3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區塊鏈的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1950" y="2381250"/>
              <a:ext cx="34305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3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交易旅程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2242" y="3492500"/>
              <a:ext cx="3045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05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THE LIFE OF A TRANSACTION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19100" y="3848100"/>
              <a:ext cx="571500" cy="381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2242" y="4083050"/>
              <a:ext cx="2062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王小明　·　2026 年 10 月</a:t>
              </a:r>
            </a:p>
          </p:txBody>
        </p:sp>
      </p:grpSp>
      <p:grpSp>
        <p:nvGrpSpPr>
          <p:cNvPr id="56" name="row-1"/>
          <p:cNvGrpSpPr/>
          <p:nvPr/>
        </p:nvGrpSpPr>
        <p:grpSpPr>
          <a:xfrm>
            <a:off x="5334000" y="0"/>
            <a:ext cx="6858000" cy="1143000"/>
            <a:chOff x="5334000" y="0"/>
            <a:chExt cx="6858000" cy="1143000"/>
          </a:xfrm>
        </p:grpSpPr>
        <p:sp>
          <p:nvSpPr>
            <p:cNvPr id="52" name="Rectangle 52"/>
            <p:cNvSpPr/>
            <p:nvPr/>
          </p:nvSpPr>
          <p:spPr>
            <a:xfrm>
              <a:off x="5362575" y="0"/>
              <a:ext cx="6829425" cy="111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0" y="11144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43956" y="450850"/>
              <a:ext cx="1612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　交易是什麼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35512" y="5270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CH.01</a:t>
              </a:r>
            </a:p>
          </p:txBody>
        </p:sp>
      </p:grpSp>
      <p:grpSp>
        <p:nvGrpSpPr>
          <p:cNvPr id="61" name="row-2"/>
          <p:cNvGrpSpPr/>
          <p:nvPr/>
        </p:nvGrpSpPr>
        <p:grpSpPr>
          <a:xfrm>
            <a:off x="5334000" y="1143000"/>
            <a:ext cx="6858000" cy="1143000"/>
            <a:chOff x="5334000" y="1143000"/>
            <a:chExt cx="6858000" cy="1143000"/>
          </a:xfrm>
        </p:grpSpPr>
        <p:sp>
          <p:nvSpPr>
            <p:cNvPr id="57" name="Rectangle 57"/>
            <p:cNvSpPr/>
            <p:nvPr/>
          </p:nvSpPr>
          <p:spPr>
            <a:xfrm>
              <a:off x="5362575" y="1143000"/>
              <a:ext cx="6829425" cy="111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0" y="22574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43956" y="1593850"/>
              <a:ext cx="1854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　從簽名到廣播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335512" y="16700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CH.02</a:t>
              </a:r>
            </a:p>
          </p:txBody>
        </p:sp>
      </p:grpSp>
      <p:grpSp>
        <p:nvGrpSpPr>
          <p:cNvPr id="66" name="row-3"/>
          <p:cNvGrpSpPr/>
          <p:nvPr/>
        </p:nvGrpSpPr>
        <p:grpSpPr>
          <a:xfrm>
            <a:off x="5334000" y="2286000"/>
            <a:ext cx="6858000" cy="1143000"/>
            <a:chOff x="5334000" y="2286000"/>
            <a:chExt cx="6858000" cy="1143000"/>
          </a:xfrm>
        </p:grpSpPr>
        <p:sp>
          <p:nvSpPr>
            <p:cNvPr id="62" name="Rectangle 62"/>
            <p:cNvSpPr/>
            <p:nvPr/>
          </p:nvSpPr>
          <p:spPr>
            <a:xfrm>
              <a:off x="5362575" y="2286000"/>
              <a:ext cx="6829425" cy="1114425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34000" y="34004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43956" y="2736850"/>
              <a:ext cx="1369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　區塊與鏈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335512" y="28130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CH.03</a:t>
              </a:r>
            </a:p>
          </p:txBody>
        </p:sp>
      </p:grpSp>
      <p:grpSp>
        <p:nvGrpSpPr>
          <p:cNvPr id="71" name="row-4"/>
          <p:cNvGrpSpPr/>
          <p:nvPr/>
        </p:nvGrpSpPr>
        <p:grpSpPr>
          <a:xfrm>
            <a:off x="5334000" y="3429000"/>
            <a:ext cx="6858000" cy="1143000"/>
            <a:chOff x="5334000" y="3429000"/>
            <a:chExt cx="6858000" cy="1143000"/>
          </a:xfrm>
        </p:grpSpPr>
        <p:sp>
          <p:nvSpPr>
            <p:cNvPr id="67" name="Rectangle 67"/>
            <p:cNvSpPr/>
            <p:nvPr/>
          </p:nvSpPr>
          <p:spPr>
            <a:xfrm>
              <a:off x="5362575" y="3429000"/>
              <a:ext cx="6829425" cy="111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334000" y="45434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743956" y="3879850"/>
              <a:ext cx="1369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　默克爾樹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335512" y="39560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CH.04</a:t>
              </a:r>
            </a:p>
          </p:txBody>
        </p:sp>
      </p:grpSp>
      <p:grpSp>
        <p:nvGrpSpPr>
          <p:cNvPr id="76" name="row-5"/>
          <p:cNvGrpSpPr/>
          <p:nvPr/>
        </p:nvGrpSpPr>
        <p:grpSpPr>
          <a:xfrm>
            <a:off x="5334000" y="4572000"/>
            <a:ext cx="6858000" cy="1143000"/>
            <a:chOff x="5334000" y="4572000"/>
            <a:chExt cx="6858000" cy="1143000"/>
          </a:xfrm>
        </p:grpSpPr>
        <p:sp>
          <p:nvSpPr>
            <p:cNvPr id="72" name="Rectangle 72"/>
            <p:cNvSpPr/>
            <p:nvPr/>
          </p:nvSpPr>
          <p:spPr>
            <a:xfrm>
              <a:off x="5362575" y="4572000"/>
              <a:ext cx="6829425" cy="111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334000" y="56864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43956" y="5022850"/>
              <a:ext cx="1854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　訊息如何傳開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335512" y="50990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CH.05</a:t>
              </a:r>
            </a:p>
          </p:txBody>
        </p:sp>
      </p:grpSp>
      <p:grpSp>
        <p:nvGrpSpPr>
          <p:cNvPr id="80" name="row-6"/>
          <p:cNvGrpSpPr/>
          <p:nvPr/>
        </p:nvGrpSpPr>
        <p:grpSpPr>
          <a:xfrm>
            <a:off x="5362575" y="5715000"/>
            <a:ext cx="6829425" cy="1114425"/>
            <a:chOff x="5362575" y="5715000"/>
            <a:chExt cx="6829425" cy="1114425"/>
          </a:xfrm>
        </p:grpSpPr>
        <p:sp>
          <p:nvSpPr>
            <p:cNvPr id="77" name="Rectangle 77"/>
            <p:cNvSpPr/>
            <p:nvPr/>
          </p:nvSpPr>
          <p:spPr>
            <a:xfrm>
              <a:off x="5362575" y="5715000"/>
              <a:ext cx="6829425" cy="111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743956" y="6165850"/>
              <a:ext cx="1612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　共識與確認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35512" y="62420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CH.06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laim"/>
          <p:cNvGrpSpPr/>
          <p:nvPr/>
        </p:nvGrpSpPr>
        <p:grpSpPr>
          <a:xfrm>
            <a:off x="361950" y="0"/>
            <a:ext cx="5762625" cy="6858000"/>
            <a:chOff x="361950" y="0"/>
            <a:chExt cx="5762625" cy="6858000"/>
          </a:xfrm>
        </p:grpSpPr>
        <p:sp>
          <p:nvSpPr>
            <p:cNvPr id="2" name="Rectangle 2"/>
            <p:cNvSpPr/>
            <p:nvPr/>
          </p:nvSpPr>
          <p:spPr>
            <a:xfrm>
              <a:off x="381000" y="2000250"/>
              <a:ext cx="571500" cy="381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99566" y="1930400"/>
              <a:ext cx="1418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82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2406650"/>
              <a:ext cx="30670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沒有銀行，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1950" y="3168650"/>
              <a:ext cx="30670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誰來記帳？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72618" y="4127500"/>
              <a:ext cx="35791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6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區塊鏈讓上千台電腦一起記同一本帳，</a:t>
              </a:r>
              <a:br>
                <a:rPr lang="zh-TW" sz="16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沒有人能偷偷改掉其中一筆。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0" y="0"/>
              <a:ext cx="28575" cy="6858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3" name="stat-1"/>
          <p:cNvGrpSpPr/>
          <p:nvPr/>
        </p:nvGrpSpPr>
        <p:grpSpPr>
          <a:xfrm>
            <a:off x="6096000" y="806450"/>
            <a:ext cx="6096000" cy="2622550"/>
            <a:chOff x="6096000" y="806450"/>
            <a:chExt cx="6096000" cy="2622550"/>
          </a:xfrm>
        </p:grpSpPr>
        <p:sp>
          <p:nvSpPr>
            <p:cNvPr id="9" name="TextBox 9"/>
            <p:cNvSpPr txBox="1"/>
            <p:nvPr/>
          </p:nvSpPr>
          <p:spPr>
            <a:xfrm>
              <a:off x="6553200" y="806450"/>
              <a:ext cx="3592068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8250" spc="-165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1,000+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04254" y="2228850"/>
              <a:ext cx="640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9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NODES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02730" y="25146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同時保存同一本帳（示意）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0" y="3400425"/>
              <a:ext cx="6096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8" name="stat-2"/>
          <p:cNvGrpSpPr/>
          <p:nvPr/>
        </p:nvGrpSpPr>
        <p:grpSpPr>
          <a:xfrm>
            <a:off x="6124575" y="3429000"/>
            <a:ext cx="6067425" cy="3429000"/>
            <a:chOff x="6124575" y="3429000"/>
            <a:chExt cx="6067425" cy="3429000"/>
          </a:xfrm>
        </p:grpSpPr>
        <p:sp>
          <p:nvSpPr>
            <p:cNvPr id="14" name="Rectangle 14"/>
            <p:cNvSpPr/>
            <p:nvPr/>
          </p:nvSpPr>
          <p:spPr>
            <a:xfrm>
              <a:off x="6124575" y="3429000"/>
              <a:ext cx="6067425" cy="342900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53200" y="4330700"/>
              <a:ext cx="648938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8250" spc="-165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04254" y="5753100"/>
              <a:ext cx="1150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9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MIDDLEMEN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02730" y="60388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需要信任的中間人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tree"/>
          <p:cNvGrpSpPr/>
          <p:nvPr/>
        </p:nvGrpSpPr>
        <p:grpSpPr>
          <a:xfrm>
            <a:off x="6467475" y="1047750"/>
            <a:ext cx="5353049" cy="4762500"/>
            <a:chOff x="6467475" y="1047750"/>
            <a:chExt cx="5353049" cy="4762500"/>
          </a:xfrm>
        </p:grpSpPr>
        <p:sp>
          <p:nvSpPr>
            <p:cNvPr id="2" name="Freeform 2"/>
            <p:cNvSpPr/>
            <p:nvPr/>
          </p:nvSpPr>
          <p:spPr>
            <a:xfrm>
              <a:off x="6726555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0" y="926783"/>
                  </a:moveTo>
                  <a:lnTo>
                    <a:pt x="0" y="462915"/>
                  </a:lnTo>
                  <a:lnTo>
                    <a:pt x="345757" y="462915"/>
                  </a:lnTo>
                  <a:lnTo>
                    <a:pt x="345757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7072312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345757" y="926783"/>
                  </a:moveTo>
                  <a:lnTo>
                    <a:pt x="345757" y="462915"/>
                  </a:lnTo>
                  <a:lnTo>
                    <a:pt x="0" y="46291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107680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0" y="926783"/>
                  </a:moveTo>
                  <a:lnTo>
                    <a:pt x="0" y="462915"/>
                  </a:lnTo>
                  <a:lnTo>
                    <a:pt x="345757" y="462915"/>
                  </a:lnTo>
                  <a:lnTo>
                    <a:pt x="345757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8453438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345757" y="926783"/>
                  </a:moveTo>
                  <a:lnTo>
                    <a:pt x="345757" y="462915"/>
                  </a:lnTo>
                  <a:lnTo>
                    <a:pt x="0" y="46291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9488805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0" y="926783"/>
                  </a:moveTo>
                  <a:lnTo>
                    <a:pt x="0" y="462915"/>
                  </a:lnTo>
                  <a:lnTo>
                    <a:pt x="345757" y="462915"/>
                  </a:lnTo>
                  <a:lnTo>
                    <a:pt x="345757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834562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345757" y="926783"/>
                  </a:moveTo>
                  <a:lnTo>
                    <a:pt x="345757" y="462915"/>
                  </a:lnTo>
                  <a:lnTo>
                    <a:pt x="0" y="46291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869930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0" y="926783"/>
                  </a:moveTo>
                  <a:lnTo>
                    <a:pt x="0" y="462915"/>
                  </a:lnTo>
                  <a:lnTo>
                    <a:pt x="345757" y="462915"/>
                  </a:lnTo>
                  <a:lnTo>
                    <a:pt x="345757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1215688" y="4388168"/>
              <a:ext cx="345757" cy="926783"/>
            </a:xfrm>
            <a:custGeom>
              <a:avLst/>
              <a:gdLst/>
              <a:ahLst/>
              <a:cxnLst/>
              <a:rect l="l" t="t" r="r" b="b"/>
              <a:pathLst>
                <a:path w="345757" h="926783">
                  <a:moveTo>
                    <a:pt x="345757" y="926783"/>
                  </a:moveTo>
                  <a:lnTo>
                    <a:pt x="345757" y="462915"/>
                  </a:lnTo>
                  <a:lnTo>
                    <a:pt x="0" y="46291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072312" y="2965132"/>
              <a:ext cx="690562" cy="927735"/>
            </a:xfrm>
            <a:custGeom>
              <a:avLst/>
              <a:gdLst/>
              <a:ahLst/>
              <a:cxnLst/>
              <a:rect l="l" t="t" r="r" b="b"/>
              <a:pathLst>
                <a:path w="690562" h="927735">
                  <a:moveTo>
                    <a:pt x="0" y="927735"/>
                  </a:moveTo>
                  <a:lnTo>
                    <a:pt x="0" y="463867"/>
                  </a:lnTo>
                  <a:lnTo>
                    <a:pt x="690562" y="463867"/>
                  </a:lnTo>
                  <a:lnTo>
                    <a:pt x="690562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762875" y="2965132"/>
              <a:ext cx="690562" cy="927735"/>
            </a:xfrm>
            <a:custGeom>
              <a:avLst/>
              <a:gdLst/>
              <a:ahLst/>
              <a:cxnLst/>
              <a:rect l="l" t="t" r="r" b="b"/>
              <a:pathLst>
                <a:path w="690562" h="927735">
                  <a:moveTo>
                    <a:pt x="690562" y="927735"/>
                  </a:moveTo>
                  <a:lnTo>
                    <a:pt x="690562" y="463867"/>
                  </a:lnTo>
                  <a:lnTo>
                    <a:pt x="0" y="46386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834562" y="2965132"/>
              <a:ext cx="690562" cy="927735"/>
            </a:xfrm>
            <a:custGeom>
              <a:avLst/>
              <a:gdLst/>
              <a:ahLst/>
              <a:cxnLst/>
              <a:rect l="l" t="t" r="r" b="b"/>
              <a:pathLst>
                <a:path w="690562" h="927735">
                  <a:moveTo>
                    <a:pt x="0" y="927735"/>
                  </a:moveTo>
                  <a:lnTo>
                    <a:pt x="0" y="463867"/>
                  </a:lnTo>
                  <a:lnTo>
                    <a:pt x="690562" y="463867"/>
                  </a:lnTo>
                  <a:lnTo>
                    <a:pt x="690562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525125" y="2965132"/>
              <a:ext cx="690562" cy="927735"/>
            </a:xfrm>
            <a:custGeom>
              <a:avLst/>
              <a:gdLst/>
              <a:ahLst/>
              <a:cxnLst/>
              <a:rect l="l" t="t" r="r" b="b"/>
              <a:pathLst>
                <a:path w="690562" h="927735">
                  <a:moveTo>
                    <a:pt x="690562" y="927735"/>
                  </a:moveTo>
                  <a:lnTo>
                    <a:pt x="690562" y="463867"/>
                  </a:lnTo>
                  <a:lnTo>
                    <a:pt x="0" y="46386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762875" y="1543050"/>
              <a:ext cx="1381125" cy="926783"/>
            </a:xfrm>
            <a:custGeom>
              <a:avLst/>
              <a:gdLst/>
              <a:ahLst/>
              <a:cxnLst/>
              <a:rect l="l" t="t" r="r" b="b"/>
              <a:pathLst>
                <a:path w="1381125" h="926783">
                  <a:moveTo>
                    <a:pt x="0" y="926783"/>
                  </a:moveTo>
                  <a:lnTo>
                    <a:pt x="0" y="463867"/>
                  </a:lnTo>
                  <a:lnTo>
                    <a:pt x="1381125" y="463867"/>
                  </a:lnTo>
                  <a:lnTo>
                    <a:pt x="1381125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144000" y="1543050"/>
              <a:ext cx="1381125" cy="926783"/>
            </a:xfrm>
            <a:custGeom>
              <a:avLst/>
              <a:gdLst/>
              <a:ahLst/>
              <a:cxnLst/>
              <a:rect l="l" t="t" r="r" b="b"/>
              <a:pathLst>
                <a:path w="1381125" h="926783">
                  <a:moveTo>
                    <a:pt x="1381125" y="926783"/>
                  </a:moveTo>
                  <a:lnTo>
                    <a:pt x="1381125" y="463867"/>
                  </a:lnTo>
                  <a:lnTo>
                    <a:pt x="0" y="46386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D6B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67475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58038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48600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539162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229725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920288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610850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301412" y="5314950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12280" y="3892868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93405" y="3892868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574530" y="3892868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955655" y="3892868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03795" y="2469832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266045" y="2469832"/>
              <a:ext cx="519112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39125" y="1047750"/>
              <a:ext cx="1809750" cy="495300"/>
            </a:xfrm>
            <a:prstGeom prst="rect">
              <a:avLst/>
            </a:prstGeom>
            <a:noFill/>
            <a:ln w="19050">
              <a:solidFill>
                <a:srgbClr val="C9D6B4"/>
              </a:solidFill>
            </a:ln>
          </p:spPr>
        </p:sp>
      </p:grpSp>
      <p:grpSp>
        <p:nvGrpSpPr>
          <p:cNvPr id="37" name="chapter"/>
          <p:cNvGrpSpPr/>
          <p:nvPr/>
        </p:nvGrpSpPr>
        <p:grpSpPr>
          <a:xfrm>
            <a:off x="247650" y="768350"/>
            <a:ext cx="4191000" cy="4701794"/>
            <a:chOff x="247650" y="768350"/>
            <a:chExt cx="4191000" cy="4701794"/>
          </a:xfrm>
        </p:grpSpPr>
        <p:sp>
          <p:nvSpPr>
            <p:cNvPr id="32" name="TextBox 32"/>
            <p:cNvSpPr txBox="1"/>
            <p:nvPr/>
          </p:nvSpPr>
          <p:spPr>
            <a:xfrm>
              <a:off x="247650" y="768350"/>
              <a:ext cx="2925699" cy="3733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0" dirty="0">
                  <a:solidFill>
                    <a:srgbClr val="C9D6B4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9100" y="3619500"/>
              <a:ext cx="1495425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7116" y="3663950"/>
              <a:ext cx="1376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8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CHAPTER 01 / 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1950" y="4025900"/>
              <a:ext cx="407670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0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交易是什麼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9956" y="5118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先弄懂一筆交易裡到底裝了什麼。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區塊與鏈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70" name="chain"/>
          <p:cNvGrpSpPr/>
          <p:nvPr/>
        </p:nvGrpSpPr>
        <p:grpSpPr>
          <a:xfrm>
            <a:off x="381000" y="1238250"/>
            <a:ext cx="11296650" cy="2057400"/>
            <a:chOff x="381000" y="1238250"/>
            <a:chExt cx="11296650" cy="2057400"/>
          </a:xfrm>
        </p:grpSpPr>
        <p:sp>
          <p:nvSpPr>
            <p:cNvPr id="32" name="Rectangle 32"/>
            <p:cNvSpPr/>
            <p:nvPr/>
          </p:nvSpPr>
          <p:spPr>
            <a:xfrm>
              <a:off x="43815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1000" y="1238250"/>
              <a:ext cx="23812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528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01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806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539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0x0000…0000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806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539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0xf408…eaea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762250" y="2200275"/>
              <a:ext cx="5715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962275" y="2114550"/>
              <a:ext cx="1714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9090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33750" y="1238250"/>
              <a:ext cx="23812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4803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47776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8081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7814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0xf408…eaea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8081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7814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0x8b4c…16df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0" y="2200275"/>
              <a:ext cx="5715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15025" y="2114550"/>
              <a:ext cx="1714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34365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86500" y="1238250"/>
              <a:ext cx="23812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0078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3051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3356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3089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0x8b4c…16df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356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3089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0x0380…43c4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667750" y="2200275"/>
              <a:ext cx="5715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67775" y="2114550"/>
              <a:ext cx="1714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29640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39250" y="1238250"/>
              <a:ext cx="2381250" cy="2000250"/>
            </a:xfrm>
            <a:prstGeom prst="rect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25353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8326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38631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38364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0x0380…43c4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8631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8364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0x9ac4…7fb9</a:t>
              </a:r>
            </a:p>
          </p:txBody>
        </p:sp>
      </p:grpSp>
      <p:grpSp>
        <p:nvGrpSpPr>
          <p:cNvPr id="74" name="why-1"/>
          <p:cNvGrpSpPr/>
          <p:nvPr/>
        </p:nvGrpSpPr>
        <p:grpSpPr>
          <a:xfrm>
            <a:off x="0" y="4191000"/>
            <a:ext cx="12192000" cy="1515745"/>
            <a:chOff x="0" y="4191000"/>
            <a:chExt cx="12192000" cy="1515745"/>
          </a:xfrm>
        </p:grpSpPr>
        <p:sp>
          <p:nvSpPr>
            <p:cNvPr id="71" name="Rectangle 71"/>
            <p:cNvSpPr/>
            <p:nvPr/>
          </p:nvSpPr>
          <p:spPr>
            <a:xfrm>
              <a:off x="0" y="41910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72618" y="4654550"/>
              <a:ext cx="1770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PREV 指向上一塊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73380" y="5118100"/>
              <a:ext cx="15392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每個區塊都記著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前一塊的雜湊值。</a:t>
              </a:r>
            </a:p>
          </p:txBody>
        </p:sp>
      </p:grpSp>
      <p:grpSp>
        <p:nvGrpSpPr>
          <p:cNvPr id="78" name="why-2"/>
          <p:cNvGrpSpPr/>
          <p:nvPr/>
        </p:nvGrpSpPr>
        <p:grpSpPr>
          <a:xfrm>
            <a:off x="4067175" y="4191000"/>
            <a:ext cx="1912620" cy="2667000"/>
            <a:chOff x="4067175" y="4191000"/>
            <a:chExt cx="1912620" cy="2667000"/>
          </a:xfrm>
        </p:grpSpPr>
        <p:sp>
          <p:nvSpPr>
            <p:cNvPr id="75" name="Rectangle 75"/>
            <p:cNvSpPr/>
            <p:nvPr/>
          </p:nvSpPr>
          <p:spPr>
            <a:xfrm>
              <a:off x="4067175" y="4191000"/>
              <a:ext cx="28575" cy="2667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439793" y="4654550"/>
              <a:ext cx="14040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HASH 是指紋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440555" y="5118100"/>
              <a:ext cx="15392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內容改一個字，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指紋就完全不同。</a:t>
              </a:r>
            </a:p>
          </p:txBody>
        </p:sp>
      </p:grpSp>
      <p:grpSp>
        <p:nvGrpSpPr>
          <p:cNvPr id="82" name="why-3"/>
          <p:cNvGrpSpPr/>
          <p:nvPr/>
        </p:nvGrpSpPr>
        <p:grpSpPr>
          <a:xfrm>
            <a:off x="8134350" y="4191000"/>
            <a:ext cx="2103120" cy="2667000"/>
            <a:chOff x="8134350" y="4191000"/>
            <a:chExt cx="2103120" cy="2667000"/>
          </a:xfrm>
        </p:grpSpPr>
        <p:sp>
          <p:nvSpPr>
            <p:cNvPr id="79" name="Rectangle 79"/>
            <p:cNvSpPr/>
            <p:nvPr/>
          </p:nvSpPr>
          <p:spPr>
            <a:xfrm>
              <a:off x="8134350" y="4191000"/>
              <a:ext cx="28575" cy="2667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6968" y="46545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改一塊就斷鏈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07730" y="5118100"/>
              <a:ext cx="17297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想竄改，就得把後面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全部重算一遍。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默克爾證明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17385" y="320675"/>
              <a:ext cx="1246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MERKLE PROOF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95" name="tree"/>
          <p:cNvGrpSpPr/>
          <p:nvPr/>
        </p:nvGrpSpPr>
        <p:grpSpPr>
          <a:xfrm>
            <a:off x="466725" y="685800"/>
            <a:ext cx="7372350" cy="6172200"/>
            <a:chOff x="466725" y="685800"/>
            <a:chExt cx="7372350" cy="6172200"/>
          </a:xfrm>
        </p:grpSpPr>
        <p:sp>
          <p:nvSpPr>
            <p:cNvPr id="33" name="Freeform 33"/>
            <p:cNvSpPr/>
            <p:nvPr/>
          </p:nvSpPr>
          <p:spPr>
            <a:xfrm>
              <a:off x="833438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0" y="1117282"/>
                  </a:moveTo>
                  <a:lnTo>
                    <a:pt x="0" y="558165"/>
                  </a:lnTo>
                  <a:lnTo>
                    <a:pt x="452438" y="558165"/>
                  </a:lnTo>
                  <a:lnTo>
                    <a:pt x="452438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285875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452438" y="1117282"/>
                  </a:moveTo>
                  <a:lnTo>
                    <a:pt x="452438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643188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0" y="1117282"/>
                  </a:moveTo>
                  <a:lnTo>
                    <a:pt x="0" y="558165"/>
                  </a:lnTo>
                  <a:lnTo>
                    <a:pt x="452438" y="558165"/>
                  </a:lnTo>
                  <a:lnTo>
                    <a:pt x="452438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095625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452438" y="1117282"/>
                  </a:moveTo>
                  <a:lnTo>
                    <a:pt x="452438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4452938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0" y="1117282"/>
                  </a:moveTo>
                  <a:lnTo>
                    <a:pt x="0" y="558165"/>
                  </a:lnTo>
                  <a:lnTo>
                    <a:pt x="452438" y="558165"/>
                  </a:lnTo>
                  <a:lnTo>
                    <a:pt x="452438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905375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452438" y="1117282"/>
                  </a:moveTo>
                  <a:lnTo>
                    <a:pt x="452438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262688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0" y="1117282"/>
                  </a:moveTo>
                  <a:lnTo>
                    <a:pt x="0" y="558165"/>
                  </a:lnTo>
                  <a:lnTo>
                    <a:pt x="452438" y="558165"/>
                  </a:lnTo>
                  <a:lnTo>
                    <a:pt x="452438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715125" y="4769168"/>
              <a:ext cx="452438" cy="1117282"/>
            </a:xfrm>
            <a:custGeom>
              <a:avLst/>
              <a:gdLst/>
              <a:ahLst/>
              <a:cxnLst/>
              <a:rect l="l" t="t" r="r" b="b"/>
              <a:pathLst>
                <a:path w="452438" h="1117282">
                  <a:moveTo>
                    <a:pt x="452438" y="1117282"/>
                  </a:moveTo>
                  <a:lnTo>
                    <a:pt x="452438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285875" y="3155632"/>
              <a:ext cx="904875" cy="1118235"/>
            </a:xfrm>
            <a:custGeom>
              <a:avLst/>
              <a:gdLst/>
              <a:ahLst/>
              <a:cxnLst/>
              <a:rect l="l" t="t" r="r" b="b"/>
              <a:pathLst>
                <a:path w="904875" h="1118235">
                  <a:moveTo>
                    <a:pt x="0" y="1118235"/>
                  </a:moveTo>
                  <a:lnTo>
                    <a:pt x="0" y="559117"/>
                  </a:lnTo>
                  <a:lnTo>
                    <a:pt x="904875" y="559117"/>
                  </a:lnTo>
                  <a:lnTo>
                    <a:pt x="904875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2190750" y="3155632"/>
              <a:ext cx="904875" cy="1118235"/>
            </a:xfrm>
            <a:custGeom>
              <a:avLst/>
              <a:gdLst/>
              <a:ahLst/>
              <a:cxnLst/>
              <a:rect l="l" t="t" r="r" b="b"/>
              <a:pathLst>
                <a:path w="904875" h="1118235">
                  <a:moveTo>
                    <a:pt x="904875" y="1118235"/>
                  </a:moveTo>
                  <a:lnTo>
                    <a:pt x="904875" y="559117"/>
                  </a:lnTo>
                  <a:lnTo>
                    <a:pt x="0" y="55911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905375" y="3155632"/>
              <a:ext cx="904875" cy="1118235"/>
            </a:xfrm>
            <a:custGeom>
              <a:avLst/>
              <a:gdLst/>
              <a:ahLst/>
              <a:cxnLst/>
              <a:rect l="l" t="t" r="r" b="b"/>
              <a:pathLst>
                <a:path w="904875" h="1118235">
                  <a:moveTo>
                    <a:pt x="0" y="1118235"/>
                  </a:moveTo>
                  <a:lnTo>
                    <a:pt x="0" y="559117"/>
                  </a:lnTo>
                  <a:lnTo>
                    <a:pt x="904875" y="559117"/>
                  </a:lnTo>
                  <a:lnTo>
                    <a:pt x="904875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810250" y="3155632"/>
              <a:ext cx="904875" cy="1118235"/>
            </a:xfrm>
            <a:custGeom>
              <a:avLst/>
              <a:gdLst/>
              <a:ahLst/>
              <a:cxnLst/>
              <a:rect l="l" t="t" r="r" b="b"/>
              <a:pathLst>
                <a:path w="904875" h="1118235">
                  <a:moveTo>
                    <a:pt x="904875" y="1118235"/>
                  </a:moveTo>
                  <a:lnTo>
                    <a:pt x="904875" y="559117"/>
                  </a:lnTo>
                  <a:lnTo>
                    <a:pt x="0" y="55911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190750" y="1543050"/>
              <a:ext cx="1809750" cy="1117282"/>
            </a:xfrm>
            <a:custGeom>
              <a:avLst/>
              <a:gdLst/>
              <a:ahLst/>
              <a:cxnLst/>
              <a:rect l="l" t="t" r="r" b="b"/>
              <a:pathLst>
                <a:path w="1809750" h="1117282">
                  <a:moveTo>
                    <a:pt x="0" y="1117282"/>
                  </a:moveTo>
                  <a:lnTo>
                    <a:pt x="0" y="559117"/>
                  </a:lnTo>
                  <a:lnTo>
                    <a:pt x="1809750" y="559117"/>
                  </a:lnTo>
                  <a:lnTo>
                    <a:pt x="180975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000500" y="1543050"/>
              <a:ext cx="1809750" cy="1117282"/>
            </a:xfrm>
            <a:custGeom>
              <a:avLst/>
              <a:gdLst/>
              <a:ahLst/>
              <a:cxnLst/>
              <a:rect l="l" t="t" r="r" b="b"/>
              <a:pathLst>
                <a:path w="1809750" h="1117282">
                  <a:moveTo>
                    <a:pt x="1809750" y="1117282"/>
                  </a:moveTo>
                  <a:lnTo>
                    <a:pt x="1809750" y="559117"/>
                  </a:lnTo>
                  <a:lnTo>
                    <a:pt x="0" y="55911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466725" y="58864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5161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371600" y="58864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80036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314575" y="5924550"/>
              <a:ext cx="733425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276475" y="58864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324100" y="5934075"/>
              <a:ext cx="638175" cy="400050"/>
            </a:xfrm>
            <a:prstGeom prst="rect">
              <a:avLst/>
            </a:prstGeom>
            <a:noFill/>
            <a:ln w="19050">
              <a:solidFill>
                <a:srgbClr val="0A0A0A"/>
              </a:solidFill>
              <a:custDash>
                <a:ds d="200000" sp="150000"/>
              </a:custDash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84911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19450" y="5924550"/>
              <a:ext cx="733425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181350" y="5886450"/>
              <a:ext cx="733425" cy="49530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389786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086225" y="58864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294661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991100" y="58864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199536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95975" y="58864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04411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00850" y="58864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09286" y="60483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57262" y="4311650"/>
              <a:ext cx="733425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19162" y="4273550"/>
              <a:ext cx="733425" cy="49530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80262" y="43310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0697" y="45469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0xf10…d03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767012" y="4311650"/>
              <a:ext cx="733425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728912" y="42735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2776538" y="4321492"/>
              <a:ext cx="638175" cy="400050"/>
            </a:xfrm>
            <a:prstGeom prst="rect">
              <a:avLst/>
            </a:prstGeom>
            <a:noFill/>
            <a:ln w="19050">
              <a:solidFill>
                <a:srgbClr val="0A0A0A"/>
              </a:solidFill>
              <a:custDash>
                <a:ds d="200000" sp="150000"/>
              </a:custDash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890012" y="43310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740447" y="45469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0x784…13f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538662" y="42735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699762" y="43310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550197" y="45469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0x0f8…56c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348412" y="42735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09512" y="43310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59947" y="45469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0x97c…998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862138" y="2698750"/>
              <a:ext cx="733425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824038" y="2660650"/>
              <a:ext cx="733425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1871662" y="2707958"/>
              <a:ext cx="638175" cy="400050"/>
            </a:xfrm>
            <a:prstGeom prst="rect">
              <a:avLst/>
            </a:prstGeom>
            <a:noFill/>
            <a:ln w="19050">
              <a:solidFill>
                <a:srgbClr val="0A0A0A"/>
              </a:solidFill>
              <a:custDash>
                <a:ds d="200000" sp="150000"/>
              </a:custDash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985137" y="2717482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H2·1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835572" y="293338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0xe6d…667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481638" y="2698750"/>
              <a:ext cx="733425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5443538" y="2660650"/>
              <a:ext cx="733425" cy="49530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604637" y="2717482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H2·2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455072" y="293338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0x7d1…a93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3133725" y="1085850"/>
              <a:ext cx="1809750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3095625" y="1047750"/>
              <a:ext cx="1809750" cy="495300"/>
            </a:xfrm>
            <a:prstGeom prst="rect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3698945" y="1066800"/>
              <a:ext cx="6031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ROOT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645322" y="132080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0xdba…ecb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8105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05" name="explain"/>
          <p:cNvGrpSpPr/>
          <p:nvPr/>
        </p:nvGrpSpPr>
        <p:grpSpPr>
          <a:xfrm>
            <a:off x="8181594" y="1047750"/>
            <a:ext cx="3686556" cy="5010150"/>
            <a:chOff x="8181594" y="1047750"/>
            <a:chExt cx="3686556" cy="5010150"/>
          </a:xfrm>
        </p:grpSpPr>
        <p:sp>
          <p:nvSpPr>
            <p:cNvPr id="96" name="Rectangle 96"/>
            <p:cNvSpPr/>
            <p:nvPr/>
          </p:nvSpPr>
          <p:spPr>
            <a:xfrm>
              <a:off x="8191500" y="1047750"/>
              <a:ext cx="809625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319516" y="1092200"/>
              <a:ext cx="605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驗證 TX3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181594" y="1568450"/>
              <a:ext cx="24157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只要 3 個綠色雜湊，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181594" y="1949450"/>
              <a:ext cx="30392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就能證明 TX3 在區塊裡。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183880" y="2641600"/>
              <a:ext cx="2148954" cy="1179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不用下載整個區塊：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把 TX3 和兩兩配對的雜湊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一路算上去，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結果等於 ROOT 就成立。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248650" y="5010150"/>
              <a:ext cx="3619500" cy="1047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8191500" y="4953000"/>
              <a:ext cx="3619500" cy="104775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411718" y="5207000"/>
              <a:ext cx="19784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8 筆交易 → 3 個雜湊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413242" y="5588000"/>
              <a:ext cx="2062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1,000 筆交易也只要 10 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訊息如何傳開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68719" y="320675"/>
              <a:ext cx="594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GOSSIP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95" name="net"/>
          <p:cNvGrpSpPr/>
          <p:nvPr/>
        </p:nvGrpSpPr>
        <p:grpSpPr>
          <a:xfrm>
            <a:off x="1394460" y="685800"/>
            <a:ext cx="7016115" cy="6172200"/>
            <a:chOff x="1394460" y="685800"/>
            <a:chExt cx="7016115" cy="6172200"/>
          </a:xfrm>
        </p:grpSpPr>
        <p:sp>
          <p:nvSpPr>
            <p:cNvPr id="33" name="Line 33"/>
            <p:cNvSpPr/>
            <p:nvPr/>
          </p:nvSpPr>
          <p:spPr>
            <a:xfrm>
              <a:off x="3469005" y="3714750"/>
              <a:ext cx="1457325" cy="500062"/>
            </a:xfrm>
            <a:custGeom>
              <a:avLst/>
              <a:gdLst/>
              <a:ahLst/>
              <a:cxnLst/>
              <a:rect l="l" t="t" r="r" b="b"/>
              <a:pathLst>
                <a:path w="1457325" h="500062">
                  <a:moveTo>
                    <a:pt x="1457325" y="0"/>
                  </a:moveTo>
                  <a:lnTo>
                    <a:pt x="0" y="50006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411028" y="2762250"/>
              <a:ext cx="515303" cy="952500"/>
            </a:xfrm>
            <a:custGeom>
              <a:avLst/>
              <a:gdLst/>
              <a:ahLst/>
              <a:cxnLst/>
              <a:rect l="l" t="t" r="r" b="b"/>
              <a:pathLst>
                <a:path w="515303" h="952500">
                  <a:moveTo>
                    <a:pt x="515303" y="952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926330" y="3714750"/>
              <a:ext cx="389572" cy="898208"/>
            </a:xfrm>
            <a:custGeom>
              <a:avLst/>
              <a:gdLst/>
              <a:ahLst/>
              <a:cxnLst/>
              <a:rect l="l" t="t" r="r" b="b"/>
              <a:pathLst>
                <a:path w="389572" h="898208">
                  <a:moveTo>
                    <a:pt x="0" y="0"/>
                  </a:moveTo>
                  <a:lnTo>
                    <a:pt x="389572" y="89820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926330" y="2953702"/>
              <a:ext cx="1150620" cy="761047"/>
            </a:xfrm>
            <a:custGeom>
              <a:avLst/>
              <a:gdLst/>
              <a:ahLst/>
              <a:cxnLst/>
              <a:rect l="l" t="t" r="r" b="b"/>
              <a:pathLst>
                <a:path w="1150620" h="761047">
                  <a:moveTo>
                    <a:pt x="0" y="761047"/>
                  </a:moveTo>
                  <a:lnTo>
                    <a:pt x="115062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926330" y="3714750"/>
              <a:ext cx="278130" cy="1957388"/>
            </a:xfrm>
            <a:custGeom>
              <a:avLst/>
              <a:gdLst/>
              <a:ahLst/>
              <a:cxnLst/>
              <a:rect l="l" t="t" r="r" b="b"/>
              <a:pathLst>
                <a:path w="278130" h="1957388">
                  <a:moveTo>
                    <a:pt x="0" y="0"/>
                  </a:moveTo>
                  <a:lnTo>
                    <a:pt x="278130" y="195738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2396490" y="3490912"/>
              <a:ext cx="1072515" cy="723900"/>
            </a:xfrm>
            <a:custGeom>
              <a:avLst/>
              <a:gdLst/>
              <a:ahLst/>
              <a:cxnLst/>
              <a:rect l="l" t="t" r="r" b="b"/>
              <a:pathLst>
                <a:path w="1072515" h="723900">
                  <a:moveTo>
                    <a:pt x="1072515" y="723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469005" y="4214812"/>
              <a:ext cx="218123" cy="988695"/>
            </a:xfrm>
            <a:custGeom>
              <a:avLst/>
              <a:gdLst/>
              <a:ahLst/>
              <a:cxnLst/>
              <a:rect l="l" t="t" r="r" b="b"/>
              <a:pathLst>
                <a:path w="218123" h="988695">
                  <a:moveTo>
                    <a:pt x="0" y="0"/>
                  </a:moveTo>
                  <a:lnTo>
                    <a:pt x="218123" y="98869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707832" y="4214812"/>
              <a:ext cx="1761172" cy="211455"/>
            </a:xfrm>
            <a:custGeom>
              <a:avLst/>
              <a:gdLst/>
              <a:ahLst/>
              <a:cxnLst/>
              <a:rect l="l" t="t" r="r" b="b"/>
              <a:pathLst>
                <a:path w="1761172" h="211455">
                  <a:moveTo>
                    <a:pt x="1761172" y="0"/>
                  </a:moveTo>
                  <a:lnTo>
                    <a:pt x="0" y="2114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2304098" y="4214812"/>
              <a:ext cx="1164907" cy="1383982"/>
            </a:xfrm>
            <a:custGeom>
              <a:avLst/>
              <a:gdLst/>
              <a:ahLst/>
              <a:cxnLst/>
              <a:rect l="l" t="t" r="r" b="b"/>
              <a:pathLst>
                <a:path w="1164907" h="1383982">
                  <a:moveTo>
                    <a:pt x="1164907" y="0"/>
                  </a:moveTo>
                  <a:lnTo>
                    <a:pt x="0" y="13839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144202" y="2245042"/>
              <a:ext cx="1266825" cy="517208"/>
            </a:xfrm>
            <a:custGeom>
              <a:avLst/>
              <a:gdLst/>
              <a:ahLst/>
              <a:cxnLst/>
              <a:rect l="l" t="t" r="r" b="b"/>
              <a:pathLst>
                <a:path w="1266825" h="517208">
                  <a:moveTo>
                    <a:pt x="1266825" y="51720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411028" y="1939290"/>
              <a:ext cx="1118235" cy="822960"/>
            </a:xfrm>
            <a:custGeom>
              <a:avLst/>
              <a:gdLst/>
              <a:ahLst/>
              <a:cxnLst/>
              <a:rect l="l" t="t" r="r" b="b"/>
              <a:pathLst>
                <a:path w="1118235" h="822960">
                  <a:moveTo>
                    <a:pt x="0" y="822960"/>
                  </a:moveTo>
                  <a:lnTo>
                    <a:pt x="1118235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3828098" y="1353502"/>
              <a:ext cx="582930" cy="1408748"/>
            </a:xfrm>
            <a:custGeom>
              <a:avLst/>
              <a:gdLst/>
              <a:ahLst/>
              <a:cxnLst/>
              <a:rect l="l" t="t" r="r" b="b"/>
              <a:pathLst>
                <a:path w="582930" h="1408748">
                  <a:moveTo>
                    <a:pt x="582930" y="140874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315902" y="4319588"/>
              <a:ext cx="1448753" cy="293370"/>
            </a:xfrm>
            <a:custGeom>
              <a:avLst/>
              <a:gdLst/>
              <a:ahLst/>
              <a:cxnLst/>
              <a:rect l="l" t="t" r="r" b="b"/>
              <a:pathLst>
                <a:path w="1448753" h="293370">
                  <a:moveTo>
                    <a:pt x="0" y="293370"/>
                  </a:moveTo>
                  <a:lnTo>
                    <a:pt x="1448753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5204460" y="4612958"/>
              <a:ext cx="111443" cy="1059180"/>
            </a:xfrm>
            <a:custGeom>
              <a:avLst/>
              <a:gdLst/>
              <a:ahLst/>
              <a:cxnLst/>
              <a:rect l="l" t="t" r="r" b="b"/>
              <a:pathLst>
                <a:path w="111443" h="1059180">
                  <a:moveTo>
                    <a:pt x="111443" y="0"/>
                  </a:moveTo>
                  <a:lnTo>
                    <a:pt x="0" y="105918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396490" y="2245042"/>
              <a:ext cx="747713" cy="1245870"/>
            </a:xfrm>
            <a:custGeom>
              <a:avLst/>
              <a:gdLst/>
              <a:ahLst/>
              <a:cxnLst/>
              <a:rect l="l" t="t" r="r" b="b"/>
              <a:pathLst>
                <a:path w="747713" h="1245870">
                  <a:moveTo>
                    <a:pt x="0" y="1245870"/>
                  </a:moveTo>
                  <a:lnTo>
                    <a:pt x="747713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707832" y="3490912"/>
              <a:ext cx="688657" cy="935355"/>
            </a:xfrm>
            <a:custGeom>
              <a:avLst/>
              <a:gdLst/>
              <a:ahLst/>
              <a:cxnLst/>
              <a:rect l="l" t="t" r="r" b="b"/>
              <a:pathLst>
                <a:path w="688657" h="935355">
                  <a:moveTo>
                    <a:pt x="688657" y="0"/>
                  </a:moveTo>
                  <a:lnTo>
                    <a:pt x="0" y="9353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1518285" y="2642235"/>
              <a:ext cx="878205" cy="848678"/>
            </a:xfrm>
            <a:custGeom>
              <a:avLst/>
              <a:gdLst/>
              <a:ahLst/>
              <a:cxnLst/>
              <a:rect l="l" t="t" r="r" b="b"/>
              <a:pathLst>
                <a:path w="878205" h="848678">
                  <a:moveTo>
                    <a:pt x="878205" y="84867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076950" y="2953702"/>
              <a:ext cx="687705" cy="1365885"/>
            </a:xfrm>
            <a:custGeom>
              <a:avLst/>
              <a:gdLst/>
              <a:ahLst/>
              <a:cxnLst/>
              <a:rect l="l" t="t" r="r" b="b"/>
              <a:pathLst>
                <a:path w="687705" h="1365885">
                  <a:moveTo>
                    <a:pt x="0" y="0"/>
                  </a:moveTo>
                  <a:lnTo>
                    <a:pt x="687705" y="136588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5529262" y="1939290"/>
              <a:ext cx="547688" cy="1014413"/>
            </a:xfrm>
            <a:custGeom>
              <a:avLst/>
              <a:gdLst/>
              <a:ahLst/>
              <a:cxnLst/>
              <a:rect l="l" t="t" r="r" b="b"/>
              <a:pathLst>
                <a:path w="547688" h="1014413">
                  <a:moveTo>
                    <a:pt x="547688" y="101441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076950" y="2953702"/>
              <a:ext cx="1456372" cy="283845"/>
            </a:xfrm>
            <a:custGeom>
              <a:avLst/>
              <a:gdLst/>
              <a:ahLst/>
              <a:cxnLst/>
              <a:rect l="l" t="t" r="r" b="b"/>
              <a:pathLst>
                <a:path w="1456372" h="283845">
                  <a:moveTo>
                    <a:pt x="0" y="0"/>
                  </a:moveTo>
                  <a:lnTo>
                    <a:pt x="1456372" y="28384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3687128" y="5203508"/>
              <a:ext cx="1517332" cy="468630"/>
            </a:xfrm>
            <a:custGeom>
              <a:avLst/>
              <a:gdLst/>
              <a:ahLst/>
              <a:cxnLst/>
              <a:rect l="l" t="t" r="r" b="b"/>
              <a:pathLst>
                <a:path w="1517332" h="468630">
                  <a:moveTo>
                    <a:pt x="0" y="0"/>
                  </a:moveTo>
                  <a:lnTo>
                    <a:pt x="1517332" y="46863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2304098" y="5203508"/>
              <a:ext cx="1383030" cy="395288"/>
            </a:xfrm>
            <a:custGeom>
              <a:avLst/>
              <a:gdLst/>
              <a:ahLst/>
              <a:cxnLst/>
              <a:rect l="l" t="t" r="r" b="b"/>
              <a:pathLst>
                <a:path w="1383030" h="395288">
                  <a:moveTo>
                    <a:pt x="1383030" y="0"/>
                  </a:moveTo>
                  <a:lnTo>
                    <a:pt x="0" y="39528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1518285" y="2245042"/>
              <a:ext cx="1625918" cy="397192"/>
            </a:xfrm>
            <a:custGeom>
              <a:avLst/>
              <a:gdLst/>
              <a:ahLst/>
              <a:cxnLst/>
              <a:rect l="l" t="t" r="r" b="b"/>
              <a:pathLst>
                <a:path w="1625918" h="397192">
                  <a:moveTo>
                    <a:pt x="1625918" y="0"/>
                  </a:moveTo>
                  <a:lnTo>
                    <a:pt x="0" y="39719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3144202" y="1353502"/>
              <a:ext cx="683895" cy="891540"/>
            </a:xfrm>
            <a:custGeom>
              <a:avLst/>
              <a:gdLst/>
              <a:ahLst/>
              <a:cxnLst/>
              <a:rect l="l" t="t" r="r" b="b"/>
              <a:pathLst>
                <a:path w="683895" h="891540">
                  <a:moveTo>
                    <a:pt x="0" y="891540"/>
                  </a:moveTo>
                  <a:lnTo>
                    <a:pt x="683895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764655" y="3237548"/>
              <a:ext cx="768667" cy="1082040"/>
            </a:xfrm>
            <a:custGeom>
              <a:avLst/>
              <a:gdLst/>
              <a:ahLst/>
              <a:cxnLst/>
              <a:rect l="l" t="t" r="r" b="b"/>
              <a:pathLst>
                <a:path w="768667" h="1082040">
                  <a:moveTo>
                    <a:pt x="0" y="1082040"/>
                  </a:moveTo>
                  <a:lnTo>
                    <a:pt x="768667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18285" y="2642235"/>
              <a:ext cx="189548" cy="1784032"/>
            </a:xfrm>
            <a:custGeom>
              <a:avLst/>
              <a:gdLst/>
              <a:ahLst/>
              <a:cxnLst/>
              <a:rect l="l" t="t" r="r" b="b"/>
              <a:pathLst>
                <a:path w="189548" h="1784032">
                  <a:moveTo>
                    <a:pt x="189548" y="178403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707832" y="4426268"/>
              <a:ext cx="596265" cy="1172527"/>
            </a:xfrm>
            <a:custGeom>
              <a:avLst/>
              <a:gdLst/>
              <a:ahLst/>
              <a:cxnLst/>
              <a:rect l="l" t="t" r="r" b="b"/>
              <a:pathLst>
                <a:path w="596265" h="1172527">
                  <a:moveTo>
                    <a:pt x="0" y="0"/>
                  </a:moveTo>
                  <a:lnTo>
                    <a:pt x="596265" y="1172527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5529262" y="1939290"/>
              <a:ext cx="2004060" cy="1298257"/>
            </a:xfrm>
            <a:custGeom>
              <a:avLst/>
              <a:gdLst/>
              <a:ahLst/>
              <a:cxnLst/>
              <a:rect l="l" t="t" r="r" b="b"/>
              <a:pathLst>
                <a:path w="2004060" h="1298257">
                  <a:moveTo>
                    <a:pt x="0" y="0"/>
                  </a:moveTo>
                  <a:lnTo>
                    <a:pt x="2004060" y="1298257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3828098" y="1353502"/>
              <a:ext cx="1701165" cy="585788"/>
            </a:xfrm>
            <a:custGeom>
              <a:avLst/>
              <a:gdLst/>
              <a:ahLst/>
              <a:cxnLst/>
              <a:rect l="l" t="t" r="r" b="b"/>
              <a:pathLst>
                <a:path w="1701165" h="585788">
                  <a:moveTo>
                    <a:pt x="1701165" y="58578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4831080" y="361950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802505" y="3590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3373755" y="41195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345180" y="409098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4315778" y="266700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4287202" y="26384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5220652" y="45177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5192078" y="448913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2301240" y="33956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2272665" y="336708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5981700" y="285845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5953125" y="282987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3591878" y="510825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3563302" y="507968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3048952" y="214979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3020378" y="212121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6669405" y="422433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6640830" y="419576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612582" y="433101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584008" y="430244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5434012" y="184404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5405438" y="181546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5109210" y="557688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080635" y="554831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1423035" y="254698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394460" y="251841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7438072" y="314229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7409498" y="311372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2208848" y="550354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180272" y="547497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3685222" y="1210628"/>
              <a:ext cx="342900" cy="3429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3656648" y="1182052"/>
              <a:ext cx="342900" cy="34290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83820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07" name="hop"/>
          <p:cNvGrpSpPr/>
          <p:nvPr/>
        </p:nvGrpSpPr>
        <p:grpSpPr>
          <a:xfrm>
            <a:off x="8743950" y="1530350"/>
            <a:ext cx="3067050" cy="4464558"/>
            <a:chOff x="8743950" y="1530350"/>
            <a:chExt cx="3067050" cy="4464558"/>
          </a:xfrm>
        </p:grpSpPr>
        <p:sp>
          <p:nvSpPr>
            <p:cNvPr id="96" name="TextBox 96"/>
            <p:cNvSpPr txBox="1"/>
            <p:nvPr/>
          </p:nvSpPr>
          <p:spPr>
            <a:xfrm>
              <a:off x="8743950" y="1530350"/>
              <a:ext cx="205221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spc="-105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HOP 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792718" y="25590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起點把新區塊傳給鄰居。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793480" y="3429000"/>
              <a:ext cx="19999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已收到：4 / 16 個節點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801100" y="3810000"/>
              <a:ext cx="3009900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829675" y="3838575"/>
              <a:ext cx="742950" cy="2476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8801100" y="4829175"/>
              <a:ext cx="247650" cy="24765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156192" y="48545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起點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8801100" y="52673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156192" y="52927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已收到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8801100" y="57054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156192" y="5730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還沒收到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訊息如何傳開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68719" y="320675"/>
              <a:ext cx="594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GOSSIP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95" name="net"/>
          <p:cNvGrpSpPr/>
          <p:nvPr/>
        </p:nvGrpSpPr>
        <p:grpSpPr>
          <a:xfrm>
            <a:off x="1394460" y="685800"/>
            <a:ext cx="7016115" cy="6172200"/>
            <a:chOff x="1394460" y="685800"/>
            <a:chExt cx="7016115" cy="6172200"/>
          </a:xfrm>
        </p:grpSpPr>
        <p:sp>
          <p:nvSpPr>
            <p:cNvPr id="33" name="Line 33"/>
            <p:cNvSpPr/>
            <p:nvPr/>
          </p:nvSpPr>
          <p:spPr>
            <a:xfrm>
              <a:off x="3469005" y="3714750"/>
              <a:ext cx="1457325" cy="500062"/>
            </a:xfrm>
            <a:custGeom>
              <a:avLst/>
              <a:gdLst/>
              <a:ahLst/>
              <a:cxnLst/>
              <a:rect l="l" t="t" r="r" b="b"/>
              <a:pathLst>
                <a:path w="1457325" h="500062">
                  <a:moveTo>
                    <a:pt x="1457325" y="0"/>
                  </a:moveTo>
                  <a:lnTo>
                    <a:pt x="0" y="50006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411028" y="2762250"/>
              <a:ext cx="515303" cy="952500"/>
            </a:xfrm>
            <a:custGeom>
              <a:avLst/>
              <a:gdLst/>
              <a:ahLst/>
              <a:cxnLst/>
              <a:rect l="l" t="t" r="r" b="b"/>
              <a:pathLst>
                <a:path w="515303" h="952500">
                  <a:moveTo>
                    <a:pt x="515303" y="9525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926330" y="3714750"/>
              <a:ext cx="389572" cy="898208"/>
            </a:xfrm>
            <a:custGeom>
              <a:avLst/>
              <a:gdLst/>
              <a:ahLst/>
              <a:cxnLst/>
              <a:rect l="l" t="t" r="r" b="b"/>
              <a:pathLst>
                <a:path w="389572" h="898208">
                  <a:moveTo>
                    <a:pt x="0" y="0"/>
                  </a:moveTo>
                  <a:lnTo>
                    <a:pt x="389572" y="89820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926330" y="2953702"/>
              <a:ext cx="1150620" cy="761047"/>
            </a:xfrm>
            <a:custGeom>
              <a:avLst/>
              <a:gdLst/>
              <a:ahLst/>
              <a:cxnLst/>
              <a:rect l="l" t="t" r="r" b="b"/>
              <a:pathLst>
                <a:path w="1150620" h="761047">
                  <a:moveTo>
                    <a:pt x="0" y="761047"/>
                  </a:moveTo>
                  <a:lnTo>
                    <a:pt x="115062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926330" y="3714750"/>
              <a:ext cx="278130" cy="1957388"/>
            </a:xfrm>
            <a:custGeom>
              <a:avLst/>
              <a:gdLst/>
              <a:ahLst/>
              <a:cxnLst/>
              <a:rect l="l" t="t" r="r" b="b"/>
              <a:pathLst>
                <a:path w="278130" h="1957388">
                  <a:moveTo>
                    <a:pt x="0" y="0"/>
                  </a:moveTo>
                  <a:lnTo>
                    <a:pt x="278130" y="195738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2396490" y="3490912"/>
              <a:ext cx="1072515" cy="723900"/>
            </a:xfrm>
            <a:custGeom>
              <a:avLst/>
              <a:gdLst/>
              <a:ahLst/>
              <a:cxnLst/>
              <a:rect l="l" t="t" r="r" b="b"/>
              <a:pathLst>
                <a:path w="1072515" h="723900">
                  <a:moveTo>
                    <a:pt x="1072515" y="723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469005" y="4214812"/>
              <a:ext cx="218123" cy="988695"/>
            </a:xfrm>
            <a:custGeom>
              <a:avLst/>
              <a:gdLst/>
              <a:ahLst/>
              <a:cxnLst/>
              <a:rect l="l" t="t" r="r" b="b"/>
              <a:pathLst>
                <a:path w="218123" h="988695">
                  <a:moveTo>
                    <a:pt x="0" y="0"/>
                  </a:moveTo>
                  <a:lnTo>
                    <a:pt x="218123" y="98869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707832" y="4214812"/>
              <a:ext cx="1761172" cy="211455"/>
            </a:xfrm>
            <a:custGeom>
              <a:avLst/>
              <a:gdLst/>
              <a:ahLst/>
              <a:cxnLst/>
              <a:rect l="l" t="t" r="r" b="b"/>
              <a:pathLst>
                <a:path w="1761172" h="211455">
                  <a:moveTo>
                    <a:pt x="1761172" y="0"/>
                  </a:moveTo>
                  <a:lnTo>
                    <a:pt x="0" y="2114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2304098" y="4214812"/>
              <a:ext cx="1164907" cy="1383982"/>
            </a:xfrm>
            <a:custGeom>
              <a:avLst/>
              <a:gdLst/>
              <a:ahLst/>
              <a:cxnLst/>
              <a:rect l="l" t="t" r="r" b="b"/>
              <a:pathLst>
                <a:path w="1164907" h="1383982">
                  <a:moveTo>
                    <a:pt x="1164907" y="0"/>
                  </a:moveTo>
                  <a:lnTo>
                    <a:pt x="0" y="13839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144202" y="2245042"/>
              <a:ext cx="1266825" cy="517208"/>
            </a:xfrm>
            <a:custGeom>
              <a:avLst/>
              <a:gdLst/>
              <a:ahLst/>
              <a:cxnLst/>
              <a:rect l="l" t="t" r="r" b="b"/>
              <a:pathLst>
                <a:path w="1266825" h="517208">
                  <a:moveTo>
                    <a:pt x="1266825" y="51720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411028" y="1939290"/>
              <a:ext cx="1118235" cy="822960"/>
            </a:xfrm>
            <a:custGeom>
              <a:avLst/>
              <a:gdLst/>
              <a:ahLst/>
              <a:cxnLst/>
              <a:rect l="l" t="t" r="r" b="b"/>
              <a:pathLst>
                <a:path w="1118235" h="822960">
                  <a:moveTo>
                    <a:pt x="0" y="822960"/>
                  </a:moveTo>
                  <a:lnTo>
                    <a:pt x="1118235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3828098" y="1353502"/>
              <a:ext cx="582930" cy="1408748"/>
            </a:xfrm>
            <a:custGeom>
              <a:avLst/>
              <a:gdLst/>
              <a:ahLst/>
              <a:cxnLst/>
              <a:rect l="l" t="t" r="r" b="b"/>
              <a:pathLst>
                <a:path w="582930" h="1408748">
                  <a:moveTo>
                    <a:pt x="582930" y="140874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315902" y="4319588"/>
              <a:ext cx="1448753" cy="293370"/>
            </a:xfrm>
            <a:custGeom>
              <a:avLst/>
              <a:gdLst/>
              <a:ahLst/>
              <a:cxnLst/>
              <a:rect l="l" t="t" r="r" b="b"/>
              <a:pathLst>
                <a:path w="1448753" h="293370">
                  <a:moveTo>
                    <a:pt x="0" y="293370"/>
                  </a:moveTo>
                  <a:lnTo>
                    <a:pt x="1448753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5204460" y="4612958"/>
              <a:ext cx="111443" cy="1059180"/>
            </a:xfrm>
            <a:custGeom>
              <a:avLst/>
              <a:gdLst/>
              <a:ahLst/>
              <a:cxnLst/>
              <a:rect l="l" t="t" r="r" b="b"/>
              <a:pathLst>
                <a:path w="111443" h="1059180">
                  <a:moveTo>
                    <a:pt x="111443" y="0"/>
                  </a:moveTo>
                  <a:lnTo>
                    <a:pt x="0" y="105918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396490" y="2245042"/>
              <a:ext cx="747713" cy="1245870"/>
            </a:xfrm>
            <a:custGeom>
              <a:avLst/>
              <a:gdLst/>
              <a:ahLst/>
              <a:cxnLst/>
              <a:rect l="l" t="t" r="r" b="b"/>
              <a:pathLst>
                <a:path w="747713" h="1245870">
                  <a:moveTo>
                    <a:pt x="0" y="1245870"/>
                  </a:moveTo>
                  <a:lnTo>
                    <a:pt x="747713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707832" y="3490912"/>
              <a:ext cx="688657" cy="935355"/>
            </a:xfrm>
            <a:custGeom>
              <a:avLst/>
              <a:gdLst/>
              <a:ahLst/>
              <a:cxnLst/>
              <a:rect l="l" t="t" r="r" b="b"/>
              <a:pathLst>
                <a:path w="688657" h="935355">
                  <a:moveTo>
                    <a:pt x="688657" y="0"/>
                  </a:moveTo>
                  <a:lnTo>
                    <a:pt x="0" y="9353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1518285" y="2642235"/>
              <a:ext cx="878205" cy="848678"/>
            </a:xfrm>
            <a:custGeom>
              <a:avLst/>
              <a:gdLst/>
              <a:ahLst/>
              <a:cxnLst/>
              <a:rect l="l" t="t" r="r" b="b"/>
              <a:pathLst>
                <a:path w="878205" h="848678">
                  <a:moveTo>
                    <a:pt x="878205" y="84867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076950" y="2953702"/>
              <a:ext cx="687705" cy="1365885"/>
            </a:xfrm>
            <a:custGeom>
              <a:avLst/>
              <a:gdLst/>
              <a:ahLst/>
              <a:cxnLst/>
              <a:rect l="l" t="t" r="r" b="b"/>
              <a:pathLst>
                <a:path w="687705" h="1365885">
                  <a:moveTo>
                    <a:pt x="0" y="0"/>
                  </a:moveTo>
                  <a:lnTo>
                    <a:pt x="687705" y="136588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5529262" y="1939290"/>
              <a:ext cx="547688" cy="1014413"/>
            </a:xfrm>
            <a:custGeom>
              <a:avLst/>
              <a:gdLst/>
              <a:ahLst/>
              <a:cxnLst/>
              <a:rect l="l" t="t" r="r" b="b"/>
              <a:pathLst>
                <a:path w="547688" h="1014413">
                  <a:moveTo>
                    <a:pt x="547688" y="101441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076950" y="2953702"/>
              <a:ext cx="1456372" cy="283845"/>
            </a:xfrm>
            <a:custGeom>
              <a:avLst/>
              <a:gdLst/>
              <a:ahLst/>
              <a:cxnLst/>
              <a:rect l="l" t="t" r="r" b="b"/>
              <a:pathLst>
                <a:path w="1456372" h="283845">
                  <a:moveTo>
                    <a:pt x="0" y="0"/>
                  </a:moveTo>
                  <a:lnTo>
                    <a:pt x="1456372" y="28384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3687128" y="5203508"/>
              <a:ext cx="1517332" cy="468630"/>
            </a:xfrm>
            <a:custGeom>
              <a:avLst/>
              <a:gdLst/>
              <a:ahLst/>
              <a:cxnLst/>
              <a:rect l="l" t="t" r="r" b="b"/>
              <a:pathLst>
                <a:path w="1517332" h="468630">
                  <a:moveTo>
                    <a:pt x="0" y="0"/>
                  </a:moveTo>
                  <a:lnTo>
                    <a:pt x="1517332" y="46863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2304098" y="5203508"/>
              <a:ext cx="1383030" cy="395288"/>
            </a:xfrm>
            <a:custGeom>
              <a:avLst/>
              <a:gdLst/>
              <a:ahLst/>
              <a:cxnLst/>
              <a:rect l="l" t="t" r="r" b="b"/>
              <a:pathLst>
                <a:path w="1383030" h="395288">
                  <a:moveTo>
                    <a:pt x="1383030" y="0"/>
                  </a:moveTo>
                  <a:lnTo>
                    <a:pt x="0" y="39528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1518285" y="2245042"/>
              <a:ext cx="1625918" cy="397192"/>
            </a:xfrm>
            <a:custGeom>
              <a:avLst/>
              <a:gdLst/>
              <a:ahLst/>
              <a:cxnLst/>
              <a:rect l="l" t="t" r="r" b="b"/>
              <a:pathLst>
                <a:path w="1625918" h="397192">
                  <a:moveTo>
                    <a:pt x="1625918" y="0"/>
                  </a:moveTo>
                  <a:lnTo>
                    <a:pt x="0" y="397192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3144202" y="1353502"/>
              <a:ext cx="683895" cy="891540"/>
            </a:xfrm>
            <a:custGeom>
              <a:avLst/>
              <a:gdLst/>
              <a:ahLst/>
              <a:cxnLst/>
              <a:rect l="l" t="t" r="r" b="b"/>
              <a:pathLst>
                <a:path w="683895" h="891540">
                  <a:moveTo>
                    <a:pt x="0" y="891540"/>
                  </a:moveTo>
                  <a:lnTo>
                    <a:pt x="683895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764655" y="3237548"/>
              <a:ext cx="768667" cy="1082040"/>
            </a:xfrm>
            <a:custGeom>
              <a:avLst/>
              <a:gdLst/>
              <a:ahLst/>
              <a:cxnLst/>
              <a:rect l="l" t="t" r="r" b="b"/>
              <a:pathLst>
                <a:path w="768667" h="1082040">
                  <a:moveTo>
                    <a:pt x="0" y="1082040"/>
                  </a:moveTo>
                  <a:lnTo>
                    <a:pt x="768667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18285" y="2642235"/>
              <a:ext cx="189548" cy="1784032"/>
            </a:xfrm>
            <a:custGeom>
              <a:avLst/>
              <a:gdLst/>
              <a:ahLst/>
              <a:cxnLst/>
              <a:rect l="l" t="t" r="r" b="b"/>
              <a:pathLst>
                <a:path w="189548" h="1784032">
                  <a:moveTo>
                    <a:pt x="189548" y="178403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707832" y="4426268"/>
              <a:ext cx="596265" cy="1172527"/>
            </a:xfrm>
            <a:custGeom>
              <a:avLst/>
              <a:gdLst/>
              <a:ahLst/>
              <a:cxnLst/>
              <a:rect l="l" t="t" r="r" b="b"/>
              <a:pathLst>
                <a:path w="596265" h="1172527">
                  <a:moveTo>
                    <a:pt x="0" y="0"/>
                  </a:moveTo>
                  <a:lnTo>
                    <a:pt x="596265" y="1172527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5529262" y="1939290"/>
              <a:ext cx="2004060" cy="1298257"/>
            </a:xfrm>
            <a:custGeom>
              <a:avLst/>
              <a:gdLst/>
              <a:ahLst/>
              <a:cxnLst/>
              <a:rect l="l" t="t" r="r" b="b"/>
              <a:pathLst>
                <a:path w="2004060" h="1298257">
                  <a:moveTo>
                    <a:pt x="0" y="0"/>
                  </a:moveTo>
                  <a:lnTo>
                    <a:pt x="2004060" y="1298257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3828098" y="1353502"/>
              <a:ext cx="1701165" cy="585788"/>
            </a:xfrm>
            <a:custGeom>
              <a:avLst/>
              <a:gdLst/>
              <a:ahLst/>
              <a:cxnLst/>
              <a:rect l="l" t="t" r="r" b="b"/>
              <a:pathLst>
                <a:path w="1701165" h="585788">
                  <a:moveTo>
                    <a:pt x="1701165" y="58578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4831080" y="361950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802505" y="35909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3373755" y="41195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345180" y="409098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4315778" y="266700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4287202" y="26384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5220652" y="45177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5192078" y="448913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2301240" y="33956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2272665" y="336708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5981700" y="285845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5953125" y="282987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3591878" y="510825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3563302" y="507968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3048952" y="214979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3020378" y="212121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6669405" y="422433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6640830" y="419576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612582" y="433101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584008" y="430244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5434012" y="184404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5405438" y="181546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5109210" y="557688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080635" y="554831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1423035" y="254698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394460" y="2518410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7438072" y="314229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7409498" y="311372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2208848" y="550354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180272" y="547497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3685222" y="1210628"/>
              <a:ext cx="342900" cy="3429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3656648" y="1182052"/>
              <a:ext cx="342900" cy="34290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83820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07" name="hop"/>
          <p:cNvGrpSpPr/>
          <p:nvPr/>
        </p:nvGrpSpPr>
        <p:grpSpPr>
          <a:xfrm>
            <a:off x="8743950" y="1530350"/>
            <a:ext cx="3067050" cy="4464558"/>
            <a:chOff x="8743950" y="1530350"/>
            <a:chExt cx="3067050" cy="4464558"/>
          </a:xfrm>
        </p:grpSpPr>
        <p:sp>
          <p:nvSpPr>
            <p:cNvPr id="96" name="TextBox 96"/>
            <p:cNvSpPr txBox="1"/>
            <p:nvPr/>
          </p:nvSpPr>
          <p:spPr>
            <a:xfrm>
              <a:off x="8743950" y="1530350"/>
              <a:ext cx="205221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spc="-105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HOP 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792718" y="25590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鄰居再傳給它們的鄰居。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793480" y="3429000"/>
              <a:ext cx="19999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已收到：9 / 16 個節點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801100" y="3810000"/>
              <a:ext cx="3009900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829675" y="3838575"/>
              <a:ext cx="1657350" cy="2476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8801100" y="4829175"/>
              <a:ext cx="247650" cy="24765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156192" y="48545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起點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8801100" y="52673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156192" y="52927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已收到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8801100" y="57054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156192" y="5730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還沒收到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訊息如何傳開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68719" y="320675"/>
              <a:ext cx="594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GOSSIP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95" name="net"/>
          <p:cNvGrpSpPr/>
          <p:nvPr/>
        </p:nvGrpSpPr>
        <p:grpSpPr>
          <a:xfrm>
            <a:off x="1394460" y="685800"/>
            <a:ext cx="7016115" cy="6172200"/>
            <a:chOff x="1394460" y="685800"/>
            <a:chExt cx="7016115" cy="6172200"/>
          </a:xfrm>
        </p:grpSpPr>
        <p:sp>
          <p:nvSpPr>
            <p:cNvPr id="33" name="Line 33"/>
            <p:cNvSpPr/>
            <p:nvPr/>
          </p:nvSpPr>
          <p:spPr>
            <a:xfrm>
              <a:off x="3469005" y="3714750"/>
              <a:ext cx="1457325" cy="500062"/>
            </a:xfrm>
            <a:custGeom>
              <a:avLst/>
              <a:gdLst/>
              <a:ahLst/>
              <a:cxnLst/>
              <a:rect l="l" t="t" r="r" b="b"/>
              <a:pathLst>
                <a:path w="1457325" h="500062">
                  <a:moveTo>
                    <a:pt x="1457325" y="0"/>
                  </a:moveTo>
                  <a:lnTo>
                    <a:pt x="0" y="500062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411028" y="2762250"/>
              <a:ext cx="515303" cy="952500"/>
            </a:xfrm>
            <a:custGeom>
              <a:avLst/>
              <a:gdLst/>
              <a:ahLst/>
              <a:cxnLst/>
              <a:rect l="l" t="t" r="r" b="b"/>
              <a:pathLst>
                <a:path w="515303" h="952500">
                  <a:moveTo>
                    <a:pt x="515303" y="9525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926330" y="3714750"/>
              <a:ext cx="389572" cy="898208"/>
            </a:xfrm>
            <a:custGeom>
              <a:avLst/>
              <a:gdLst/>
              <a:ahLst/>
              <a:cxnLst/>
              <a:rect l="l" t="t" r="r" b="b"/>
              <a:pathLst>
                <a:path w="389572" h="898208">
                  <a:moveTo>
                    <a:pt x="0" y="0"/>
                  </a:moveTo>
                  <a:lnTo>
                    <a:pt x="389572" y="898208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926330" y="2953702"/>
              <a:ext cx="1150620" cy="761047"/>
            </a:xfrm>
            <a:custGeom>
              <a:avLst/>
              <a:gdLst/>
              <a:ahLst/>
              <a:cxnLst/>
              <a:rect l="l" t="t" r="r" b="b"/>
              <a:pathLst>
                <a:path w="1150620" h="761047">
                  <a:moveTo>
                    <a:pt x="0" y="761047"/>
                  </a:moveTo>
                  <a:lnTo>
                    <a:pt x="115062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926330" y="3714750"/>
              <a:ext cx="278130" cy="1957388"/>
            </a:xfrm>
            <a:custGeom>
              <a:avLst/>
              <a:gdLst/>
              <a:ahLst/>
              <a:cxnLst/>
              <a:rect l="l" t="t" r="r" b="b"/>
              <a:pathLst>
                <a:path w="278130" h="1957388">
                  <a:moveTo>
                    <a:pt x="0" y="0"/>
                  </a:moveTo>
                  <a:lnTo>
                    <a:pt x="278130" y="1957388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2396490" y="3490912"/>
              <a:ext cx="1072515" cy="723900"/>
            </a:xfrm>
            <a:custGeom>
              <a:avLst/>
              <a:gdLst/>
              <a:ahLst/>
              <a:cxnLst/>
              <a:rect l="l" t="t" r="r" b="b"/>
              <a:pathLst>
                <a:path w="1072515" h="723900">
                  <a:moveTo>
                    <a:pt x="1072515" y="7239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469005" y="4214812"/>
              <a:ext cx="218123" cy="988695"/>
            </a:xfrm>
            <a:custGeom>
              <a:avLst/>
              <a:gdLst/>
              <a:ahLst/>
              <a:cxnLst/>
              <a:rect l="l" t="t" r="r" b="b"/>
              <a:pathLst>
                <a:path w="218123" h="988695">
                  <a:moveTo>
                    <a:pt x="0" y="0"/>
                  </a:moveTo>
                  <a:lnTo>
                    <a:pt x="218123" y="988695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707832" y="4214812"/>
              <a:ext cx="1761172" cy="211455"/>
            </a:xfrm>
            <a:custGeom>
              <a:avLst/>
              <a:gdLst/>
              <a:ahLst/>
              <a:cxnLst/>
              <a:rect l="l" t="t" r="r" b="b"/>
              <a:pathLst>
                <a:path w="1761172" h="211455">
                  <a:moveTo>
                    <a:pt x="1761172" y="0"/>
                  </a:moveTo>
                  <a:lnTo>
                    <a:pt x="0" y="2114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2304098" y="4214812"/>
              <a:ext cx="1164907" cy="1383982"/>
            </a:xfrm>
            <a:custGeom>
              <a:avLst/>
              <a:gdLst/>
              <a:ahLst/>
              <a:cxnLst/>
              <a:rect l="l" t="t" r="r" b="b"/>
              <a:pathLst>
                <a:path w="1164907" h="1383982">
                  <a:moveTo>
                    <a:pt x="1164907" y="0"/>
                  </a:moveTo>
                  <a:lnTo>
                    <a:pt x="0" y="1383982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144202" y="2245042"/>
              <a:ext cx="1266825" cy="517208"/>
            </a:xfrm>
            <a:custGeom>
              <a:avLst/>
              <a:gdLst/>
              <a:ahLst/>
              <a:cxnLst/>
              <a:rect l="l" t="t" r="r" b="b"/>
              <a:pathLst>
                <a:path w="1266825" h="517208">
                  <a:moveTo>
                    <a:pt x="1266825" y="51720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411028" y="1939290"/>
              <a:ext cx="1118235" cy="822960"/>
            </a:xfrm>
            <a:custGeom>
              <a:avLst/>
              <a:gdLst/>
              <a:ahLst/>
              <a:cxnLst/>
              <a:rect l="l" t="t" r="r" b="b"/>
              <a:pathLst>
                <a:path w="1118235" h="822960">
                  <a:moveTo>
                    <a:pt x="0" y="822960"/>
                  </a:moveTo>
                  <a:lnTo>
                    <a:pt x="1118235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3828098" y="1353502"/>
              <a:ext cx="582930" cy="1408748"/>
            </a:xfrm>
            <a:custGeom>
              <a:avLst/>
              <a:gdLst/>
              <a:ahLst/>
              <a:cxnLst/>
              <a:rect l="l" t="t" r="r" b="b"/>
              <a:pathLst>
                <a:path w="582930" h="1408748">
                  <a:moveTo>
                    <a:pt x="582930" y="140874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315902" y="4319588"/>
              <a:ext cx="1448753" cy="293370"/>
            </a:xfrm>
            <a:custGeom>
              <a:avLst/>
              <a:gdLst/>
              <a:ahLst/>
              <a:cxnLst/>
              <a:rect l="l" t="t" r="r" b="b"/>
              <a:pathLst>
                <a:path w="1448753" h="293370">
                  <a:moveTo>
                    <a:pt x="0" y="293370"/>
                  </a:moveTo>
                  <a:lnTo>
                    <a:pt x="1448753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5204460" y="4612958"/>
              <a:ext cx="111443" cy="1059180"/>
            </a:xfrm>
            <a:custGeom>
              <a:avLst/>
              <a:gdLst/>
              <a:ahLst/>
              <a:cxnLst/>
              <a:rect l="l" t="t" r="r" b="b"/>
              <a:pathLst>
                <a:path w="111443" h="1059180">
                  <a:moveTo>
                    <a:pt x="111443" y="0"/>
                  </a:moveTo>
                  <a:lnTo>
                    <a:pt x="0" y="105918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396490" y="2245042"/>
              <a:ext cx="747713" cy="1245870"/>
            </a:xfrm>
            <a:custGeom>
              <a:avLst/>
              <a:gdLst/>
              <a:ahLst/>
              <a:cxnLst/>
              <a:rect l="l" t="t" r="r" b="b"/>
              <a:pathLst>
                <a:path w="747713" h="1245870">
                  <a:moveTo>
                    <a:pt x="0" y="1245870"/>
                  </a:moveTo>
                  <a:lnTo>
                    <a:pt x="747713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707832" y="3490912"/>
              <a:ext cx="688657" cy="935355"/>
            </a:xfrm>
            <a:custGeom>
              <a:avLst/>
              <a:gdLst/>
              <a:ahLst/>
              <a:cxnLst/>
              <a:rect l="l" t="t" r="r" b="b"/>
              <a:pathLst>
                <a:path w="688657" h="935355">
                  <a:moveTo>
                    <a:pt x="688657" y="0"/>
                  </a:moveTo>
                  <a:lnTo>
                    <a:pt x="0" y="935355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1518285" y="2642235"/>
              <a:ext cx="878205" cy="848678"/>
            </a:xfrm>
            <a:custGeom>
              <a:avLst/>
              <a:gdLst/>
              <a:ahLst/>
              <a:cxnLst/>
              <a:rect l="l" t="t" r="r" b="b"/>
              <a:pathLst>
                <a:path w="878205" h="848678">
                  <a:moveTo>
                    <a:pt x="878205" y="84867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076950" y="2953702"/>
              <a:ext cx="687705" cy="1365885"/>
            </a:xfrm>
            <a:custGeom>
              <a:avLst/>
              <a:gdLst/>
              <a:ahLst/>
              <a:cxnLst/>
              <a:rect l="l" t="t" r="r" b="b"/>
              <a:pathLst>
                <a:path w="687705" h="1365885">
                  <a:moveTo>
                    <a:pt x="0" y="0"/>
                  </a:moveTo>
                  <a:lnTo>
                    <a:pt x="687705" y="1365885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5529262" y="1939290"/>
              <a:ext cx="547688" cy="1014413"/>
            </a:xfrm>
            <a:custGeom>
              <a:avLst/>
              <a:gdLst/>
              <a:ahLst/>
              <a:cxnLst/>
              <a:rect l="l" t="t" r="r" b="b"/>
              <a:pathLst>
                <a:path w="547688" h="1014413">
                  <a:moveTo>
                    <a:pt x="547688" y="101441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076950" y="2953702"/>
              <a:ext cx="1456372" cy="283845"/>
            </a:xfrm>
            <a:custGeom>
              <a:avLst/>
              <a:gdLst/>
              <a:ahLst/>
              <a:cxnLst/>
              <a:rect l="l" t="t" r="r" b="b"/>
              <a:pathLst>
                <a:path w="1456372" h="283845">
                  <a:moveTo>
                    <a:pt x="0" y="0"/>
                  </a:moveTo>
                  <a:lnTo>
                    <a:pt x="1456372" y="28384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3687128" y="5203508"/>
              <a:ext cx="1517332" cy="468630"/>
            </a:xfrm>
            <a:custGeom>
              <a:avLst/>
              <a:gdLst/>
              <a:ahLst/>
              <a:cxnLst/>
              <a:rect l="l" t="t" r="r" b="b"/>
              <a:pathLst>
                <a:path w="1517332" h="468630">
                  <a:moveTo>
                    <a:pt x="0" y="0"/>
                  </a:moveTo>
                  <a:lnTo>
                    <a:pt x="1517332" y="46863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2304098" y="5203508"/>
              <a:ext cx="1383030" cy="395288"/>
            </a:xfrm>
            <a:custGeom>
              <a:avLst/>
              <a:gdLst/>
              <a:ahLst/>
              <a:cxnLst/>
              <a:rect l="l" t="t" r="r" b="b"/>
              <a:pathLst>
                <a:path w="1383030" h="395288">
                  <a:moveTo>
                    <a:pt x="1383030" y="0"/>
                  </a:moveTo>
                  <a:lnTo>
                    <a:pt x="0" y="39528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1518285" y="2245042"/>
              <a:ext cx="1625918" cy="397192"/>
            </a:xfrm>
            <a:custGeom>
              <a:avLst/>
              <a:gdLst/>
              <a:ahLst/>
              <a:cxnLst/>
              <a:rect l="l" t="t" r="r" b="b"/>
              <a:pathLst>
                <a:path w="1625918" h="397192">
                  <a:moveTo>
                    <a:pt x="1625918" y="0"/>
                  </a:moveTo>
                  <a:lnTo>
                    <a:pt x="0" y="397192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3144202" y="1353502"/>
              <a:ext cx="683895" cy="891540"/>
            </a:xfrm>
            <a:custGeom>
              <a:avLst/>
              <a:gdLst/>
              <a:ahLst/>
              <a:cxnLst/>
              <a:rect l="l" t="t" r="r" b="b"/>
              <a:pathLst>
                <a:path w="683895" h="891540">
                  <a:moveTo>
                    <a:pt x="0" y="891540"/>
                  </a:moveTo>
                  <a:lnTo>
                    <a:pt x="683895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764655" y="3237548"/>
              <a:ext cx="768667" cy="1082040"/>
            </a:xfrm>
            <a:custGeom>
              <a:avLst/>
              <a:gdLst/>
              <a:ahLst/>
              <a:cxnLst/>
              <a:rect l="l" t="t" r="r" b="b"/>
              <a:pathLst>
                <a:path w="768667" h="1082040">
                  <a:moveTo>
                    <a:pt x="0" y="1082040"/>
                  </a:moveTo>
                  <a:lnTo>
                    <a:pt x="768667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18285" y="2642235"/>
              <a:ext cx="189548" cy="1784032"/>
            </a:xfrm>
            <a:custGeom>
              <a:avLst/>
              <a:gdLst/>
              <a:ahLst/>
              <a:cxnLst/>
              <a:rect l="l" t="t" r="r" b="b"/>
              <a:pathLst>
                <a:path w="189548" h="1784032">
                  <a:moveTo>
                    <a:pt x="189548" y="178403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707832" y="4426268"/>
              <a:ext cx="596265" cy="1172527"/>
            </a:xfrm>
            <a:custGeom>
              <a:avLst/>
              <a:gdLst/>
              <a:ahLst/>
              <a:cxnLst/>
              <a:rect l="l" t="t" r="r" b="b"/>
              <a:pathLst>
                <a:path w="596265" h="1172527">
                  <a:moveTo>
                    <a:pt x="0" y="0"/>
                  </a:moveTo>
                  <a:lnTo>
                    <a:pt x="596265" y="1172527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5529262" y="1939290"/>
              <a:ext cx="2004060" cy="1298257"/>
            </a:xfrm>
            <a:custGeom>
              <a:avLst/>
              <a:gdLst/>
              <a:ahLst/>
              <a:cxnLst/>
              <a:rect l="l" t="t" r="r" b="b"/>
              <a:pathLst>
                <a:path w="2004060" h="1298257">
                  <a:moveTo>
                    <a:pt x="0" y="0"/>
                  </a:moveTo>
                  <a:lnTo>
                    <a:pt x="2004060" y="1298257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3828098" y="1353502"/>
              <a:ext cx="1701165" cy="585788"/>
            </a:xfrm>
            <a:custGeom>
              <a:avLst/>
              <a:gdLst/>
              <a:ahLst/>
              <a:cxnLst/>
              <a:rect l="l" t="t" r="r" b="b"/>
              <a:pathLst>
                <a:path w="1701165" h="585788">
                  <a:moveTo>
                    <a:pt x="1701165" y="58578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4831080" y="361950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802505" y="35909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3373755" y="41195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345180" y="409098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4315778" y="266700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4287202" y="26384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5220652" y="45177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5192078" y="448913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2301240" y="33956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2272665" y="336708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5981700" y="285845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5953125" y="282987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3591878" y="510825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3563302" y="507968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3048952" y="214979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3020378" y="2121218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6669405" y="422433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6640830" y="419576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612582" y="433101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584008" y="430244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5434012" y="184404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5405438" y="181546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5109210" y="557688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080635" y="554831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1423035" y="254698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394460" y="2518410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7438072" y="314229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7409498" y="311372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2208848" y="550354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180272" y="5474970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3685222" y="1210628"/>
              <a:ext cx="342900" cy="3429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3656648" y="1182052"/>
              <a:ext cx="342900" cy="34290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83820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07" name="hop"/>
          <p:cNvGrpSpPr/>
          <p:nvPr/>
        </p:nvGrpSpPr>
        <p:grpSpPr>
          <a:xfrm>
            <a:off x="8743950" y="1530350"/>
            <a:ext cx="3067050" cy="4464558"/>
            <a:chOff x="8743950" y="1530350"/>
            <a:chExt cx="3067050" cy="4464558"/>
          </a:xfrm>
        </p:grpSpPr>
        <p:sp>
          <p:nvSpPr>
            <p:cNvPr id="96" name="TextBox 96"/>
            <p:cNvSpPr txBox="1"/>
            <p:nvPr/>
          </p:nvSpPr>
          <p:spPr>
            <a:xfrm>
              <a:off x="8743950" y="1530350"/>
              <a:ext cx="205221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spc="-105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HOP 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792718" y="25590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幾跳之內，全網都收到了。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793480" y="3429000"/>
              <a:ext cx="210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已收到：16 / 16 個節點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801100" y="3810000"/>
              <a:ext cx="3009900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829675" y="3838575"/>
              <a:ext cx="2952750" cy="2476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8801100" y="4829175"/>
              <a:ext cx="247650" cy="24765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156192" y="48545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起點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8801100" y="526732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156192" y="52927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已收到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8801100" y="57054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156192" y="5730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還沒收到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交易的五個關卡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64" name="steps"/>
          <p:cNvGrpSpPr/>
          <p:nvPr/>
        </p:nvGrpSpPr>
        <p:grpSpPr>
          <a:xfrm>
            <a:off x="0" y="685800"/>
            <a:ext cx="12192000" cy="4191000"/>
            <a:chOff x="0" y="685800"/>
            <a:chExt cx="12192000" cy="4191000"/>
          </a:xfrm>
        </p:grpSpPr>
        <p:sp>
          <p:nvSpPr>
            <p:cNvPr id="32" name="Rectangle 32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0" y="4848225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0" y="714375"/>
              <a:ext cx="2438400" cy="41338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95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9C9C9C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71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簽署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1742" y="2514600"/>
              <a:ext cx="1042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用私鑰簽名，</a:t>
              </a:r>
              <a:b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證明是本人。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66975" y="714375"/>
              <a:ext cx="2409825" cy="41338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6479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9C9C9C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555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廣播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60142" y="2514600"/>
              <a:ext cx="870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送進節點的</a:t>
              </a:r>
              <a:b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交易池。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438400" y="685800"/>
              <a:ext cx="28575" cy="419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352675" y="857250"/>
              <a:ext cx="200025" cy="2000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408199" y="8699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905375" y="714375"/>
              <a:ext cx="2409825" cy="413385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0863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9C9C9C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39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驗證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98542" y="2514600"/>
              <a:ext cx="1042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節點檢查簽名</a:t>
              </a:r>
              <a:b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與餘額。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76800" y="685800"/>
              <a:ext cx="28575" cy="419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791075" y="857250"/>
              <a:ext cx="200025" cy="2000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6599" y="8699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247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BDBDBD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23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打包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36942" y="2514600"/>
              <a:ext cx="1042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被選進下一個</a:t>
              </a:r>
              <a:b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區塊。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15200" y="685800"/>
              <a:ext cx="28575" cy="419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29475" y="857250"/>
              <a:ext cx="200025" cy="2000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84999" y="8699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631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BDBDBD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707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確認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5342" y="2514600"/>
              <a:ext cx="1213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後面接上更多</a:t>
              </a:r>
              <a:b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區塊就不可逆。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753600" y="685800"/>
              <a:ext cx="28575" cy="419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667875" y="857250"/>
              <a:ext cx="200025" cy="2000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23399" y="8699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70" name="status"/>
          <p:cNvGrpSpPr/>
          <p:nvPr/>
        </p:nvGrpSpPr>
        <p:grpSpPr>
          <a:xfrm>
            <a:off x="371856" y="5372100"/>
            <a:ext cx="11439144" cy="1143000"/>
            <a:chOff x="371856" y="5372100"/>
            <a:chExt cx="11439144" cy="1143000"/>
          </a:xfrm>
        </p:grpSpPr>
        <p:sp>
          <p:nvSpPr>
            <p:cNvPr id="65" name="TextBox 65"/>
            <p:cNvSpPr txBox="1"/>
            <p:nvPr/>
          </p:nvSpPr>
          <p:spPr>
            <a:xfrm>
              <a:off x="374904" y="5372100"/>
              <a:ext cx="716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98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STATUS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71856" y="5727700"/>
              <a:ext cx="4653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目前在第 3 關：節點正在驗證簽名與餘額。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81000" y="6191250"/>
              <a:ext cx="11430000" cy="323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409575" y="6219825"/>
              <a:ext cx="6819900" cy="26670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89966" y="6283325"/>
              <a:ext cx="295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誰在維護這本帳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28981" y="320675"/>
              <a:ext cx="1134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ILLUSTRATIVE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36" name="chart"/>
          <p:cNvGrpSpPr/>
          <p:nvPr/>
        </p:nvGrpSpPr>
        <p:grpSpPr>
          <a:xfrm>
            <a:off x="1000125" y="685800"/>
            <a:ext cx="5124450" cy="6172200"/>
            <a:chOff x="1000125" y="685800"/>
            <a:chExt cx="5124450" cy="6172200"/>
          </a:xfrm>
        </p:grpSpPr>
        <p:graphicFrame>
          <p:nvGraphicFramePr>
            <p:cNvPr id="33" name="p10-node-mix"/>
            <p:cNvGraphicFramePr>
              <a:graphicFrameLocks noGrp="1"/>
            </p:cNvGraphicFramePr>
            <p:nvPr/>
          </p:nvGraphicFramePr>
          <p:xfrm>
            <a:off x="1000125" y="1714500"/>
            <a:ext cx="4095750" cy="409575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34" name="TextBox 34"/>
            <p:cNvSpPr txBox="1"/>
            <p:nvPr/>
          </p:nvSpPr>
          <p:spPr>
            <a:xfrm>
              <a:off x="2444430" y="3397250"/>
              <a:ext cx="120714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800" spc="-98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45%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55" name="legend"/>
          <p:cNvGrpSpPr/>
          <p:nvPr/>
        </p:nvGrpSpPr>
        <p:grpSpPr>
          <a:xfrm>
            <a:off x="6124575" y="841375"/>
            <a:ext cx="6067425" cy="4159250"/>
            <a:chOff x="6124575" y="841375"/>
            <a:chExt cx="6067425" cy="4159250"/>
          </a:xfrm>
        </p:grpSpPr>
        <p:sp>
          <p:nvSpPr>
            <p:cNvPr id="37" name="Rectangle 37"/>
            <p:cNvSpPr/>
            <p:nvPr/>
          </p:nvSpPr>
          <p:spPr>
            <a:xfrm>
              <a:off x="6124575" y="2114550"/>
              <a:ext cx="60674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53175" y="942975"/>
              <a:ext cx="247650" cy="247650"/>
            </a:xfrm>
            <a:prstGeom prst="rect">
              <a:avLst/>
            </a:prstGeom>
            <a:solidFill>
              <a:srgbClr val="0A0A0A"/>
            </a:solidFill>
            <a:ln w="28575">
              <a:solidFill>
                <a:srgbClr val="0A0A0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44843" y="94932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全節點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17173" y="841375"/>
              <a:ext cx="7614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000" spc="-6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45%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53175" y="1304925"/>
              <a:ext cx="3971925" cy="171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81750" y="1333500"/>
              <a:ext cx="1762125" cy="1143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24575" y="3543300"/>
              <a:ext cx="60674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53175" y="2371725"/>
              <a:ext cx="247650" cy="247650"/>
            </a:xfrm>
            <a:prstGeom prst="rect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44843" y="23780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輕節點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17173" y="2270125"/>
              <a:ext cx="7614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000" spc="-6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30%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53175" y="2733675"/>
              <a:ext cx="3971925" cy="171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81750" y="2762250"/>
              <a:ext cx="1171575" cy="11430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24575" y="4972050"/>
              <a:ext cx="60674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353175" y="3800475"/>
              <a:ext cx="247650" cy="24765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4843" y="380682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驗證者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17173" y="3698875"/>
              <a:ext cx="7614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000" spc="-6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25%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53175" y="4162425"/>
              <a:ext cx="3971925" cy="171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81750" y="4191000"/>
              <a:ext cx="981075" cy="11430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6124575" y="5000625"/>
            <a:ext cx="6067425" cy="1857375"/>
            <a:chOff x="6124575" y="5000625"/>
            <a:chExt cx="6067425" cy="1857375"/>
          </a:xfrm>
        </p:grpSpPr>
        <p:sp>
          <p:nvSpPr>
            <p:cNvPr id="56" name="Rectangle 56"/>
            <p:cNvSpPr/>
            <p:nvPr/>
          </p:nvSpPr>
          <p:spPr>
            <a:xfrm>
              <a:off x="6124575" y="5000625"/>
              <a:ext cx="6067425" cy="18573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70904" y="5562600"/>
              <a:ext cx="1046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98" dirty="0">
                  <a:solidFill>
                    <a:srgbClr val="F2D4CF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7856" y="5975350"/>
              <a:ext cx="4829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近一半是全節點：帳本有很多份完整備份。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重點標註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52384" y="320675"/>
              <a:ext cx="11112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TEXT EFFECTS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36" name="fx-1"/>
          <p:cNvGrpSpPr/>
          <p:nvPr/>
        </p:nvGrpSpPr>
        <p:grpSpPr>
          <a:xfrm>
            <a:off x="361950" y="1409700"/>
            <a:ext cx="7167753" cy="790575"/>
            <a:chOff x="361950" y="1409700"/>
            <a:chExt cx="7167753" cy="790575"/>
          </a:xfrm>
        </p:grpSpPr>
        <p:sp>
          <p:nvSpPr>
            <p:cNvPr id="33" name="Polygon 33"/>
            <p:cNvSpPr/>
            <p:nvPr/>
          </p:nvSpPr>
          <p:spPr>
            <a:xfrm>
              <a:off x="1866900" y="1483042"/>
              <a:ext cx="3219450" cy="529590"/>
            </a:xfrm>
            <a:custGeom>
              <a:avLst/>
              <a:gdLst/>
              <a:ahLst/>
              <a:cxnLst/>
              <a:rect l="l" t="t" r="r" b="b"/>
              <a:pathLst>
                <a:path w="3219450" h="529590">
                  <a:moveTo>
                    <a:pt x="0" y="0"/>
                  </a:moveTo>
                  <a:lnTo>
                    <a:pt x="3200400" y="40958"/>
                  </a:lnTo>
                  <a:lnTo>
                    <a:pt x="3219450" y="529590"/>
                  </a:lnTo>
                  <a:lnTo>
                    <a:pt x="19050" y="501015"/>
                  </a:lnTo>
                  <a:close/>
                </a:path>
              </a:pathLst>
            </a:custGeom>
            <a:solidFill>
              <a:srgbClr val="F2D4C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1950" y="1409700"/>
              <a:ext cx="494499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區塊鏈不只是資料庫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74610" y="1701800"/>
              <a:ext cx="8550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HIGHLIGHT</a:t>
              </a:r>
            </a:p>
          </p:txBody>
        </p:sp>
      </p:grpSp>
      <p:grpSp>
        <p:nvGrpSpPr>
          <p:cNvPr id="41" name="fx-2"/>
          <p:cNvGrpSpPr/>
          <p:nvPr/>
        </p:nvGrpSpPr>
        <p:grpSpPr>
          <a:xfrm>
            <a:off x="361950" y="2552700"/>
            <a:ext cx="7167753" cy="790575"/>
            <a:chOff x="361950" y="2552700"/>
            <a:chExt cx="7167753" cy="790575"/>
          </a:xfrm>
        </p:grpSpPr>
        <p:sp>
          <p:nvSpPr>
            <p:cNvPr id="37" name="TextBox 37"/>
            <p:cNvSpPr txBox="1"/>
            <p:nvPr/>
          </p:nvSpPr>
          <p:spPr>
            <a:xfrm>
              <a:off x="361950" y="2552700"/>
              <a:ext cx="385457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靠共識決定誰對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98208" y="3145155"/>
              <a:ext cx="1080135" cy="19050"/>
            </a:xfrm>
            <a:custGeom>
              <a:avLst/>
              <a:gdLst/>
              <a:ahLst/>
              <a:cxnLst/>
              <a:rect l="l" t="t" r="r" b="b"/>
              <a:pathLst>
                <a:path w="1080135" h="19050">
                  <a:moveTo>
                    <a:pt x="0" y="19050"/>
                  </a:moveTo>
                  <a:lnTo>
                    <a:pt x="490538" y="6667"/>
                  </a:lnTo>
                  <a:lnTo>
                    <a:pt x="1080135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39" name="Freeform 39"/>
            <p:cNvSpPr/>
            <p:nvPr/>
          </p:nvSpPr>
          <p:spPr>
            <a:xfrm>
              <a:off x="883920" y="3117532"/>
              <a:ext cx="1082040" cy="59055"/>
            </a:xfrm>
            <a:custGeom>
              <a:avLst/>
              <a:gdLst/>
              <a:ahLst/>
              <a:cxnLst/>
              <a:rect l="l" t="t" r="r" b="b"/>
              <a:pathLst>
                <a:path w="1082040" h="59055">
                  <a:moveTo>
                    <a:pt x="0" y="16192"/>
                  </a:moveTo>
                  <a:lnTo>
                    <a:pt x="530542" y="59055"/>
                  </a:lnTo>
                  <a:lnTo>
                    <a:pt x="1082040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5833" y="2844800"/>
              <a:ext cx="8738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UNDERLINE</a:t>
              </a:r>
            </a:p>
          </p:txBody>
        </p:sp>
      </p:grpSp>
      <p:grpSp>
        <p:nvGrpSpPr>
          <p:cNvPr id="46" name="fx-3"/>
          <p:cNvGrpSpPr/>
          <p:nvPr/>
        </p:nvGrpSpPr>
        <p:grpSpPr>
          <a:xfrm>
            <a:off x="361950" y="3564255"/>
            <a:ext cx="7167753" cy="922020"/>
            <a:chOff x="361950" y="3564255"/>
            <a:chExt cx="7167753" cy="922020"/>
          </a:xfrm>
        </p:grpSpPr>
        <p:sp>
          <p:nvSpPr>
            <p:cNvPr id="42" name="TextBox 42"/>
            <p:cNvSpPr txBox="1"/>
            <p:nvPr/>
          </p:nvSpPr>
          <p:spPr>
            <a:xfrm>
              <a:off x="361950" y="3695700"/>
              <a:ext cx="439978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寫進去就不可竄改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256472" y="3564255"/>
              <a:ext cx="2444115" cy="886778"/>
            </a:xfrm>
            <a:custGeom>
              <a:avLst/>
              <a:gdLst/>
              <a:ahLst/>
              <a:cxnLst/>
              <a:rect l="l" t="t" r="r" b="b"/>
              <a:pathLst>
                <a:path w="2444115" h="886778">
                  <a:moveTo>
                    <a:pt x="2420302" y="447675"/>
                  </a:moveTo>
                  <a:lnTo>
                    <a:pt x="2424112" y="547688"/>
                  </a:lnTo>
                  <a:lnTo>
                    <a:pt x="2356485" y="619125"/>
                  </a:lnTo>
                  <a:lnTo>
                    <a:pt x="2179320" y="731520"/>
                  </a:lnTo>
                  <a:lnTo>
                    <a:pt x="1974532" y="778192"/>
                  </a:lnTo>
                  <a:lnTo>
                    <a:pt x="1753552" y="839153"/>
                  </a:lnTo>
                  <a:lnTo>
                    <a:pt x="1485900" y="872490"/>
                  </a:lnTo>
                  <a:lnTo>
                    <a:pt x="1216343" y="870585"/>
                  </a:lnTo>
                  <a:lnTo>
                    <a:pt x="952500" y="886778"/>
                  </a:lnTo>
                  <a:lnTo>
                    <a:pt x="686752" y="849630"/>
                  </a:lnTo>
                  <a:lnTo>
                    <a:pt x="443865" y="771525"/>
                  </a:lnTo>
                  <a:lnTo>
                    <a:pt x="233362" y="721995"/>
                  </a:lnTo>
                  <a:lnTo>
                    <a:pt x="61912" y="618173"/>
                  </a:lnTo>
                  <a:lnTo>
                    <a:pt x="6667" y="541973"/>
                  </a:lnTo>
                  <a:lnTo>
                    <a:pt x="0" y="460058"/>
                  </a:lnTo>
                  <a:lnTo>
                    <a:pt x="60007" y="363855"/>
                  </a:lnTo>
                  <a:lnTo>
                    <a:pt x="151448" y="266700"/>
                  </a:lnTo>
                  <a:lnTo>
                    <a:pt x="289560" y="189548"/>
                  </a:lnTo>
                  <a:lnTo>
                    <a:pt x="478155" y="87630"/>
                  </a:lnTo>
                  <a:lnTo>
                    <a:pt x="662940" y="40005"/>
                  </a:lnTo>
                  <a:lnTo>
                    <a:pt x="948690" y="16192"/>
                  </a:lnTo>
                  <a:lnTo>
                    <a:pt x="1215390" y="0"/>
                  </a:lnTo>
                  <a:lnTo>
                    <a:pt x="1490662" y="14288"/>
                  </a:lnTo>
                  <a:lnTo>
                    <a:pt x="1738312" y="54292"/>
                  </a:lnTo>
                  <a:lnTo>
                    <a:pt x="1961198" y="119062"/>
                  </a:lnTo>
                  <a:lnTo>
                    <a:pt x="2136458" y="188595"/>
                  </a:lnTo>
                  <a:lnTo>
                    <a:pt x="2280285" y="274320"/>
                  </a:lnTo>
                  <a:lnTo>
                    <a:pt x="2376487" y="335280"/>
                  </a:lnTo>
                  <a:lnTo>
                    <a:pt x="2443162" y="463867"/>
                  </a:lnTo>
                  <a:lnTo>
                    <a:pt x="2444115" y="545783"/>
                  </a:lnTo>
                  <a:lnTo>
                    <a:pt x="2360295" y="624840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37422" y="3571875"/>
              <a:ext cx="2461260" cy="859155"/>
            </a:xfrm>
            <a:custGeom>
              <a:avLst/>
              <a:gdLst/>
              <a:ahLst/>
              <a:cxnLst/>
              <a:rect l="l" t="t" r="r" b="b"/>
              <a:pathLst>
                <a:path w="2461260" h="859155">
                  <a:moveTo>
                    <a:pt x="2461260" y="441008"/>
                  </a:moveTo>
                  <a:lnTo>
                    <a:pt x="2439352" y="519112"/>
                  </a:lnTo>
                  <a:lnTo>
                    <a:pt x="2384108" y="646747"/>
                  </a:lnTo>
                  <a:lnTo>
                    <a:pt x="2201228" y="722947"/>
                  </a:lnTo>
                  <a:lnTo>
                    <a:pt x="1999298" y="767715"/>
                  </a:lnTo>
                  <a:lnTo>
                    <a:pt x="1745932" y="842962"/>
                  </a:lnTo>
                  <a:lnTo>
                    <a:pt x="1506855" y="847725"/>
                  </a:lnTo>
                  <a:lnTo>
                    <a:pt x="1234440" y="859155"/>
                  </a:lnTo>
                  <a:lnTo>
                    <a:pt x="975360" y="859155"/>
                  </a:lnTo>
                  <a:lnTo>
                    <a:pt x="720090" y="851535"/>
                  </a:lnTo>
                  <a:lnTo>
                    <a:pt x="456248" y="800100"/>
                  </a:lnTo>
                  <a:lnTo>
                    <a:pt x="235268" y="695325"/>
                  </a:lnTo>
                  <a:lnTo>
                    <a:pt x="92392" y="610553"/>
                  </a:lnTo>
                  <a:lnTo>
                    <a:pt x="0" y="532447"/>
                  </a:lnTo>
                  <a:lnTo>
                    <a:pt x="14288" y="424815"/>
                  </a:lnTo>
                  <a:lnTo>
                    <a:pt x="53340" y="354330"/>
                  </a:lnTo>
                  <a:lnTo>
                    <a:pt x="166688" y="265747"/>
                  </a:lnTo>
                  <a:lnTo>
                    <a:pt x="325755" y="160020"/>
                  </a:lnTo>
                  <a:lnTo>
                    <a:pt x="481012" y="96203"/>
                  </a:lnTo>
                  <a:lnTo>
                    <a:pt x="701040" y="46672"/>
                  </a:lnTo>
                  <a:lnTo>
                    <a:pt x="952500" y="15240"/>
                  </a:lnTo>
                  <a:lnTo>
                    <a:pt x="1246822" y="0"/>
                  </a:lnTo>
                  <a:lnTo>
                    <a:pt x="1506855" y="19050"/>
                  </a:lnTo>
                  <a:lnTo>
                    <a:pt x="1753552" y="36195"/>
                  </a:lnTo>
                  <a:lnTo>
                    <a:pt x="1994535" y="96203"/>
                  </a:lnTo>
                  <a:lnTo>
                    <a:pt x="2150745" y="146685"/>
                  </a:lnTo>
                  <a:lnTo>
                    <a:pt x="2282190" y="251460"/>
                  </a:lnTo>
                  <a:lnTo>
                    <a:pt x="2370772" y="344805"/>
                  </a:lnTo>
                  <a:lnTo>
                    <a:pt x="2453640" y="421005"/>
                  </a:lnTo>
                  <a:lnTo>
                    <a:pt x="2452688" y="534353"/>
                  </a:lnTo>
                  <a:lnTo>
                    <a:pt x="2377440" y="622935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11875" y="3987800"/>
              <a:ext cx="517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CIRCLE</a:t>
              </a:r>
            </a:p>
          </p:txBody>
        </p:sp>
      </p:grpSp>
      <p:grpSp>
        <p:nvGrpSpPr>
          <p:cNvPr id="51" name="fx-4"/>
          <p:cNvGrpSpPr/>
          <p:nvPr/>
        </p:nvGrpSpPr>
        <p:grpSpPr>
          <a:xfrm>
            <a:off x="361950" y="4838700"/>
            <a:ext cx="7167753" cy="790575"/>
            <a:chOff x="361950" y="4838700"/>
            <a:chExt cx="7167753" cy="790575"/>
          </a:xfrm>
        </p:grpSpPr>
        <p:sp>
          <p:nvSpPr>
            <p:cNvPr id="47" name="TextBox 47"/>
            <p:cNvSpPr txBox="1"/>
            <p:nvPr/>
          </p:nvSpPr>
          <p:spPr>
            <a:xfrm>
              <a:off x="361950" y="4838700"/>
              <a:ext cx="603542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信任銀行，不如信任數學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377315" y="5171122"/>
              <a:ext cx="1113472" cy="28575"/>
            </a:xfrm>
            <a:custGeom>
              <a:avLst/>
              <a:gdLst/>
              <a:ahLst/>
              <a:cxnLst/>
              <a:rect l="l" t="t" r="r" b="b"/>
              <a:pathLst>
                <a:path w="1113472" h="28575">
                  <a:moveTo>
                    <a:pt x="0" y="28575"/>
                  </a:moveTo>
                  <a:lnTo>
                    <a:pt x="1113472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49" name="Freeform 49"/>
            <p:cNvSpPr/>
            <p:nvPr/>
          </p:nvSpPr>
          <p:spPr>
            <a:xfrm>
              <a:off x="1383030" y="5148262"/>
              <a:ext cx="1070610" cy="60007"/>
            </a:xfrm>
            <a:custGeom>
              <a:avLst/>
              <a:gdLst/>
              <a:ahLst/>
              <a:cxnLst/>
              <a:rect l="l" t="t" r="r" b="b"/>
              <a:pathLst>
                <a:path w="1070610" h="60007">
                  <a:moveTo>
                    <a:pt x="0" y="60007"/>
                  </a:moveTo>
                  <a:lnTo>
                    <a:pt x="1070610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06843" y="5130800"/>
              <a:ext cx="522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STRIKE</a:t>
              </a:r>
            </a:p>
          </p:txBody>
        </p:sp>
      </p:grpSp>
      <p:grpSp>
        <p:nvGrpSpPr>
          <p:cNvPr id="65" name="hash"/>
          <p:cNvGrpSpPr/>
          <p:nvPr/>
        </p:nvGrpSpPr>
        <p:grpSpPr>
          <a:xfrm>
            <a:off x="7810500" y="685800"/>
            <a:ext cx="4381500" cy="6172200"/>
            <a:chOff x="7810500" y="685800"/>
            <a:chExt cx="4381500" cy="6172200"/>
          </a:xfrm>
        </p:grpSpPr>
        <p:sp>
          <p:nvSpPr>
            <p:cNvPr id="52" name="Rectangle 52"/>
            <p:cNvSpPr/>
            <p:nvPr/>
          </p:nvSpPr>
          <p:spPr>
            <a:xfrm>
              <a:off x="78105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39075" y="714375"/>
              <a:ext cx="4352925" cy="31432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86547" y="1111250"/>
              <a:ext cx="4316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72450" y="1682750"/>
              <a:ext cx="234010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可驗證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23504" y="2641600"/>
              <a:ext cx="2855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 xml:space="preserve">sha256 → </a:t>
              </a:r>
              <a:r>
                <a:rPr lang="en-US" sz="120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0x02712957ed…be6c158ca9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0" y="3829050"/>
              <a:ext cx="43815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86547" y="4254500"/>
              <a:ext cx="3679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TYPE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78546" y="5029200"/>
              <a:ext cx="19139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verify tx3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210800" y="5076825"/>
              <a:ext cx="161925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86547" y="5969000"/>
              <a:ext cx="3176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BOX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8941118" y="5810250"/>
              <a:ext cx="1341120" cy="471488"/>
            </a:xfrm>
            <a:custGeom>
              <a:avLst/>
              <a:gdLst/>
              <a:ahLst/>
              <a:cxnLst/>
              <a:rect l="l" t="t" r="r" b="b"/>
              <a:pathLst>
                <a:path w="1341120" h="471488">
                  <a:moveTo>
                    <a:pt x="0" y="0"/>
                  </a:moveTo>
                  <a:lnTo>
                    <a:pt x="1341120" y="2857"/>
                  </a:lnTo>
                  <a:lnTo>
                    <a:pt x="1324927" y="452438"/>
                  </a:lnTo>
                  <a:lnTo>
                    <a:pt x="32385" y="471488"/>
                  </a:lnTo>
                  <a:lnTo>
                    <a:pt x="24765" y="5715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63" name="Freeform 63"/>
            <p:cNvSpPr/>
            <p:nvPr/>
          </p:nvSpPr>
          <p:spPr>
            <a:xfrm>
              <a:off x="8955405" y="5810250"/>
              <a:ext cx="1318260" cy="477203"/>
            </a:xfrm>
            <a:custGeom>
              <a:avLst/>
              <a:gdLst/>
              <a:ahLst/>
              <a:cxnLst/>
              <a:rect l="l" t="t" r="r" b="b"/>
              <a:pathLst>
                <a:path w="1318260" h="477203">
                  <a:moveTo>
                    <a:pt x="0" y="8572"/>
                  </a:moveTo>
                  <a:lnTo>
                    <a:pt x="1316355" y="0"/>
                  </a:lnTo>
                  <a:lnTo>
                    <a:pt x="1318260" y="477203"/>
                  </a:lnTo>
                  <a:lnTo>
                    <a:pt x="13335" y="471488"/>
                  </a:lnTo>
                  <a:lnTo>
                    <a:pt x="12382" y="4762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16568" y="59213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已確認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一筆交易長什麼樣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35" name="pt-1"/>
          <p:cNvGrpSpPr/>
          <p:nvPr/>
        </p:nvGrpSpPr>
        <p:grpSpPr>
          <a:xfrm>
            <a:off x="0" y="1311275"/>
            <a:ext cx="5715000" cy="1450975"/>
            <a:chOff x="0" y="1311275"/>
            <a:chExt cx="5715000" cy="1450975"/>
          </a:xfrm>
        </p:grpSpPr>
        <p:sp>
          <p:nvSpPr>
            <p:cNvPr id="32" name="Rectangle 32"/>
            <p:cNvSpPr/>
            <p:nvPr/>
          </p:nvSpPr>
          <p:spPr>
            <a:xfrm>
              <a:off x="0" y="2733675"/>
              <a:ext cx="5715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9570" y="1311275"/>
              <a:ext cx="11900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 誰付錢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6280" y="1857375"/>
              <a:ext cx="3469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from：發送方地址，由私鑰簽名證明。</a:t>
              </a:r>
            </a:p>
          </p:txBody>
        </p:sp>
      </p:grpSp>
      <p:grpSp>
        <p:nvGrpSpPr>
          <p:cNvPr id="39" name="pt-2"/>
          <p:cNvGrpSpPr/>
          <p:nvPr/>
        </p:nvGrpSpPr>
        <p:grpSpPr>
          <a:xfrm>
            <a:off x="0" y="3359150"/>
            <a:ext cx="5715000" cy="1450975"/>
            <a:chOff x="0" y="3359150"/>
            <a:chExt cx="5715000" cy="1450975"/>
          </a:xfrm>
        </p:grpSpPr>
        <p:sp>
          <p:nvSpPr>
            <p:cNvPr id="36" name="Rectangle 36"/>
            <p:cNvSpPr/>
            <p:nvPr/>
          </p:nvSpPr>
          <p:spPr>
            <a:xfrm>
              <a:off x="0" y="4781550"/>
              <a:ext cx="5715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69570" y="3359150"/>
              <a:ext cx="11900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 付給誰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3905250"/>
              <a:ext cx="34328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to：接收方，可以是人也可以是合約。</a:t>
              </a:r>
            </a:p>
          </p:txBody>
        </p:sp>
      </p:grpSp>
      <p:grpSp>
        <p:nvGrpSpPr>
          <p:cNvPr id="42" name="pt-3"/>
          <p:cNvGrpSpPr/>
          <p:nvPr/>
        </p:nvGrpSpPr>
        <p:grpSpPr>
          <a:xfrm>
            <a:off x="369570" y="5407025"/>
            <a:ext cx="3469390" cy="839470"/>
            <a:chOff x="369570" y="5407025"/>
            <a:chExt cx="3469390" cy="839470"/>
          </a:xfrm>
        </p:grpSpPr>
        <p:sp>
          <p:nvSpPr>
            <p:cNvPr id="40" name="TextBox 40"/>
            <p:cNvSpPr txBox="1"/>
            <p:nvPr/>
          </p:nvSpPr>
          <p:spPr>
            <a:xfrm>
              <a:off x="369570" y="5407025"/>
              <a:ext cx="11900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 付多少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6280" y="5953125"/>
              <a:ext cx="3122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value 與 gas：金額，加上手續費。</a:t>
              </a:r>
            </a:p>
          </p:txBody>
        </p:sp>
      </p:grpSp>
      <p:grpSp>
        <p:nvGrpSpPr>
          <p:cNvPr id="60" name="term"/>
          <p:cNvGrpSpPr/>
          <p:nvPr/>
        </p:nvGrpSpPr>
        <p:grpSpPr>
          <a:xfrm>
            <a:off x="5715000" y="685800"/>
            <a:ext cx="5962650" cy="6172200"/>
            <a:chOff x="5715000" y="685800"/>
            <a:chExt cx="5962650" cy="6172200"/>
          </a:xfrm>
        </p:grpSpPr>
        <p:sp>
          <p:nvSpPr>
            <p:cNvPr id="43" name="Rectangle 43"/>
            <p:cNvSpPr/>
            <p:nvPr/>
          </p:nvSpPr>
          <p:spPr>
            <a:xfrm>
              <a:off x="57150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53150" y="1104900"/>
              <a:ext cx="5524500" cy="4953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0" y="1047750"/>
              <a:ext cx="5524500" cy="4953000"/>
            </a:xfrm>
            <a:prstGeom prst="rect">
              <a:avLst/>
            </a:prstGeom>
            <a:solidFill>
              <a:srgbClr val="0A0A0A"/>
            </a:solidFill>
            <a:ln w="28575">
              <a:solidFill>
                <a:srgbClr val="0A0A0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10288" y="1062038"/>
              <a:ext cx="5495925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96000" y="1381125"/>
              <a:ext cx="55245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3066" y="1149350"/>
              <a:ext cx="846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82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TERMINAL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34750" y="1152525"/>
              <a:ext cx="133350" cy="13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1125200" y="1152525"/>
              <a:ext cx="133350" cy="13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915650" y="1152525"/>
              <a:ext cx="133350" cy="13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16980" y="1593850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$ cast tx 0x8f3a…c21e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16980" y="1917700"/>
              <a:ext cx="2385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DBDBD"/>
                  </a:solidFill>
                  <a:latin typeface="Consolas"/>
                  <a:ea typeface="Consolas"/>
                  <a:cs typeface="Consolas"/>
                </a:rPr>
                <a:t xml:space="preserve">from      0x71C7…976F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16980" y="2241550"/>
              <a:ext cx="2385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DBDBD"/>
                  </a:solidFill>
                  <a:latin typeface="Consolas"/>
                  <a:ea typeface="Consolas"/>
                  <a:cs typeface="Consolas"/>
                </a:rPr>
                <a:t xml:space="preserve">to        0xA0b8…eB48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16980" y="2565400"/>
              <a:ext cx="1943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2D4CF"/>
                  </a:solidFill>
                  <a:latin typeface="Consolas"/>
                  <a:ea typeface="Consolas"/>
                  <a:cs typeface="Consolas"/>
                </a:rPr>
                <a:t xml:space="preserve">value     0.5 ETH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16980" y="2889250"/>
              <a:ext cx="1694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DBDBD"/>
                  </a:solidFill>
                  <a:latin typeface="Consolas"/>
                  <a:ea typeface="Consolas"/>
                  <a:cs typeface="Consolas"/>
                </a:rPr>
                <a:t xml:space="preserve">gasUsed   21000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16980" y="3213100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DBDBD"/>
                  </a:solidFill>
                  <a:latin typeface="Consolas"/>
                  <a:ea typeface="Consolas"/>
                  <a:cs typeface="Consolas"/>
                </a:rPr>
                <a:t xml:space="preserve">nonce     42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16980" y="3536950"/>
              <a:ext cx="2125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2D4CF"/>
                  </a:solidFill>
                  <a:latin typeface="Consolas"/>
                  <a:ea typeface="Consolas"/>
                  <a:cs typeface="Consolas"/>
                </a:rPr>
                <a:t xml:space="preserve">status    ✔ success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16980" y="386080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$ _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工具箱：圖示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678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95821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6393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7536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9250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822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965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50832" y="320675"/>
              <a:ext cx="512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ICONS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43" name="ic-wallet"/>
          <p:cNvGrpSpPr/>
          <p:nvPr/>
        </p:nvGrpSpPr>
        <p:grpSpPr>
          <a:xfrm>
            <a:off x="0" y="714375"/>
            <a:ext cx="2028825" cy="3067050"/>
            <a:chOff x="0" y="714375"/>
            <a:chExt cx="2028825" cy="3067050"/>
          </a:xfrm>
        </p:grpSpPr>
        <p:sp>
          <p:nvSpPr>
            <p:cNvPr id="33" name="Rectangle 33"/>
            <p:cNvSpPr/>
            <p:nvPr/>
          </p:nvSpPr>
          <p:spPr>
            <a:xfrm>
              <a:off x="0" y="714375"/>
              <a:ext cx="2028825" cy="306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000250" y="71437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0" y="3752850"/>
              <a:ext cx="20288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750" y="1495425"/>
              <a:ext cx="685800" cy="647700"/>
              <a:chOff x="666750" y="1495425"/>
              <a:chExt cx="685800" cy="6477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66750" y="1628775"/>
                <a:ext cx="685800" cy="514350"/>
              </a:xfrm>
              <a:prstGeom prst="roundRect">
                <a:avLst>
                  <a:gd name="adj" fmla="val 11111"/>
                </a:avLst>
              </a:pr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2950" y="1495425"/>
                <a:ext cx="457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133350">
                    <a:moveTo>
                      <a:pt x="0" y="133350"/>
                    </a:moveTo>
                    <a:lnTo>
                      <a:pt x="400050" y="0"/>
                    </a:lnTo>
                    <a:lnTo>
                      <a:pt x="457200" y="13335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47750" y="1800225"/>
                <a:ext cx="3048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90500">
                    <a:moveTo>
                      <a:pt x="304800" y="0"/>
                    </a:moveTo>
                    <a:lnTo>
                      <a:pt x="95250" y="0"/>
                    </a:ln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5"/>
                      <a:pt x="42645" y="190500"/>
                      <a:pt x="95250" y="190500"/>
                    </a:cubicBezTo>
                    <a:lnTo>
                      <a:pt x="304800" y="19050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1104900" y="1857375"/>
                <a:ext cx="76200" cy="76200"/>
              </a:xfrm>
              <a:prstGeom prst="ellipse">
                <a:avLst/>
              </a:prstGeom>
              <a:noFill/>
              <a:ln w="38100">
                <a:solidFill>
                  <a:srgbClr val="0A0A0A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79145" y="279717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錢包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0496" y="3190875"/>
              <a:ext cx="10983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fsc-line/wallet</a:t>
              </a:r>
            </a:p>
          </p:txBody>
        </p:sp>
      </p:grpSp>
      <p:grpSp>
        <p:nvGrpSpPr>
          <p:cNvPr id="53" name="ic-key"/>
          <p:cNvGrpSpPr/>
          <p:nvPr/>
        </p:nvGrpSpPr>
        <p:grpSpPr>
          <a:xfrm>
            <a:off x="2028825" y="714375"/>
            <a:ext cx="2028825" cy="3067050"/>
            <a:chOff x="2028825" y="714375"/>
            <a:chExt cx="2028825" cy="3067050"/>
          </a:xfrm>
        </p:grpSpPr>
        <p:sp>
          <p:nvSpPr>
            <p:cNvPr id="44" name="Rectangle 44"/>
            <p:cNvSpPr/>
            <p:nvPr/>
          </p:nvSpPr>
          <p:spPr>
            <a:xfrm>
              <a:off x="2028825" y="714375"/>
              <a:ext cx="2028825" cy="306705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29075" y="71437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028825" y="3752850"/>
              <a:ext cx="20288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2724150" y="1695450"/>
              <a:ext cx="657225" cy="285750"/>
              <a:chOff x="2724150" y="1695450"/>
              <a:chExt cx="657225" cy="285750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2724150" y="1695450"/>
                <a:ext cx="285750" cy="285750"/>
              </a:xfrm>
              <a:prstGeom prst="ellipse">
                <a:avLst/>
              </a:pr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009900" y="1838325"/>
                <a:ext cx="3714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114300">
                    <a:moveTo>
                      <a:pt x="0" y="0"/>
                    </a:moveTo>
                    <a:lnTo>
                      <a:pt x="371475" y="0"/>
                    </a:lnTo>
                    <a:moveTo>
                      <a:pt x="257175" y="0"/>
                    </a:moveTo>
                    <a:lnTo>
                      <a:pt x="257175" y="114300"/>
                    </a:lnTo>
                    <a:moveTo>
                      <a:pt x="352425" y="0"/>
                    </a:moveTo>
                    <a:lnTo>
                      <a:pt x="352425" y="9525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2821305" y="1792605"/>
                <a:ext cx="91440" cy="91440"/>
              </a:xfrm>
              <a:prstGeom prst="ellipse">
                <a:avLst/>
              </a:prstGeom>
              <a:noFill/>
              <a:ln w="38100">
                <a:solidFill>
                  <a:srgbClr val="0A0A0A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2807970" y="279717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私鑰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98161" y="3190875"/>
              <a:ext cx="8806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fsc-line/key</a:t>
              </a:r>
            </a:p>
          </p:txBody>
        </p:sp>
      </p:grpSp>
      <p:grpSp>
        <p:nvGrpSpPr>
          <p:cNvPr id="63" name="ic-block"/>
          <p:cNvGrpSpPr/>
          <p:nvPr/>
        </p:nvGrpSpPr>
        <p:grpSpPr>
          <a:xfrm>
            <a:off x="4057650" y="714375"/>
            <a:ext cx="2028825" cy="3067050"/>
            <a:chOff x="4057650" y="714375"/>
            <a:chExt cx="2028825" cy="3067050"/>
          </a:xfrm>
        </p:grpSpPr>
        <p:sp>
          <p:nvSpPr>
            <p:cNvPr id="54" name="Rectangle 54"/>
            <p:cNvSpPr/>
            <p:nvPr/>
          </p:nvSpPr>
          <p:spPr>
            <a:xfrm>
              <a:off x="4057650" y="714375"/>
              <a:ext cx="2028825" cy="306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57900" y="71437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057650" y="3752850"/>
              <a:ext cx="20288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762500" y="1495425"/>
              <a:ext cx="609600" cy="685800"/>
              <a:chOff x="4762500" y="1495425"/>
              <a:chExt cx="609600" cy="685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762500" y="1495425"/>
                <a:ext cx="6096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85800">
                    <a:moveTo>
                      <a:pt x="304800" y="0"/>
                    </a:moveTo>
                    <a:lnTo>
                      <a:pt x="609600" y="171450"/>
                    </a:lnTo>
                    <a:lnTo>
                      <a:pt x="609600" y="514350"/>
                    </a:lnTo>
                    <a:lnTo>
                      <a:pt x="304800" y="685800"/>
                    </a:lnTo>
                    <a:lnTo>
                      <a:pt x="0" y="514350"/>
                    </a:lnTo>
                    <a:lnTo>
                      <a:pt x="0" y="171450"/>
                    </a:lnTo>
                    <a:close/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762500" y="1666875"/>
                <a:ext cx="60960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514350">
                    <a:moveTo>
                      <a:pt x="0" y="0"/>
                    </a:moveTo>
                    <a:lnTo>
                      <a:pt x="304800" y="171450"/>
                    </a:lnTo>
                    <a:lnTo>
                      <a:pt x="609600" y="0"/>
                    </a:lnTo>
                    <a:moveTo>
                      <a:pt x="304800" y="171450"/>
                    </a:moveTo>
                    <a:lnTo>
                      <a:pt x="304800" y="51435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762500" y="1495425"/>
                <a:ext cx="6096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342900">
                    <a:moveTo>
                      <a:pt x="304800" y="0"/>
                    </a:moveTo>
                    <a:lnTo>
                      <a:pt x="609600" y="171450"/>
                    </a:lnTo>
                    <a:lnTo>
                      <a:pt x="304800" y="342900"/>
                    </a:lnTo>
                    <a:lnTo>
                      <a:pt x="0" y="171450"/>
                    </a:lnTo>
                    <a:close/>
                  </a:path>
                </a:pathLst>
              </a:custGeom>
              <a:noFill/>
              <a:ln w="38100">
                <a:solidFill>
                  <a:srgbClr val="0A0A0A">
                    <a:alpha val="90000"/>
                  </a:srgbClr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836795" y="279717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區塊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54426" y="3190875"/>
              <a:ext cx="1025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fsc-line/block</a:t>
              </a:r>
            </a:p>
          </p:txBody>
        </p:sp>
      </p:grpSp>
      <p:grpSp>
        <p:nvGrpSpPr>
          <p:cNvPr id="73" name="ic-contract"/>
          <p:cNvGrpSpPr/>
          <p:nvPr/>
        </p:nvGrpSpPr>
        <p:grpSpPr>
          <a:xfrm>
            <a:off x="6086475" y="714375"/>
            <a:ext cx="2028825" cy="3067050"/>
            <a:chOff x="6086475" y="714375"/>
            <a:chExt cx="2028825" cy="3067050"/>
          </a:xfrm>
        </p:grpSpPr>
        <p:sp>
          <p:nvSpPr>
            <p:cNvPr id="64" name="Rectangle 64"/>
            <p:cNvSpPr/>
            <p:nvPr/>
          </p:nvSpPr>
          <p:spPr>
            <a:xfrm>
              <a:off x="6086475" y="714375"/>
              <a:ext cx="2028825" cy="306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086725" y="71437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86475" y="3752850"/>
              <a:ext cx="20288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867525" y="1476375"/>
              <a:ext cx="495300" cy="723900"/>
              <a:chOff x="6867525" y="1476375"/>
              <a:chExt cx="495300" cy="7239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867525" y="1476375"/>
                <a:ext cx="4953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723900">
                    <a:moveTo>
                      <a:pt x="0" y="0"/>
                    </a:moveTo>
                    <a:lnTo>
                      <a:pt x="323850" y="0"/>
                    </a:lnTo>
                    <a:lnTo>
                      <a:pt x="495300" y="171450"/>
                    </a:lnTo>
                    <a:lnTo>
                      <a:pt x="495300" y="723900"/>
                    </a:lnTo>
                    <a:lnTo>
                      <a:pt x="0" y="723900"/>
                    </a:lnTo>
                    <a:close/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62775" y="1476375"/>
                <a:ext cx="4000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533400">
                    <a:moveTo>
                      <a:pt x="228600" y="0"/>
                    </a:moveTo>
                    <a:lnTo>
                      <a:pt x="228600" y="171450"/>
                    </a:lnTo>
                    <a:lnTo>
                      <a:pt x="400050" y="171450"/>
                    </a:lnTo>
                    <a:moveTo>
                      <a:pt x="0" y="304800"/>
                    </a:moveTo>
                    <a:lnTo>
                      <a:pt x="266700" y="304800"/>
                    </a:lnTo>
                    <a:moveTo>
                      <a:pt x="0" y="419100"/>
                    </a:moveTo>
                    <a:lnTo>
                      <a:pt x="266700" y="419100"/>
                    </a:lnTo>
                    <a:moveTo>
                      <a:pt x="0" y="533400"/>
                    </a:moveTo>
                    <a:lnTo>
                      <a:pt x="133350" y="53340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7179945" y="1998345"/>
                <a:ext cx="137160" cy="137160"/>
              </a:xfrm>
              <a:prstGeom prst="ellipse">
                <a:avLst/>
              </a:prstGeom>
              <a:noFill/>
              <a:ln w="38100">
                <a:solidFill>
                  <a:srgbClr val="0A0A0A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865620" y="279717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合約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74410" y="3190875"/>
              <a:ext cx="12434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fsc-line/contract</a:t>
              </a:r>
            </a:p>
          </p:txBody>
        </p:sp>
      </p:grpSp>
      <p:grpSp>
        <p:nvGrpSpPr>
          <p:cNvPr id="79" name="ic-exchange"/>
          <p:cNvGrpSpPr/>
          <p:nvPr/>
        </p:nvGrpSpPr>
        <p:grpSpPr>
          <a:xfrm>
            <a:off x="0" y="3781425"/>
            <a:ext cx="2028825" cy="3067050"/>
            <a:chOff x="0" y="3781425"/>
            <a:chExt cx="2028825" cy="3067050"/>
          </a:xfrm>
        </p:grpSpPr>
        <p:sp>
          <p:nvSpPr>
            <p:cNvPr id="74" name="Rectangle 74"/>
            <p:cNvSpPr/>
            <p:nvPr/>
          </p:nvSpPr>
          <p:spPr>
            <a:xfrm>
              <a:off x="0" y="3781425"/>
              <a:ext cx="2028825" cy="306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000250" y="378142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704850" y="4638675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133350"/>
                  </a:moveTo>
                  <a:lnTo>
                    <a:pt x="571500" y="133350"/>
                  </a:lnTo>
                  <a:moveTo>
                    <a:pt x="438150" y="0"/>
                  </a:moveTo>
                  <a:lnTo>
                    <a:pt x="571500" y="133350"/>
                  </a:lnTo>
                  <a:lnTo>
                    <a:pt x="438150" y="266700"/>
                  </a:lnTo>
                  <a:moveTo>
                    <a:pt x="609600" y="400050"/>
                  </a:moveTo>
                  <a:lnTo>
                    <a:pt x="38100" y="400050"/>
                  </a:lnTo>
                  <a:moveTo>
                    <a:pt x="171450" y="266700"/>
                  </a:moveTo>
                  <a:lnTo>
                    <a:pt x="38100" y="400050"/>
                  </a:lnTo>
                  <a:lnTo>
                    <a:pt x="171450" y="53340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8084" y="586422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交易所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87935" y="6257925"/>
              <a:ext cx="12434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fsc-line/exchange</a:t>
              </a:r>
            </a:p>
          </p:txBody>
        </p:sp>
      </p:grpSp>
      <p:grpSp>
        <p:nvGrpSpPr>
          <p:cNvPr id="87" name="ic-shield"/>
          <p:cNvGrpSpPr/>
          <p:nvPr/>
        </p:nvGrpSpPr>
        <p:grpSpPr>
          <a:xfrm>
            <a:off x="2028825" y="3781425"/>
            <a:ext cx="2028825" cy="3067050"/>
            <a:chOff x="2028825" y="3781425"/>
            <a:chExt cx="2028825" cy="3067050"/>
          </a:xfrm>
        </p:grpSpPr>
        <p:sp>
          <p:nvSpPr>
            <p:cNvPr id="80" name="Rectangle 80"/>
            <p:cNvSpPr/>
            <p:nvPr/>
          </p:nvSpPr>
          <p:spPr>
            <a:xfrm>
              <a:off x="2028825" y="3781425"/>
              <a:ext cx="2028825" cy="306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4029075" y="378142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2752725" y="4543425"/>
              <a:ext cx="571500" cy="723900"/>
              <a:chOff x="2752725" y="4543425"/>
              <a:chExt cx="571500" cy="7239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2752725" y="4543425"/>
                <a:ext cx="5715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723900">
                    <a:moveTo>
                      <a:pt x="285750" y="0"/>
                    </a:moveTo>
                    <a:lnTo>
                      <a:pt x="571500" y="114300"/>
                    </a:lnTo>
                    <a:lnTo>
                      <a:pt x="571500" y="342900"/>
                    </a:lnTo>
                    <a:cubicBezTo>
                      <a:pt x="571500" y="533400"/>
                      <a:pt x="438150" y="666750"/>
                      <a:pt x="285750" y="723900"/>
                    </a:cubicBezTo>
                    <a:cubicBezTo>
                      <a:pt x="133350" y="666750"/>
                      <a:pt x="0" y="533400"/>
                      <a:pt x="0" y="342900"/>
                    </a:cubicBezTo>
                    <a:lnTo>
                      <a:pt x="0" y="114300"/>
                    </a:lnTo>
                    <a:close/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905125" y="4810125"/>
                <a:ext cx="2667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66700" y="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2807970" y="58642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489321" y="6257925"/>
              <a:ext cx="10983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fsc-line/shield</a:t>
              </a:r>
            </a:p>
          </p:txBody>
        </p:sp>
      </p:grpSp>
      <p:grpSp>
        <p:nvGrpSpPr>
          <p:cNvPr id="98" name="ic-gavel"/>
          <p:cNvGrpSpPr/>
          <p:nvPr/>
        </p:nvGrpSpPr>
        <p:grpSpPr>
          <a:xfrm>
            <a:off x="4057650" y="3781425"/>
            <a:ext cx="2028825" cy="3067050"/>
            <a:chOff x="4057650" y="3781425"/>
            <a:chExt cx="2028825" cy="3067050"/>
          </a:xfrm>
        </p:grpSpPr>
        <p:sp>
          <p:nvSpPr>
            <p:cNvPr id="88" name="Rectangle 88"/>
            <p:cNvSpPr/>
            <p:nvPr/>
          </p:nvSpPr>
          <p:spPr>
            <a:xfrm>
              <a:off x="4057650" y="3781425"/>
              <a:ext cx="2028825" cy="306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057900" y="378142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724400" y="4558810"/>
              <a:ext cx="685800" cy="689465"/>
              <a:chOff x="4724400" y="4558810"/>
              <a:chExt cx="685800" cy="689465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4819650" y="4600575"/>
                <a:ext cx="3238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23850">
                    <a:moveTo>
                      <a:pt x="114300" y="0"/>
                    </a:moveTo>
                    <a:lnTo>
                      <a:pt x="323850" y="209550"/>
                    </a:lnTo>
                    <a:moveTo>
                      <a:pt x="0" y="114300"/>
                    </a:moveTo>
                    <a:lnTo>
                      <a:pt x="209550" y="323850"/>
                    </a:lnTo>
                    <a:moveTo>
                      <a:pt x="57150" y="57150"/>
                    </a:moveTo>
                    <a:lnTo>
                      <a:pt x="266700" y="26670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91" name="Rectangle 91"/>
              <p:cNvSpPr/>
              <p:nvPr/>
            </p:nvSpPr>
            <p:spPr>
              <a:xfrm rot="-2700000">
                <a:off x="4857750" y="4562475"/>
                <a:ext cx="152400" cy="342900"/>
              </a:xfrm>
              <a:prstGeom prst="roundRect">
                <a:avLst>
                  <a:gd name="adj" fmla="val 25000"/>
                </a:avLst>
              </a:pr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5048250" y="484822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0"/>
                    </a:moveTo>
                    <a:lnTo>
                      <a:pt x="266700" y="26670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4724400" y="5172075"/>
                <a:ext cx="3429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76200">
                    <a:moveTo>
                      <a:pt x="0" y="76200"/>
                    </a:moveTo>
                    <a:lnTo>
                      <a:pt x="342900" y="76200"/>
                    </a:lnTo>
                    <a:moveTo>
                      <a:pt x="57150" y="76200"/>
                    </a:moveTo>
                    <a:lnTo>
                      <a:pt x="57150" y="0"/>
                    </a:lnTo>
                    <a:lnTo>
                      <a:pt x="285750" y="0"/>
                    </a:lnTo>
                    <a:lnTo>
                      <a:pt x="285750" y="7620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5181600" y="521017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836795" y="58642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監理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554426" y="6257925"/>
              <a:ext cx="1025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fsc-line/gavel</a:t>
              </a:r>
            </a:p>
          </p:txBody>
        </p:sp>
      </p:grpSp>
      <p:grpSp>
        <p:nvGrpSpPr>
          <p:cNvPr id="108" name="ic-mrt"/>
          <p:cNvGrpSpPr/>
          <p:nvPr/>
        </p:nvGrpSpPr>
        <p:grpSpPr>
          <a:xfrm>
            <a:off x="6086475" y="3781425"/>
            <a:ext cx="2028825" cy="3067050"/>
            <a:chOff x="6086475" y="3781425"/>
            <a:chExt cx="2028825" cy="3067050"/>
          </a:xfrm>
        </p:grpSpPr>
        <p:sp>
          <p:nvSpPr>
            <p:cNvPr id="99" name="Rectangle 99"/>
            <p:cNvSpPr/>
            <p:nvPr/>
          </p:nvSpPr>
          <p:spPr>
            <a:xfrm>
              <a:off x="6086475" y="3781425"/>
              <a:ext cx="2028825" cy="306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086725" y="3781425"/>
              <a:ext cx="28575" cy="3067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6791325" y="4562475"/>
              <a:ext cx="609600" cy="723900"/>
              <a:chOff x="6791325" y="4562475"/>
              <a:chExt cx="609600" cy="7239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6791325" y="4562475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76200" y="0"/>
                    </a:moveTo>
                    <a:lnTo>
                      <a:pt x="533400" y="0"/>
                    </a:lnTo>
                    <a:cubicBezTo>
                      <a:pt x="575484" y="0"/>
                      <a:pt x="609600" y="34116"/>
                      <a:pt x="609600" y="76200"/>
                    </a:cubicBezTo>
                    <a:lnTo>
                      <a:pt x="609600" y="495300"/>
                    </a:lnTo>
                    <a:cubicBezTo>
                      <a:pt x="609600" y="558426"/>
                      <a:pt x="558426" y="609600"/>
                      <a:pt x="495300" y="609600"/>
                    </a:cubicBezTo>
                    <a:lnTo>
                      <a:pt x="114300" y="609600"/>
                    </a:lnTo>
                    <a:cubicBezTo>
                      <a:pt x="51174" y="609600"/>
                      <a:pt x="0" y="558426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6829425" y="4676775"/>
                <a:ext cx="533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609600">
                    <a:moveTo>
                      <a:pt x="38100" y="0"/>
                    </a:moveTo>
                    <a:lnTo>
                      <a:pt x="495300" y="0"/>
                    </a:lnTo>
                    <a:lnTo>
                      <a:pt x="495300" y="190500"/>
                    </a:lnTo>
                    <a:lnTo>
                      <a:pt x="38100" y="190500"/>
                    </a:lnTo>
                    <a:close/>
                    <a:moveTo>
                      <a:pt x="76200" y="495300"/>
                    </a:moveTo>
                    <a:lnTo>
                      <a:pt x="0" y="609600"/>
                    </a:lnTo>
                    <a:moveTo>
                      <a:pt x="457200" y="495300"/>
                    </a:moveTo>
                    <a:lnTo>
                      <a:pt x="533400" y="609600"/>
                    </a:lnTo>
                    <a:moveTo>
                      <a:pt x="38100" y="571500"/>
                    </a:moveTo>
                    <a:lnTo>
                      <a:pt x="495300" y="571500"/>
                    </a:lnTo>
                  </a:path>
                </a:pathLst>
              </a:cu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6882765" y="4977765"/>
                <a:ext cx="83820" cy="83820"/>
              </a:xfrm>
              <a:prstGeom prst="ellipse">
                <a:avLst/>
              </a:prstGeom>
              <a:noFill/>
              <a:ln w="38100">
                <a:solidFill>
                  <a:srgbClr val="0A0A0A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7225665" y="4977765"/>
                <a:ext cx="83820" cy="83820"/>
              </a:xfrm>
              <a:prstGeom prst="ellipse">
                <a:avLst/>
              </a:prstGeom>
              <a:noFill/>
              <a:ln w="38100">
                <a:solidFill>
                  <a:srgbClr val="0A0A0A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6865620" y="58642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通勤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655811" y="6257925"/>
              <a:ext cx="8806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fsc-line/mrt</a:t>
              </a:r>
            </a:p>
          </p:txBody>
        </p:sp>
      </p:grpSp>
      <p:grpSp>
        <p:nvGrpSpPr>
          <p:cNvPr id="134" name="people"/>
          <p:cNvGrpSpPr/>
          <p:nvPr/>
        </p:nvGrpSpPr>
        <p:grpSpPr>
          <a:xfrm>
            <a:off x="8143875" y="714375"/>
            <a:ext cx="4048125" cy="6143625"/>
            <a:chOff x="8143875" y="714375"/>
            <a:chExt cx="4048125" cy="6143625"/>
          </a:xfrm>
        </p:grpSpPr>
        <p:sp>
          <p:nvSpPr>
            <p:cNvPr id="109" name="Rectangle 109"/>
            <p:cNvSpPr/>
            <p:nvPr/>
          </p:nvSpPr>
          <p:spPr>
            <a:xfrm>
              <a:off x="8143875" y="714375"/>
              <a:ext cx="4048125" cy="6143625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8691562" y="1809750"/>
              <a:ext cx="1000125" cy="1524000"/>
              <a:chOff x="8691562" y="1809750"/>
              <a:chExt cx="1000125" cy="15240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8834438" y="1809750"/>
                <a:ext cx="714375" cy="785812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785812">
                    <a:moveTo>
                      <a:pt x="0" y="785812"/>
                    </a:moveTo>
                    <a:lnTo>
                      <a:pt x="0" y="357188"/>
                    </a:lnTo>
                    <a:cubicBezTo>
                      <a:pt x="0" y="159918"/>
                      <a:pt x="159918" y="0"/>
                      <a:pt x="357188" y="0"/>
                    </a:cubicBezTo>
                    <a:cubicBezTo>
                      <a:pt x="554457" y="0"/>
                      <a:pt x="714375" y="159918"/>
                      <a:pt x="714375" y="357188"/>
                    </a:cubicBezTo>
                    <a:lnTo>
                      <a:pt x="714375" y="785812"/>
                    </a:lnTo>
                    <a:lnTo>
                      <a:pt x="571500" y="785812"/>
                    </a:lnTo>
                    <a:lnTo>
                      <a:pt x="571500" y="404812"/>
                    </a:lnTo>
                    <a:lnTo>
                      <a:pt x="142875" y="404812"/>
                    </a:lnTo>
                    <a:lnTo>
                      <a:pt x="142875" y="785812"/>
                    </a:ln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8691562" y="2714625"/>
                <a:ext cx="1000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619125">
                    <a:moveTo>
                      <a:pt x="0" y="619125"/>
                    </a:moveTo>
                    <a:lnTo>
                      <a:pt x="0" y="381000"/>
                    </a:lnTo>
                    <a:cubicBezTo>
                      <a:pt x="0" y="142875"/>
                      <a:pt x="214312" y="0"/>
                      <a:pt x="500062" y="0"/>
                    </a:cubicBezTo>
                    <a:cubicBezTo>
                      <a:pt x="785812" y="0"/>
                      <a:pt x="1000125" y="142875"/>
                      <a:pt x="1000125" y="381000"/>
                    </a:cubicBezTo>
                    <a:lnTo>
                      <a:pt x="1000125" y="619125"/>
                    </a:lnTo>
                    <a:close/>
                  </a:path>
                </a:pathLst>
              </a:custGeom>
              <a:solidFill>
                <a:srgbClr val="FFFFFF"/>
              </a:solidFill>
              <a:ln w="35719">
                <a:solidFill>
                  <a:srgbClr val="0A0A0A"/>
                </a:solidFill>
                <a:round/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858250" y="1857375"/>
                <a:ext cx="666750" cy="666750"/>
              </a:xfrm>
              <a:prstGeom prst="ellipse">
                <a:avLst/>
              </a:prstGeom>
              <a:solidFill>
                <a:srgbClr val="FFFFFF"/>
              </a:solidFill>
              <a:ln w="35719">
                <a:solidFill>
                  <a:srgbClr val="0A0A0A"/>
                </a:solidFill>
                <a:round/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858250" y="1857375"/>
                <a:ext cx="666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285750">
                    <a:moveTo>
                      <a:pt x="0" y="285750"/>
                    </a:moveTo>
                    <a:cubicBezTo>
                      <a:pt x="47625" y="95250"/>
                      <a:pt x="190500" y="0"/>
                      <a:pt x="333375" y="0"/>
                    </a:cubicBezTo>
                    <a:cubicBezTo>
                      <a:pt x="476250" y="0"/>
                      <a:pt x="619125" y="95250"/>
                      <a:pt x="666750" y="285750"/>
                    </a:cubicBezTo>
                    <a:cubicBezTo>
                      <a:pt x="547688" y="261938"/>
                      <a:pt x="404812" y="190500"/>
                      <a:pt x="333375" y="95250"/>
                    </a:cubicBezTo>
                    <a:cubicBezTo>
                      <a:pt x="261938" y="190500"/>
                      <a:pt x="119062" y="261938"/>
                      <a:pt x="0" y="285750"/>
                    </a:cubicBez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9036844" y="2178844"/>
                <a:ext cx="71438" cy="71438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9274969" y="2178844"/>
                <a:ext cx="71438" cy="71438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9096375" y="2357438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cubicBezTo>
                      <a:pt x="63500" y="47625"/>
                      <a:pt x="127000" y="47625"/>
                      <a:pt x="190500" y="0"/>
                    </a:cubicBezTo>
                  </a:path>
                </a:pathLst>
              </a:custGeom>
              <a:noFill/>
              <a:ln w="35719" cap="rnd">
                <a:solidFill>
                  <a:srgbClr val="0A0A0A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9132094" y="2821781"/>
                <a:ext cx="119062" cy="119062"/>
              </a:xfrm>
              <a:prstGeom prst="ellipse">
                <a:avLst/>
              </a:prstGeom>
              <a:solidFill>
                <a:srgbClr val="F2D4CF"/>
              </a:solidFill>
              <a:ln>
                <a:noFill/>
              </a:ln>
            </p:spPr>
          </p:sp>
        </p:grpSp>
        <p:grpSp>
          <p:nvGrpSpPr>
            <p:cNvPr id="129" name="Group 129"/>
            <p:cNvGrpSpPr/>
            <p:nvPr/>
          </p:nvGrpSpPr>
          <p:grpSpPr>
            <a:xfrm>
              <a:off x="10501312" y="1797844"/>
              <a:ext cx="1000125" cy="1535906"/>
              <a:chOff x="10501312" y="1797844"/>
              <a:chExt cx="1000125" cy="1535906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10501312" y="2714625"/>
                <a:ext cx="1000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619125">
                    <a:moveTo>
                      <a:pt x="0" y="619125"/>
                    </a:moveTo>
                    <a:lnTo>
                      <a:pt x="0" y="381000"/>
                    </a:lnTo>
                    <a:cubicBezTo>
                      <a:pt x="0" y="142875"/>
                      <a:pt x="214312" y="0"/>
                      <a:pt x="500062" y="0"/>
                    </a:cubicBezTo>
                    <a:cubicBezTo>
                      <a:pt x="785812" y="0"/>
                      <a:pt x="1000125" y="142875"/>
                      <a:pt x="1000125" y="381000"/>
                    </a:cubicBezTo>
                    <a:lnTo>
                      <a:pt x="1000125" y="619125"/>
                    </a:lnTo>
                    <a:close/>
                  </a:path>
                </a:pathLst>
              </a:custGeom>
              <a:solidFill>
                <a:srgbClr val="FFFFFF"/>
              </a:solidFill>
              <a:ln w="35719">
                <a:solidFill>
                  <a:srgbClr val="0A0A0A"/>
                </a:solidFill>
                <a:round/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10668000" y="1857375"/>
                <a:ext cx="666750" cy="666750"/>
              </a:xfrm>
              <a:prstGeom prst="ellipse">
                <a:avLst/>
              </a:prstGeom>
              <a:solidFill>
                <a:srgbClr val="FFFFFF"/>
              </a:solidFill>
              <a:ln w="35719">
                <a:solidFill>
                  <a:srgbClr val="0A0A0A"/>
                </a:solidFill>
                <a:round/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10679906" y="1797844"/>
                <a:ext cx="642938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642938" h="321469">
                    <a:moveTo>
                      <a:pt x="0" y="321469"/>
                    </a:moveTo>
                    <a:cubicBezTo>
                      <a:pt x="0" y="143926"/>
                      <a:pt x="143926" y="0"/>
                      <a:pt x="321469" y="0"/>
                    </a:cubicBezTo>
                    <a:cubicBezTo>
                      <a:pt x="499011" y="0"/>
                      <a:pt x="642938" y="143926"/>
                      <a:pt x="642938" y="321469"/>
                    </a:cubicBezTo>
                    <a:cubicBezTo>
                      <a:pt x="559594" y="238125"/>
                      <a:pt x="464344" y="202406"/>
                      <a:pt x="321469" y="202406"/>
                    </a:cubicBezTo>
                    <a:cubicBezTo>
                      <a:pt x="178594" y="202406"/>
                      <a:pt x="83344" y="238125"/>
                      <a:pt x="0" y="321469"/>
                    </a:cubicBez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10787062" y="2119312"/>
                <a:ext cx="190500" cy="190500"/>
              </a:xfrm>
              <a:prstGeom prst="ellipse">
                <a:avLst/>
              </a:prstGeom>
              <a:noFill/>
              <a:ln w="35719" cap="rnd">
                <a:solidFill>
                  <a:srgbClr val="0A0A0A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11025188" y="2119312"/>
                <a:ext cx="190500" cy="190500"/>
              </a:xfrm>
              <a:prstGeom prst="ellipse">
                <a:avLst/>
              </a:prstGeom>
              <a:noFill/>
              <a:ln w="35719" cap="rnd">
                <a:solidFill>
                  <a:srgbClr val="0A0A0A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10977562" y="2214562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35719" cap="rnd">
                <a:solidFill>
                  <a:srgbClr val="0A0A0A"/>
                </a:solidFill>
              </a:ln>
            </p:spPr>
          </p:sp>
          <p:sp>
            <p:nvSpPr>
              <p:cNvPr id="125" name="Ellipse 125"/>
              <p:cNvSpPr/>
              <p:nvPr/>
            </p:nvSpPr>
            <p:spPr>
              <a:xfrm>
                <a:off x="10852547" y="2184797"/>
                <a:ext cx="59531" cy="59531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26" name="Ellipse 126"/>
              <p:cNvSpPr/>
              <p:nvPr/>
            </p:nvSpPr>
            <p:spPr>
              <a:xfrm>
                <a:off x="11090672" y="2184797"/>
                <a:ext cx="59531" cy="59531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10906125" y="2357438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cubicBezTo>
                      <a:pt x="63500" y="47625"/>
                      <a:pt x="127000" y="47625"/>
                      <a:pt x="190500" y="0"/>
                    </a:cubicBezTo>
                  </a:path>
                </a:pathLst>
              </a:custGeom>
              <a:noFill/>
              <a:ln w="35719" cap="rnd">
                <a:solidFill>
                  <a:srgbClr val="0A0A0A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10882312" y="2762250"/>
                <a:ext cx="238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42875">
                    <a:moveTo>
                      <a:pt x="0" y="0"/>
                    </a:moveTo>
                    <a:lnTo>
                      <a:pt x="238125" y="0"/>
                    </a:lnTo>
                    <a:lnTo>
                      <a:pt x="119062" y="142875"/>
                    </a:lnTo>
                    <a:close/>
                  </a:path>
                </a:pathLst>
              </a:custGeom>
              <a:solidFill>
                <a:srgbClr val="F2D4CF"/>
              </a:solidFill>
              <a:ln>
                <a:noFill/>
              </a:ln>
            </p:spPr>
          </p:sp>
        </p:grpSp>
        <p:sp>
          <p:nvSpPr>
            <p:cNvPr id="130" name="TextBox 130"/>
            <p:cNvSpPr txBox="1"/>
            <p:nvPr/>
          </p:nvSpPr>
          <p:spPr>
            <a:xfrm>
              <a:off x="8877412" y="3568700"/>
              <a:ext cx="6284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Alice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741058" y="3568700"/>
              <a:ext cx="5206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Bob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469630" y="4356100"/>
              <a:ext cx="192024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密碼學課本的老朋友：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Alice 傳訊息給 Bob，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Eve 在偷聽。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8472297" y="6076950"/>
              <a:ext cx="32025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fsc-char/alice · bob · eve · trent · mallory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hanks"/>
          <p:cNvGrpSpPr/>
          <p:nvPr/>
        </p:nvGrpSpPr>
        <p:grpSpPr>
          <a:xfrm>
            <a:off x="0" y="0"/>
            <a:ext cx="5362575" cy="6858000"/>
            <a:chOff x="0" y="0"/>
            <a:chExt cx="5362575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334000" cy="685800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334000" y="0"/>
              <a:ext cx="28575" cy="6858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61950" y="2286000"/>
              <a:ext cx="34305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3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謝謝聆聽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12242" y="3416300"/>
              <a:ext cx="132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05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LET'S BUILD.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0718" y="389255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還有問題嗎？歡迎現在提問。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19100" y="4476750"/>
              <a:ext cx="44767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3" name="contact"/>
          <p:cNvGrpSpPr/>
          <p:nvPr/>
        </p:nvGrpSpPr>
        <p:grpSpPr>
          <a:xfrm>
            <a:off x="5744718" y="990600"/>
            <a:ext cx="3955343" cy="1891157"/>
            <a:chOff x="5744718" y="990600"/>
            <a:chExt cx="3955343" cy="1891157"/>
          </a:xfrm>
        </p:grpSpPr>
        <p:sp>
          <p:nvSpPr>
            <p:cNvPr id="9" name="TextBox 9"/>
            <p:cNvSpPr txBox="1"/>
            <p:nvPr/>
          </p:nvSpPr>
          <p:spPr>
            <a:xfrm>
              <a:off x="5747004" y="990600"/>
              <a:ext cx="1350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98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GET IN TOUCH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44718" y="1606550"/>
              <a:ext cx="3955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Email　xiaoming@e.ntu.edu.sg（示意）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44718" y="2082800"/>
              <a:ext cx="34655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課程　MSBT 6001 分散式帳本技術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44718" y="2559050"/>
              <a:ext cx="39443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簡報　github.com/chris910425（示意）</a:t>
              </a:r>
            </a:p>
          </p:txBody>
        </p:sp>
      </p:grpSp>
      <p:grpSp>
        <p:nvGrpSpPr>
          <p:cNvPr id="20" name="buttons"/>
          <p:cNvGrpSpPr/>
          <p:nvPr/>
        </p:nvGrpSpPr>
        <p:grpSpPr>
          <a:xfrm>
            <a:off x="5334000" y="5334000"/>
            <a:ext cx="6858000" cy="1524000"/>
            <a:chOff x="5334000" y="5334000"/>
            <a:chExt cx="6858000" cy="1524000"/>
          </a:xfrm>
        </p:grpSpPr>
        <p:sp>
          <p:nvSpPr>
            <p:cNvPr id="14" name="Rectangle 14"/>
            <p:cNvSpPr/>
            <p:nvPr/>
          </p:nvSpPr>
          <p:spPr>
            <a:xfrm>
              <a:off x="5334000" y="5334000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62575" y="5362575"/>
              <a:ext cx="3400425" cy="1495425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763000" y="5334000"/>
              <a:ext cx="28575" cy="1524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791575" y="5362575"/>
              <a:ext cx="3400425" cy="14954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51094" y="5949950"/>
              <a:ext cx="8138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Q &amp;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71343" y="5949950"/>
              <a:ext cx="10313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下一步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rawgrid_sample">
  <a:themeElements>
    <a:clrScheme name="rawgrid_sampl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awgrid_sample">
      <a:majorFont>
        <a:latin typeface="Segoe UI Black"/>
        <a:ea typeface="Noto Sans TC Black"/>
        <a:cs typeface="Segoe UI Black"/>
        <a:font script="Jpan" typeface="Noto Sans TC Black"/>
        <a:font script="Hang" typeface="Noto Sans TC Black"/>
        <a:font script="Hans" typeface="Noto Sans TC Black"/>
        <a:font script="Hant" typeface="Noto Sans TC Black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wgrid_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2026-10-21T16:49:34Z</dcterms:created>
  <dcterms:modified xsi:type="dcterms:W3CDTF">2026-10-21T16:49:34Z</dcterms:modified>
  <cp:category/>
  <cp:contentStatus/>
</cp:coreProperties>
</file>